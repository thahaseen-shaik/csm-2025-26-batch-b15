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5.jpg" ContentType="image/jpeg"/>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8" r:id="rId3"/>
    <p:sldId id="266" r:id="rId4"/>
    <p:sldId id="270" r:id="rId5"/>
    <p:sldId id="260" r:id="rId6"/>
    <p:sldId id="274" r:id="rId7"/>
    <p:sldId id="273" r:id="rId8"/>
    <p:sldId id="264" r:id="rId9"/>
    <p:sldId id="265" r:id="rId1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E791910-4FED-4A69-9027-872062396EBD}" type="datetimeFigureOut">
              <a:rPr lang="en-IN" smtClean="0"/>
              <a:t>10-10-2025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23472F7-00EC-40F3-A111-228D446E4BD5}" type="slidenum">
              <a:rPr lang="en-IN" smtClean="0"/>
              <a:t>‹#›</a:t>
            </a:fld>
            <a:endParaRPr lang="en-IN"/>
          </a:p>
        </p:txBody>
      </p:sp>
    </p:spTree>
    <p:extLst>
      <p:ext uri="{BB962C8B-B14F-4D97-AF65-F5344CB8AC3E}">
        <p14:creationId xmlns:p14="http://schemas.microsoft.com/office/powerpoint/2010/main" val="1855936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1</a:t>
            </a:fld>
            <a:endParaRPr lang="en-IN"/>
          </a:p>
        </p:txBody>
      </p:sp>
    </p:spTree>
    <p:extLst>
      <p:ext uri="{BB962C8B-B14F-4D97-AF65-F5344CB8AC3E}">
        <p14:creationId xmlns:p14="http://schemas.microsoft.com/office/powerpoint/2010/main" val="1254589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2</a:t>
            </a:fld>
            <a:endParaRPr lang="en-IN"/>
          </a:p>
        </p:txBody>
      </p:sp>
    </p:spTree>
    <p:extLst>
      <p:ext uri="{BB962C8B-B14F-4D97-AF65-F5344CB8AC3E}">
        <p14:creationId xmlns:p14="http://schemas.microsoft.com/office/powerpoint/2010/main" val="1894165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3</a:t>
            </a:fld>
            <a:endParaRPr lang="en-IN"/>
          </a:p>
        </p:txBody>
      </p:sp>
    </p:spTree>
    <p:extLst>
      <p:ext uri="{BB962C8B-B14F-4D97-AF65-F5344CB8AC3E}">
        <p14:creationId xmlns:p14="http://schemas.microsoft.com/office/powerpoint/2010/main" val="1019407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1B03-F615-A851-B852-4B2DE9AE7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EB038A-96C2-E48A-BA72-1A39AEA25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1A3454-109C-CD42-F5E4-2F6C9F0D5C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6ADAE8A-78CE-5C94-8BAD-71DD20F3F310}"/>
              </a:ext>
            </a:extLst>
          </p:cNvPr>
          <p:cNvSpPr>
            <a:spLocks noGrp="1"/>
          </p:cNvSpPr>
          <p:nvPr>
            <p:ph type="sldNum" sz="quarter" idx="5"/>
          </p:nvPr>
        </p:nvSpPr>
        <p:spPr/>
        <p:txBody>
          <a:bodyPr/>
          <a:lstStyle/>
          <a:p>
            <a:fld id="{623472F7-00EC-40F3-A111-228D446E4BD5}" type="slidenum">
              <a:rPr lang="en-IN" smtClean="0"/>
              <a:t>4</a:t>
            </a:fld>
            <a:endParaRPr lang="en-IN"/>
          </a:p>
        </p:txBody>
      </p:sp>
    </p:spTree>
    <p:extLst>
      <p:ext uri="{BB962C8B-B14F-4D97-AF65-F5344CB8AC3E}">
        <p14:creationId xmlns:p14="http://schemas.microsoft.com/office/powerpoint/2010/main" val="3456027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5</a:t>
            </a:fld>
            <a:endParaRPr lang="en-IN"/>
          </a:p>
        </p:txBody>
      </p:sp>
    </p:spTree>
    <p:extLst>
      <p:ext uri="{BB962C8B-B14F-4D97-AF65-F5344CB8AC3E}">
        <p14:creationId xmlns:p14="http://schemas.microsoft.com/office/powerpoint/2010/main" val="2225905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F0420-1D09-7F6E-F35A-1E0514B29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68837-FEDC-15AE-9020-EDE3403FDB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39289-C9EF-8D64-9E2C-25F5E2CD444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31C60F0-9B02-EDE1-5D7B-8F000683AA42}"/>
              </a:ext>
            </a:extLst>
          </p:cNvPr>
          <p:cNvSpPr>
            <a:spLocks noGrp="1"/>
          </p:cNvSpPr>
          <p:nvPr>
            <p:ph type="sldNum" sz="quarter" idx="5"/>
          </p:nvPr>
        </p:nvSpPr>
        <p:spPr/>
        <p:txBody>
          <a:bodyPr/>
          <a:lstStyle/>
          <a:p>
            <a:fld id="{623472F7-00EC-40F3-A111-228D446E4BD5}" type="slidenum">
              <a:rPr lang="en-IN" smtClean="0"/>
              <a:t>6</a:t>
            </a:fld>
            <a:endParaRPr lang="en-IN"/>
          </a:p>
        </p:txBody>
      </p:sp>
    </p:spTree>
    <p:extLst>
      <p:ext uri="{BB962C8B-B14F-4D97-AF65-F5344CB8AC3E}">
        <p14:creationId xmlns:p14="http://schemas.microsoft.com/office/powerpoint/2010/main" val="2908520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95466-6BC2-5D8F-CD03-52596A89E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58373-E867-2212-A654-21300748A0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D9D3D-A91C-B18F-75D4-E264DDE929C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BAB591-B997-5C32-8C23-C58A8502FE04}"/>
              </a:ext>
            </a:extLst>
          </p:cNvPr>
          <p:cNvSpPr>
            <a:spLocks noGrp="1"/>
          </p:cNvSpPr>
          <p:nvPr>
            <p:ph type="sldNum" sz="quarter" idx="5"/>
          </p:nvPr>
        </p:nvSpPr>
        <p:spPr/>
        <p:txBody>
          <a:bodyPr/>
          <a:lstStyle/>
          <a:p>
            <a:fld id="{623472F7-00EC-40F3-A111-228D446E4BD5}" type="slidenum">
              <a:rPr lang="en-IN" smtClean="0"/>
              <a:t>7</a:t>
            </a:fld>
            <a:endParaRPr lang="en-IN"/>
          </a:p>
        </p:txBody>
      </p:sp>
    </p:spTree>
    <p:extLst>
      <p:ext uri="{BB962C8B-B14F-4D97-AF65-F5344CB8AC3E}">
        <p14:creationId xmlns:p14="http://schemas.microsoft.com/office/powerpoint/2010/main" val="1722148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8</a:t>
            </a:fld>
            <a:endParaRPr lang="en-IN"/>
          </a:p>
        </p:txBody>
      </p:sp>
    </p:spTree>
    <p:extLst>
      <p:ext uri="{BB962C8B-B14F-4D97-AF65-F5344CB8AC3E}">
        <p14:creationId xmlns:p14="http://schemas.microsoft.com/office/powerpoint/2010/main" val="82402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8" y="6642827"/>
            <a:ext cx="5654040" cy="215265"/>
          </a:xfrm>
          <a:custGeom>
            <a:avLst/>
            <a:gdLst/>
            <a:ahLst/>
            <a:cxnLst/>
            <a:rect l="l" t="t" r="r" b="b"/>
            <a:pathLst>
              <a:path w="5654040" h="215265">
                <a:moveTo>
                  <a:pt x="5654038" y="215171"/>
                </a:moveTo>
                <a:lnTo>
                  <a:pt x="0" y="215171"/>
                </a:lnTo>
                <a:lnTo>
                  <a:pt x="0" y="0"/>
                </a:lnTo>
                <a:lnTo>
                  <a:pt x="5654038" y="0"/>
                </a:lnTo>
                <a:lnTo>
                  <a:pt x="5654038" y="215171"/>
                </a:lnTo>
                <a:close/>
              </a:path>
            </a:pathLst>
          </a:custGeom>
          <a:solidFill>
            <a:srgbClr val="002060"/>
          </a:solidFill>
        </p:spPr>
        <p:txBody>
          <a:bodyPr wrap="square" lIns="0" tIns="0" rIns="0" bIns="0" rtlCol="0"/>
          <a:lstStyle/>
          <a:p>
            <a:endParaRPr/>
          </a:p>
        </p:txBody>
      </p:sp>
      <p:sp>
        <p:nvSpPr>
          <p:cNvPr id="17" name="bg object 17"/>
          <p:cNvSpPr/>
          <p:nvPr/>
        </p:nvSpPr>
        <p:spPr>
          <a:xfrm>
            <a:off x="6431277" y="6641865"/>
            <a:ext cx="5323205" cy="216535"/>
          </a:xfrm>
          <a:custGeom>
            <a:avLst/>
            <a:gdLst/>
            <a:ahLst/>
            <a:cxnLst/>
            <a:rect l="l" t="t" r="r" b="b"/>
            <a:pathLst>
              <a:path w="5323205" h="216534">
                <a:moveTo>
                  <a:pt x="5322916" y="216133"/>
                </a:moveTo>
                <a:lnTo>
                  <a:pt x="0" y="216133"/>
                </a:lnTo>
                <a:lnTo>
                  <a:pt x="0" y="0"/>
                </a:lnTo>
                <a:lnTo>
                  <a:pt x="5322916" y="0"/>
                </a:lnTo>
                <a:lnTo>
                  <a:pt x="5322916" y="216133"/>
                </a:lnTo>
                <a:close/>
              </a:path>
            </a:pathLst>
          </a:custGeom>
          <a:solidFill>
            <a:srgbClr val="008080"/>
          </a:solidFill>
        </p:spPr>
        <p:txBody>
          <a:bodyPr wrap="square" lIns="0" tIns="0" rIns="0" bIns="0" rtlCol="0"/>
          <a:lstStyle/>
          <a:p>
            <a:endParaRPr/>
          </a:p>
        </p:txBody>
      </p:sp>
      <p:sp>
        <p:nvSpPr>
          <p:cNvPr id="18" name="bg object 18"/>
          <p:cNvSpPr/>
          <p:nvPr/>
        </p:nvSpPr>
        <p:spPr>
          <a:xfrm>
            <a:off x="11754195" y="6641864"/>
            <a:ext cx="438150" cy="216535"/>
          </a:xfrm>
          <a:custGeom>
            <a:avLst/>
            <a:gdLst/>
            <a:ahLst/>
            <a:cxnLst/>
            <a:rect l="l" t="t" r="r" b="b"/>
            <a:pathLst>
              <a:path w="438150" h="216534">
                <a:moveTo>
                  <a:pt x="437803" y="216132"/>
                </a:moveTo>
                <a:lnTo>
                  <a:pt x="0" y="216132"/>
                </a:lnTo>
                <a:lnTo>
                  <a:pt x="0" y="0"/>
                </a:lnTo>
                <a:lnTo>
                  <a:pt x="437803" y="0"/>
                </a:lnTo>
                <a:lnTo>
                  <a:pt x="437803"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9" cy="681643"/>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8" y="215171"/>
                </a:moveTo>
                <a:lnTo>
                  <a:pt x="0" y="215171"/>
                </a:lnTo>
                <a:lnTo>
                  <a:pt x="0" y="0"/>
                </a:lnTo>
                <a:lnTo>
                  <a:pt x="777238" y="0"/>
                </a:lnTo>
                <a:lnTo>
                  <a:pt x="777238" y="215171"/>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50596"/>
            <a:ext cx="3888104"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1783" y="6629792"/>
            <a:ext cx="54483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a:xfrm>
            <a:off x="1123125" y="6629792"/>
            <a:ext cx="4962525"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a:xfrm>
            <a:off x="11858823" y="6629309"/>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55008" y="6642101"/>
            <a:ext cx="11436992" cy="233679"/>
            <a:chOff x="753123" y="6600682"/>
            <a:chExt cx="11461310" cy="329426"/>
          </a:xfrm>
        </p:grpSpPr>
        <p:sp>
          <p:nvSpPr>
            <p:cNvPr id="3" name="object 3"/>
            <p:cNvSpPr/>
            <p:nvPr/>
          </p:nvSpPr>
          <p:spPr>
            <a:xfrm>
              <a:off x="753123" y="6600690"/>
              <a:ext cx="5887233" cy="325877"/>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nchor="t"/>
            <a:lstStyle/>
            <a:p>
              <a:r>
                <a:rPr lang="en-US" sz="1600" dirty="0">
                  <a:solidFill>
                    <a:schemeClr val="bg1"/>
                  </a:solidFill>
                  <a:latin typeface="Times New Roman"/>
                  <a:cs typeface="Times New Roman"/>
                </a:rPr>
                <a:t>     </a:t>
              </a:r>
              <a:r>
                <a:rPr lang="en-US" sz="1600" dirty="0" err="1">
                  <a:solidFill>
                    <a:schemeClr val="bg1"/>
                  </a:solidFill>
                  <a:latin typeface="Times New Roman"/>
                  <a:cs typeface="Times New Roman"/>
                </a:rPr>
                <a:t>Dept.of.Computer</a:t>
              </a:r>
              <a:r>
                <a:rPr lang="en-US" sz="1600" dirty="0">
                  <a:solidFill>
                    <a:schemeClr val="bg1"/>
                  </a:solidFill>
                  <a:latin typeface="Times New Roman"/>
                  <a:cs typeface="Times New Roman"/>
                </a:rPr>
                <a:t> science and Engineering(AI&amp;ML)</a:t>
              </a:r>
              <a:endParaRPr lang="en-US" sz="1600" dirty="0">
                <a:solidFill>
                  <a:schemeClr val="bg1"/>
                </a:solidFill>
                <a:latin typeface="Times New Roman"/>
                <a:ea typeface="+mn-lt"/>
                <a:cs typeface="Times New Roman"/>
              </a:endParaRPr>
            </a:p>
          </p:txBody>
        </p:sp>
        <p:sp>
          <p:nvSpPr>
            <p:cNvPr id="4" name="object 4"/>
            <p:cNvSpPr/>
            <p:nvPr/>
          </p:nvSpPr>
          <p:spPr>
            <a:xfrm>
              <a:off x="6640356" y="6600682"/>
              <a:ext cx="4976650" cy="329426"/>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617006" y="6600683"/>
              <a:ext cx="597427" cy="329425"/>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dirty="0"/>
            </a:p>
          </p:txBody>
        </p:sp>
      </p:grpSp>
      <p:sp>
        <p:nvSpPr>
          <p:cNvPr id="6" name="object 6"/>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7" name="object 7"/>
          <p:cNvSpPr/>
          <p:nvPr/>
        </p:nvSpPr>
        <p:spPr>
          <a:xfrm>
            <a:off x="-1" y="6639597"/>
            <a:ext cx="782336" cy="218404"/>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pPr algn="ctr"/>
            <a:r>
              <a:rPr lang="en-IN" sz="1600" dirty="0">
                <a:solidFill>
                  <a:schemeClr val="bg1"/>
                </a:solidFill>
                <a:latin typeface="Times New Roman"/>
                <a:cs typeface="Times New Roman"/>
              </a:rPr>
              <a:t>B-15</a:t>
            </a:r>
            <a:endParaRPr sz="1600" dirty="0">
              <a:solidFill>
                <a:schemeClr val="bg1"/>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4876800" y="1605079"/>
            <a:ext cx="2951480" cy="598241"/>
          </a:xfrm>
          <a:prstGeom prst="rect">
            <a:avLst/>
          </a:prstGeom>
        </p:spPr>
        <p:txBody>
          <a:bodyPr vert="horz" wrap="square" lIns="0" tIns="13335" rIns="0" bIns="0" rtlCol="0" anchor="t">
            <a:spAutoFit/>
          </a:bodyPr>
          <a:lstStyle/>
          <a:p>
            <a:pPr algn="ctr">
              <a:lnSpc>
                <a:spcPct val="100000"/>
              </a:lnSpc>
              <a:spcBef>
                <a:spcPts val="105"/>
              </a:spcBef>
            </a:pPr>
            <a:r>
              <a:rPr lang="en-IN" sz="2400" dirty="0" err="1">
                <a:latin typeface="Times New Roman"/>
                <a:cs typeface="Times New Roman"/>
              </a:rPr>
              <a:t>M.Simhadri</a:t>
            </a:r>
            <a:r>
              <a:rPr lang="en-IN" sz="2400" dirty="0">
                <a:latin typeface="Times New Roman"/>
                <a:cs typeface="Times New Roman"/>
              </a:rPr>
              <a:t> Naik</a:t>
            </a:r>
            <a:endParaRPr sz="2400" dirty="0">
              <a:latin typeface="Times New Roman"/>
              <a:cs typeface="Times New Roman"/>
            </a:endParaRPr>
          </a:p>
          <a:p>
            <a:pPr marL="1905"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IN" sz="1400" spc="-10" dirty="0">
                <a:latin typeface="Times New Roman"/>
                <a:cs typeface="Times New Roman"/>
              </a:rPr>
              <a:t>34G5A3309</a:t>
            </a:r>
            <a:endParaRPr sz="1400" dirty="0">
              <a:latin typeface="Times New Roman"/>
              <a:cs typeface="Times New Roman"/>
            </a:endParaRPr>
          </a:p>
        </p:txBody>
      </p:sp>
      <p:sp>
        <p:nvSpPr>
          <p:cNvPr id="9" name="object 9"/>
          <p:cNvSpPr txBox="1"/>
          <p:nvPr/>
        </p:nvSpPr>
        <p:spPr>
          <a:xfrm>
            <a:off x="4686299" y="2477833"/>
            <a:ext cx="2819400" cy="785471"/>
          </a:xfrm>
          <a:prstGeom prst="rect">
            <a:avLst/>
          </a:prstGeom>
        </p:spPr>
        <p:txBody>
          <a:bodyPr vert="horz" wrap="square" lIns="0" tIns="71755" rIns="0" bIns="0" rtlCol="0" anchor="t">
            <a:spAutoFit/>
          </a:bodyPr>
          <a:lstStyle/>
          <a:p>
            <a:pPr algn="ctr">
              <a:spcBef>
                <a:spcPts val="565"/>
              </a:spcBef>
            </a:pPr>
            <a:r>
              <a:rPr sz="1600" i="1" dirty="0">
                <a:latin typeface="Times New Roman"/>
                <a:cs typeface="Times New Roman"/>
              </a:rPr>
              <a:t>Under</a:t>
            </a:r>
            <a:r>
              <a:rPr sz="1600" i="1" spc="-35" dirty="0">
                <a:latin typeface="Times New Roman"/>
                <a:cs typeface="Times New Roman"/>
              </a:rPr>
              <a:t> </a:t>
            </a:r>
            <a:r>
              <a:rPr sz="1600" i="1" dirty="0">
                <a:latin typeface="Times New Roman"/>
                <a:cs typeface="Times New Roman"/>
              </a:rPr>
              <a:t>the</a:t>
            </a:r>
            <a:r>
              <a:rPr sz="1600" i="1" spc="-35" dirty="0">
                <a:latin typeface="Times New Roman"/>
                <a:cs typeface="Times New Roman"/>
              </a:rPr>
              <a:t> </a:t>
            </a:r>
            <a:r>
              <a:rPr sz="1600" i="1" spc="-10" dirty="0">
                <a:latin typeface="Times New Roman"/>
                <a:cs typeface="Times New Roman"/>
              </a:rPr>
              <a:t>guidance</a:t>
            </a:r>
            <a:r>
              <a:rPr lang="en-IN" sz="1600" i="1" spc="-10" dirty="0">
                <a:latin typeface="Times New Roman"/>
                <a:cs typeface="Times New Roman"/>
              </a:rPr>
              <a:t> of</a:t>
            </a:r>
          </a:p>
          <a:p>
            <a:pPr algn="ctr">
              <a:spcBef>
                <a:spcPts val="565"/>
              </a:spcBef>
            </a:pPr>
            <a:r>
              <a:rPr lang="en-IN" sz="1400" i="1" spc="-35" dirty="0">
                <a:latin typeface="Times New Roman"/>
                <a:cs typeface="Times New Roman"/>
              </a:rPr>
              <a:t> </a:t>
            </a:r>
            <a:r>
              <a:rPr lang="en-IN" sz="3800" i="1" spc="-35" baseline="20833" dirty="0">
                <a:latin typeface="Times New Roman"/>
                <a:cs typeface="Times New Roman"/>
              </a:rPr>
              <a:t>Mrs. Gayatri</a:t>
            </a:r>
            <a:endParaRPr lang="en-IN" sz="3800" baseline="20833" dirty="0">
              <a:latin typeface="Times New Roman"/>
              <a:cs typeface="Times New Roman"/>
            </a:endParaRPr>
          </a:p>
        </p:txBody>
      </p:sp>
      <p:sp>
        <p:nvSpPr>
          <p:cNvPr id="10" name="object 10"/>
          <p:cNvSpPr txBox="1"/>
          <p:nvPr/>
        </p:nvSpPr>
        <p:spPr>
          <a:xfrm>
            <a:off x="4554491" y="3136734"/>
            <a:ext cx="3124199" cy="518091"/>
          </a:xfrm>
          <a:prstGeom prst="rect">
            <a:avLst/>
          </a:prstGeom>
        </p:spPr>
        <p:txBody>
          <a:bodyPr vert="horz" wrap="square" lIns="0" tIns="12700" rIns="0" bIns="0" rtlCol="0">
            <a:spAutoFit/>
          </a:bodyPr>
          <a:lstStyle/>
          <a:p>
            <a:pPr marL="12700" algn="ctr">
              <a:lnSpc>
                <a:spcPct val="100000"/>
              </a:lnSpc>
              <a:spcBef>
                <a:spcPts val="100"/>
              </a:spcBef>
            </a:pPr>
            <a:r>
              <a:rPr lang="en-IN" sz="1600" i="1" spc="-10" dirty="0">
                <a:latin typeface="Times New Roman"/>
                <a:cs typeface="Times New Roman"/>
              </a:rPr>
              <a:t>Assistant Professor M. Tech.</a:t>
            </a:r>
          </a:p>
          <a:p>
            <a:pPr marL="12700" algn="ctr">
              <a:lnSpc>
                <a:spcPct val="100000"/>
              </a:lnSpc>
              <a:spcBef>
                <a:spcPts val="100"/>
              </a:spcBef>
            </a:pPr>
            <a:endParaRPr sz="1600" dirty="0">
              <a:latin typeface="Times New Roman"/>
              <a:cs typeface="Times New Roman"/>
            </a:endParaRPr>
          </a:p>
        </p:txBody>
      </p:sp>
      <p:sp>
        <p:nvSpPr>
          <p:cNvPr id="11" name="object 11"/>
          <p:cNvSpPr txBox="1"/>
          <p:nvPr/>
        </p:nvSpPr>
        <p:spPr>
          <a:xfrm>
            <a:off x="2732995" y="5216920"/>
            <a:ext cx="6767195" cy="1220470"/>
          </a:xfrm>
          <a:prstGeom prst="rect">
            <a:avLst/>
          </a:prstGeom>
        </p:spPr>
        <p:txBody>
          <a:bodyPr vert="horz" wrap="square" lIns="0" tIns="17780" rIns="0" bIns="0" rtlCol="0">
            <a:spAutoFit/>
          </a:bodyPr>
          <a:lstStyle/>
          <a:p>
            <a:pPr marL="4445" algn="ctr">
              <a:lnSpc>
                <a:spcPts val="1975"/>
              </a:lnSpc>
              <a:spcBef>
                <a:spcPts val="140"/>
              </a:spcBef>
            </a:pPr>
            <a:r>
              <a:rPr sz="1850" dirty="0">
                <a:latin typeface="Times New Roman"/>
                <a:cs typeface="Times New Roman"/>
              </a:rPr>
              <a:t>Department</a:t>
            </a:r>
            <a:r>
              <a:rPr sz="1850" spc="85" dirty="0">
                <a:latin typeface="Times New Roman"/>
                <a:cs typeface="Times New Roman"/>
              </a:rPr>
              <a:t> </a:t>
            </a:r>
            <a:r>
              <a:rPr sz="1850" dirty="0">
                <a:latin typeface="Times New Roman"/>
                <a:cs typeface="Times New Roman"/>
              </a:rPr>
              <a:t>of</a:t>
            </a:r>
            <a:r>
              <a:rPr sz="1850" spc="90" dirty="0">
                <a:latin typeface="Times New Roman"/>
                <a:cs typeface="Times New Roman"/>
              </a:rPr>
              <a:t> </a:t>
            </a:r>
            <a:r>
              <a:rPr sz="1850" dirty="0">
                <a:latin typeface="Times New Roman"/>
                <a:cs typeface="Times New Roman"/>
              </a:rPr>
              <a:t>Computer</a:t>
            </a:r>
            <a:r>
              <a:rPr sz="1850" spc="90" dirty="0">
                <a:latin typeface="Times New Roman"/>
                <a:cs typeface="Times New Roman"/>
              </a:rPr>
              <a:t> </a:t>
            </a:r>
            <a:r>
              <a:rPr sz="1850" dirty="0">
                <a:latin typeface="Times New Roman"/>
                <a:cs typeface="Times New Roman"/>
              </a:rPr>
              <a:t>Science</a:t>
            </a:r>
            <a:r>
              <a:rPr sz="1850" spc="85" dirty="0">
                <a:latin typeface="Times New Roman"/>
                <a:cs typeface="Times New Roman"/>
              </a:rPr>
              <a:t> </a:t>
            </a:r>
            <a:r>
              <a:rPr sz="1850" dirty="0">
                <a:latin typeface="Times New Roman"/>
                <a:cs typeface="Times New Roman"/>
              </a:rPr>
              <a:t>and</a:t>
            </a:r>
            <a:r>
              <a:rPr sz="1850" spc="95" dirty="0">
                <a:latin typeface="Times New Roman"/>
                <a:cs typeface="Times New Roman"/>
              </a:rPr>
              <a:t> </a:t>
            </a:r>
            <a:r>
              <a:rPr sz="1850" dirty="0">
                <a:latin typeface="Times New Roman"/>
                <a:cs typeface="Times New Roman"/>
              </a:rPr>
              <a:t>Engineering</a:t>
            </a:r>
            <a:r>
              <a:rPr sz="1850" spc="90" dirty="0">
                <a:latin typeface="Times New Roman"/>
                <a:cs typeface="Times New Roman"/>
              </a:rPr>
              <a:t> </a:t>
            </a:r>
            <a:r>
              <a:rPr sz="1850" dirty="0">
                <a:latin typeface="Times New Roman"/>
                <a:cs typeface="Times New Roman"/>
              </a:rPr>
              <a:t>(AI</a:t>
            </a:r>
            <a:r>
              <a:rPr sz="1850" spc="90" dirty="0">
                <a:latin typeface="Times New Roman"/>
                <a:cs typeface="Times New Roman"/>
              </a:rPr>
              <a:t> </a:t>
            </a:r>
            <a:r>
              <a:rPr sz="1850" dirty="0">
                <a:latin typeface="Times New Roman"/>
                <a:cs typeface="Times New Roman"/>
              </a:rPr>
              <a:t>&amp;</a:t>
            </a:r>
            <a:r>
              <a:rPr sz="1850" spc="90" dirty="0">
                <a:latin typeface="Times New Roman"/>
                <a:cs typeface="Times New Roman"/>
              </a:rPr>
              <a:t> </a:t>
            </a:r>
            <a:r>
              <a:rPr sz="1850" spc="-25" dirty="0">
                <a:latin typeface="Times New Roman"/>
                <a:cs typeface="Times New Roman"/>
              </a:rPr>
              <a:t>ML)</a:t>
            </a:r>
            <a:endParaRPr sz="1850" dirty="0">
              <a:latin typeface="Times New Roman"/>
              <a:cs typeface="Times New Roman"/>
            </a:endParaRPr>
          </a:p>
          <a:p>
            <a:pPr algn="ctr">
              <a:lnSpc>
                <a:spcPts val="3185"/>
              </a:lnSpc>
            </a:pPr>
            <a:r>
              <a:rPr sz="2900" dirty="0">
                <a:solidFill>
                  <a:srgbClr val="FF0000"/>
                </a:solidFill>
                <a:latin typeface="Times New Roman"/>
                <a:cs typeface="Times New Roman"/>
              </a:rPr>
              <a:t>Srinivasa</a:t>
            </a:r>
            <a:r>
              <a:rPr sz="2900" spc="30" dirty="0">
                <a:solidFill>
                  <a:srgbClr val="FF0000"/>
                </a:solidFill>
                <a:latin typeface="Times New Roman"/>
                <a:cs typeface="Times New Roman"/>
              </a:rPr>
              <a:t> </a:t>
            </a:r>
            <a:r>
              <a:rPr sz="2900" dirty="0">
                <a:solidFill>
                  <a:srgbClr val="FF0000"/>
                </a:solidFill>
                <a:latin typeface="Times New Roman"/>
                <a:cs typeface="Times New Roman"/>
              </a:rPr>
              <a:t>Ramanujan</a:t>
            </a:r>
            <a:r>
              <a:rPr sz="2900" spc="35" dirty="0">
                <a:solidFill>
                  <a:srgbClr val="FF0000"/>
                </a:solidFill>
                <a:latin typeface="Times New Roman"/>
                <a:cs typeface="Times New Roman"/>
              </a:rPr>
              <a:t> </a:t>
            </a:r>
            <a:r>
              <a:rPr sz="2900" dirty="0">
                <a:solidFill>
                  <a:srgbClr val="FF0000"/>
                </a:solidFill>
                <a:latin typeface="Times New Roman"/>
                <a:cs typeface="Times New Roman"/>
              </a:rPr>
              <a:t>Institute</a:t>
            </a:r>
            <a:r>
              <a:rPr sz="2900" spc="30" dirty="0">
                <a:solidFill>
                  <a:srgbClr val="FF0000"/>
                </a:solidFill>
                <a:latin typeface="Times New Roman"/>
                <a:cs typeface="Times New Roman"/>
              </a:rPr>
              <a:t> </a:t>
            </a:r>
            <a:r>
              <a:rPr sz="2900" dirty="0">
                <a:solidFill>
                  <a:srgbClr val="FF0000"/>
                </a:solidFill>
                <a:latin typeface="Times New Roman"/>
                <a:cs typeface="Times New Roman"/>
              </a:rPr>
              <a:t>of</a:t>
            </a:r>
            <a:r>
              <a:rPr sz="2900" spc="35" dirty="0">
                <a:solidFill>
                  <a:srgbClr val="FF0000"/>
                </a:solidFill>
                <a:latin typeface="Times New Roman"/>
                <a:cs typeface="Times New Roman"/>
              </a:rPr>
              <a:t> </a:t>
            </a:r>
            <a:r>
              <a:rPr sz="2900" spc="-10" dirty="0">
                <a:solidFill>
                  <a:srgbClr val="FF0000"/>
                </a:solidFill>
                <a:latin typeface="Times New Roman"/>
                <a:cs typeface="Times New Roman"/>
              </a:rPr>
              <a:t>Technology</a:t>
            </a:r>
            <a:endParaRPr sz="2900" dirty="0">
              <a:latin typeface="Times New Roman"/>
              <a:cs typeface="Times New Roman"/>
            </a:endParaRPr>
          </a:p>
          <a:p>
            <a:pPr marL="6985" algn="ctr">
              <a:lnSpc>
                <a:spcPts val="1070"/>
              </a:lnSpc>
            </a:pPr>
            <a:r>
              <a:rPr sz="950" b="1" spc="-10" dirty="0">
                <a:latin typeface="Times New Roman"/>
                <a:cs typeface="Times New Roman"/>
              </a:rPr>
              <a:t>(Affiliated</a:t>
            </a:r>
            <a:r>
              <a:rPr sz="950" b="1" spc="-25" dirty="0">
                <a:latin typeface="Times New Roman"/>
                <a:cs typeface="Times New Roman"/>
              </a:rPr>
              <a:t> </a:t>
            </a:r>
            <a:r>
              <a:rPr sz="950" b="1" dirty="0">
                <a:latin typeface="Times New Roman"/>
                <a:cs typeface="Times New Roman"/>
              </a:rPr>
              <a:t>to</a:t>
            </a:r>
            <a:r>
              <a:rPr sz="950" b="1" spc="-20" dirty="0">
                <a:latin typeface="Times New Roman"/>
                <a:cs typeface="Times New Roman"/>
              </a:rPr>
              <a:t> </a:t>
            </a:r>
            <a:r>
              <a:rPr sz="950" b="1" dirty="0">
                <a:latin typeface="Times New Roman"/>
                <a:cs typeface="Times New Roman"/>
              </a:rPr>
              <a:t>JNTUA</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Approved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AICTE)</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0" dirty="0">
                <a:latin typeface="Times New Roman"/>
                <a:cs typeface="Times New Roman"/>
              </a:rPr>
              <a:t> </a:t>
            </a:r>
            <a:r>
              <a:rPr sz="950" b="1" dirty="0">
                <a:latin typeface="Times New Roman"/>
                <a:cs typeface="Times New Roman"/>
              </a:rPr>
              <a:t>NAAC</a:t>
            </a:r>
            <a:r>
              <a:rPr sz="950" b="1" spc="-20" dirty="0">
                <a:latin typeface="Times New Roman"/>
                <a:cs typeface="Times New Roman"/>
              </a:rPr>
              <a:t> </a:t>
            </a:r>
            <a:r>
              <a:rPr sz="950" b="1" dirty="0">
                <a:latin typeface="Times New Roman"/>
                <a:cs typeface="Times New Roman"/>
              </a:rPr>
              <a:t>with</a:t>
            </a:r>
            <a:r>
              <a:rPr sz="950" b="1" spc="-25" dirty="0">
                <a:latin typeface="Times New Roman"/>
                <a:cs typeface="Times New Roman"/>
              </a:rPr>
              <a:t> </a:t>
            </a:r>
            <a:r>
              <a:rPr sz="950" b="1" dirty="0">
                <a:latin typeface="Times New Roman"/>
                <a:cs typeface="Times New Roman"/>
              </a:rPr>
              <a:t>‘A’</a:t>
            </a:r>
            <a:r>
              <a:rPr sz="950" b="1" spc="-20" dirty="0">
                <a:latin typeface="Times New Roman"/>
                <a:cs typeface="Times New Roman"/>
              </a:rPr>
              <a:t> </a:t>
            </a:r>
            <a:r>
              <a:rPr sz="950" b="1" dirty="0">
                <a:latin typeface="Times New Roman"/>
                <a:cs typeface="Times New Roman"/>
              </a:rPr>
              <a:t>Grade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NBA</a:t>
            </a:r>
            <a:r>
              <a:rPr sz="950" b="1" spc="-20" dirty="0">
                <a:latin typeface="Times New Roman"/>
                <a:cs typeface="Times New Roman"/>
              </a:rPr>
              <a:t> </a:t>
            </a:r>
            <a:r>
              <a:rPr sz="950" b="1" dirty="0">
                <a:latin typeface="Times New Roman"/>
                <a:cs typeface="Times New Roman"/>
              </a:rPr>
              <a:t>(EEE,</a:t>
            </a:r>
            <a:r>
              <a:rPr sz="950" b="1" spc="-20" dirty="0">
                <a:latin typeface="Times New Roman"/>
                <a:cs typeface="Times New Roman"/>
              </a:rPr>
              <a:t> </a:t>
            </a:r>
            <a:r>
              <a:rPr sz="950" b="1" dirty="0">
                <a:latin typeface="Times New Roman"/>
                <a:cs typeface="Times New Roman"/>
              </a:rPr>
              <a:t>ECE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CSE)</a:t>
            </a:r>
            <a:endParaRPr sz="950" dirty="0">
              <a:latin typeface="Times New Roman"/>
              <a:cs typeface="Times New Roman"/>
            </a:endParaRPr>
          </a:p>
          <a:p>
            <a:pPr marL="5715" algn="ctr">
              <a:lnSpc>
                <a:spcPts val="1180"/>
              </a:lnSpc>
            </a:pPr>
            <a:r>
              <a:rPr sz="1000" b="1" dirty="0">
                <a:latin typeface="Times New Roman"/>
                <a:cs typeface="Times New Roman"/>
              </a:rPr>
              <a:t>Rotarypuram</a:t>
            </a:r>
            <a:r>
              <a:rPr sz="1000" b="1" spc="95" dirty="0">
                <a:latin typeface="Times New Roman"/>
                <a:cs typeface="Times New Roman"/>
              </a:rPr>
              <a:t> </a:t>
            </a:r>
            <a:r>
              <a:rPr sz="1000" b="1" dirty="0">
                <a:latin typeface="Times New Roman"/>
                <a:cs typeface="Times New Roman"/>
              </a:rPr>
              <a:t>Village,</a:t>
            </a:r>
            <a:r>
              <a:rPr sz="1000" b="1" spc="100" dirty="0">
                <a:latin typeface="Times New Roman"/>
                <a:cs typeface="Times New Roman"/>
              </a:rPr>
              <a:t> </a:t>
            </a:r>
            <a:r>
              <a:rPr sz="1000" b="1" dirty="0">
                <a:latin typeface="Times New Roman"/>
                <a:cs typeface="Times New Roman"/>
              </a:rPr>
              <a:t>B</a:t>
            </a:r>
            <a:r>
              <a:rPr sz="1000" b="1" spc="95" dirty="0">
                <a:latin typeface="Times New Roman"/>
                <a:cs typeface="Times New Roman"/>
              </a:rPr>
              <a:t> </a:t>
            </a:r>
            <a:r>
              <a:rPr sz="1000" b="1" dirty="0">
                <a:latin typeface="Times New Roman"/>
                <a:cs typeface="Times New Roman"/>
              </a:rPr>
              <a:t>K</a:t>
            </a:r>
            <a:r>
              <a:rPr sz="1000" b="1" spc="100" dirty="0">
                <a:latin typeface="Times New Roman"/>
                <a:cs typeface="Times New Roman"/>
              </a:rPr>
              <a:t> </a:t>
            </a:r>
            <a:r>
              <a:rPr sz="1000" b="1" dirty="0">
                <a:latin typeface="Times New Roman"/>
                <a:cs typeface="Times New Roman"/>
              </a:rPr>
              <a:t>Samudram</a:t>
            </a:r>
            <a:r>
              <a:rPr sz="1000" b="1" spc="100" dirty="0">
                <a:latin typeface="Times New Roman"/>
                <a:cs typeface="Times New Roman"/>
              </a:rPr>
              <a:t> </a:t>
            </a:r>
            <a:r>
              <a:rPr sz="1000" b="1" dirty="0">
                <a:latin typeface="Times New Roman"/>
                <a:cs typeface="Times New Roman"/>
              </a:rPr>
              <a:t>Mandal,</a:t>
            </a:r>
            <a:r>
              <a:rPr sz="1000" b="1" spc="95" dirty="0">
                <a:latin typeface="Times New Roman"/>
                <a:cs typeface="Times New Roman"/>
              </a:rPr>
              <a:t> </a:t>
            </a:r>
            <a:r>
              <a:rPr sz="1000" b="1" dirty="0">
                <a:latin typeface="Times New Roman"/>
                <a:cs typeface="Times New Roman"/>
              </a:rPr>
              <a:t>Ananthapuramu</a:t>
            </a:r>
            <a:r>
              <a:rPr sz="1000" b="1" spc="100" dirty="0">
                <a:latin typeface="Times New Roman"/>
                <a:cs typeface="Times New Roman"/>
              </a:rPr>
              <a:t> </a:t>
            </a:r>
            <a:r>
              <a:rPr sz="1000" b="1" dirty="0">
                <a:latin typeface="Times New Roman"/>
                <a:cs typeface="Times New Roman"/>
              </a:rPr>
              <a:t>–</a:t>
            </a:r>
            <a:r>
              <a:rPr sz="1000" b="1" spc="95" dirty="0">
                <a:latin typeface="Times New Roman"/>
                <a:cs typeface="Times New Roman"/>
              </a:rPr>
              <a:t> </a:t>
            </a:r>
            <a:r>
              <a:rPr sz="1000" b="1" spc="-10" dirty="0">
                <a:latin typeface="Times New Roman"/>
                <a:cs typeface="Times New Roman"/>
              </a:rPr>
              <a:t>5157</a:t>
            </a:r>
            <a:r>
              <a:rPr lang="en-IN" sz="1000" b="1" spc="-10" dirty="0">
                <a:latin typeface="Times New Roman"/>
                <a:cs typeface="Times New Roman"/>
              </a:rPr>
              <a:t>15</a:t>
            </a:r>
            <a:r>
              <a:rPr sz="1000" b="1" spc="-10" dirty="0">
                <a:latin typeface="Times New Roman"/>
                <a:cs typeface="Times New Roman"/>
              </a:rPr>
              <a:t>.</a:t>
            </a:r>
            <a:endParaRPr sz="1000" dirty="0">
              <a:latin typeface="Times New Roman"/>
              <a:cs typeface="Times New Roman"/>
            </a:endParaRPr>
          </a:p>
          <a:p>
            <a:pPr marL="5080" algn="ctr">
              <a:lnSpc>
                <a:spcPct val="100000"/>
              </a:lnSpc>
              <a:spcBef>
                <a:spcPts val="630"/>
              </a:spcBef>
            </a:pPr>
            <a:r>
              <a:rPr sz="1100" b="1" dirty="0">
                <a:solidFill>
                  <a:srgbClr val="1E4E78"/>
                </a:solidFill>
                <a:latin typeface="Times New Roman"/>
                <a:cs typeface="Times New Roman"/>
              </a:rPr>
              <a:t>202</a:t>
            </a:r>
            <a:r>
              <a:rPr lang="en-IN" sz="1100" b="1" dirty="0">
                <a:solidFill>
                  <a:srgbClr val="1E4E78"/>
                </a:solidFill>
                <a:latin typeface="Times New Roman"/>
                <a:cs typeface="Times New Roman"/>
              </a:rPr>
              <a:t>5</a:t>
            </a:r>
            <a:r>
              <a:rPr sz="1100" b="1" spc="30" dirty="0">
                <a:solidFill>
                  <a:srgbClr val="1E4E78"/>
                </a:solidFill>
                <a:latin typeface="Times New Roman"/>
                <a:cs typeface="Times New Roman"/>
              </a:rPr>
              <a:t> </a:t>
            </a:r>
            <a:r>
              <a:rPr sz="1100" b="1" dirty="0">
                <a:solidFill>
                  <a:srgbClr val="1E4E78"/>
                </a:solidFill>
                <a:latin typeface="Times New Roman"/>
                <a:cs typeface="Times New Roman"/>
              </a:rPr>
              <a:t>-</a:t>
            </a:r>
            <a:r>
              <a:rPr sz="1100" b="1" spc="30" dirty="0">
                <a:solidFill>
                  <a:srgbClr val="1E4E78"/>
                </a:solidFill>
                <a:latin typeface="Times New Roman"/>
                <a:cs typeface="Times New Roman"/>
              </a:rPr>
              <a:t> </a:t>
            </a:r>
            <a:r>
              <a:rPr sz="1100" b="1" spc="-20" dirty="0">
                <a:solidFill>
                  <a:srgbClr val="1E4E78"/>
                </a:solidFill>
                <a:latin typeface="Times New Roman"/>
                <a:cs typeface="Times New Roman"/>
              </a:rPr>
              <a:t>202</a:t>
            </a:r>
            <a:r>
              <a:rPr lang="en-IN" sz="1100" b="1" spc="-20" dirty="0">
                <a:solidFill>
                  <a:srgbClr val="1E4E78"/>
                </a:solidFill>
                <a:latin typeface="Times New Roman"/>
                <a:cs typeface="Times New Roman"/>
              </a:rPr>
              <a:t>6</a:t>
            </a:r>
            <a:endParaRPr sz="1100" dirty="0">
              <a:latin typeface="Times New Roman"/>
              <a:cs typeface="Times New Roman"/>
            </a:endParaRPr>
          </a:p>
        </p:txBody>
      </p:sp>
      <p:sp>
        <p:nvSpPr>
          <p:cNvPr id="12" name="object 12"/>
          <p:cNvSpPr txBox="1"/>
          <p:nvPr/>
        </p:nvSpPr>
        <p:spPr>
          <a:xfrm>
            <a:off x="228600" y="1654032"/>
            <a:ext cx="2951480" cy="598241"/>
          </a:xfrm>
          <a:prstGeom prst="rect">
            <a:avLst/>
          </a:prstGeom>
        </p:spPr>
        <p:txBody>
          <a:bodyPr vert="horz" wrap="square" lIns="0" tIns="13335" rIns="0" bIns="0" rtlCol="0" anchor="t">
            <a:spAutoFit/>
          </a:bodyPr>
          <a:lstStyle/>
          <a:p>
            <a:pPr algn="ctr">
              <a:lnSpc>
                <a:spcPct val="100000"/>
              </a:lnSpc>
              <a:spcBef>
                <a:spcPts val="105"/>
              </a:spcBef>
            </a:pPr>
            <a:r>
              <a:rPr lang="en-IN" sz="2400" dirty="0">
                <a:latin typeface="Times New Roman"/>
                <a:cs typeface="Times New Roman"/>
              </a:rPr>
              <a:t>G. Thahaseen</a:t>
            </a:r>
            <a:endParaRPr sz="2400" dirty="0">
              <a:latin typeface="Times New Roman"/>
              <a:cs typeface="Times New Roman"/>
            </a:endParaRPr>
          </a:p>
          <a:p>
            <a:pPr marL="1905"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IN" sz="1400" spc="-10" dirty="0">
                <a:latin typeface="Times New Roman"/>
                <a:cs typeface="Times New Roman"/>
              </a:rPr>
              <a:t>24G1A33B9</a:t>
            </a:r>
            <a:endParaRPr sz="1400" dirty="0">
              <a:latin typeface="Times New Roman"/>
              <a:cs typeface="Times New Roman"/>
            </a:endParaRPr>
          </a:p>
        </p:txBody>
      </p:sp>
      <p:sp>
        <p:nvSpPr>
          <p:cNvPr id="13" name="object 13"/>
          <p:cNvSpPr txBox="1"/>
          <p:nvPr/>
        </p:nvSpPr>
        <p:spPr>
          <a:xfrm>
            <a:off x="7678690" y="1568057"/>
            <a:ext cx="4056109" cy="611065"/>
          </a:xfrm>
          <a:prstGeom prst="rect">
            <a:avLst/>
          </a:prstGeom>
        </p:spPr>
        <p:txBody>
          <a:bodyPr vert="horz" wrap="square" lIns="0" tIns="13335" rIns="0" bIns="0" rtlCol="0" anchor="t">
            <a:spAutoFit/>
          </a:bodyPr>
          <a:lstStyle/>
          <a:p>
            <a:pPr algn="ctr">
              <a:spcBef>
                <a:spcPts val="105"/>
              </a:spcBef>
            </a:pPr>
            <a:r>
              <a:rPr lang="en-IN" sz="2400" spc="-30" dirty="0">
                <a:latin typeface="Times New Roman"/>
                <a:cs typeface="Times New Roman"/>
              </a:rPr>
              <a:t> P. Venkata </a:t>
            </a:r>
            <a:r>
              <a:rPr lang="en-IN" sz="2400" spc="-30" dirty="0" err="1">
                <a:latin typeface="Times New Roman"/>
                <a:cs typeface="Times New Roman"/>
              </a:rPr>
              <a:t>Jagadeeswara</a:t>
            </a:r>
            <a:r>
              <a:rPr lang="en-IN" sz="2400" spc="-30" dirty="0">
                <a:latin typeface="Times New Roman"/>
                <a:cs typeface="Times New Roman"/>
              </a:rPr>
              <a:t> Reddy</a:t>
            </a:r>
            <a:endParaRPr lang="en-IN" sz="1100" spc="-10" dirty="0">
              <a:latin typeface="Times New Roman"/>
              <a:cs typeface="Times New Roman"/>
            </a:endParaRPr>
          </a:p>
          <a:p>
            <a:pPr algn="ctr">
              <a:spcBef>
                <a:spcPts val="105"/>
              </a:spcBef>
            </a:pPr>
            <a:r>
              <a:rPr sz="1400" dirty="0">
                <a:latin typeface="Times New Roman"/>
                <a:cs typeface="Times New Roman"/>
              </a:rPr>
              <a:t>Roll No. </a:t>
            </a:r>
            <a:r>
              <a:rPr lang="en-US" sz="1400" spc="-10" dirty="0">
                <a:latin typeface="Times New Roman"/>
                <a:cs typeface="Times New Roman"/>
              </a:rPr>
              <a:t>234G5A3312</a:t>
            </a:r>
            <a:endParaRPr lang="en-IN" sz="1400" spc="-10" dirty="0">
              <a:latin typeface="Times New Roman"/>
              <a:cs typeface="Times New Roman"/>
            </a:endParaRPr>
          </a:p>
        </p:txBody>
      </p:sp>
      <p:sp>
        <p:nvSpPr>
          <p:cNvPr id="14" name="object 14"/>
          <p:cNvSpPr txBox="1"/>
          <p:nvPr/>
        </p:nvSpPr>
        <p:spPr>
          <a:xfrm>
            <a:off x="2526041" y="1608868"/>
            <a:ext cx="2747197" cy="598241"/>
          </a:xfrm>
          <a:prstGeom prst="rect">
            <a:avLst/>
          </a:prstGeom>
        </p:spPr>
        <p:txBody>
          <a:bodyPr vert="horz" wrap="square" lIns="0" tIns="13335" rIns="0" bIns="0" rtlCol="0" anchor="t">
            <a:spAutoFit/>
          </a:bodyPr>
          <a:lstStyle/>
          <a:p>
            <a:pPr algn="ctr">
              <a:lnSpc>
                <a:spcPct val="100000"/>
              </a:lnSpc>
              <a:spcBef>
                <a:spcPts val="105"/>
              </a:spcBef>
            </a:pPr>
            <a:r>
              <a:rPr lang="en-IN" sz="2400" spc="-50" dirty="0">
                <a:latin typeface="Times New Roman"/>
                <a:cs typeface="Times New Roman"/>
              </a:rPr>
              <a:t>K. Soumya Latha</a:t>
            </a:r>
            <a:endParaRPr sz="2400" dirty="0">
              <a:latin typeface="Times New Roman"/>
              <a:cs typeface="Times New Roman"/>
            </a:endParaRPr>
          </a:p>
          <a:p>
            <a:pPr marL="1905"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IN" sz="1400" spc="-10" dirty="0">
                <a:latin typeface="Times New Roman"/>
                <a:cs typeface="Times New Roman"/>
              </a:rPr>
              <a:t>24G1A33A3</a:t>
            </a:r>
            <a:endParaRPr sz="1400" dirty="0">
              <a:latin typeface="Times New Roman"/>
              <a:cs typeface="Times New Roman"/>
            </a:endParaRPr>
          </a:p>
        </p:txBody>
      </p:sp>
      <p:grpSp>
        <p:nvGrpSpPr>
          <p:cNvPr id="15" name="object 15"/>
          <p:cNvGrpSpPr/>
          <p:nvPr/>
        </p:nvGrpSpPr>
        <p:grpSpPr>
          <a:xfrm>
            <a:off x="666120" y="311062"/>
            <a:ext cx="10642482" cy="977159"/>
            <a:chOff x="697859" y="292176"/>
            <a:chExt cx="10642482" cy="977159"/>
          </a:xfrm>
        </p:grpSpPr>
        <p:pic>
          <p:nvPicPr>
            <p:cNvPr id="16" name="object 16"/>
            <p:cNvPicPr/>
            <p:nvPr/>
          </p:nvPicPr>
          <p:blipFill>
            <a:blip r:embed="rId3" cstate="print"/>
            <a:stretch>
              <a:fillRect/>
            </a:stretch>
          </p:blipFill>
          <p:spPr>
            <a:xfrm>
              <a:off x="697859" y="297171"/>
              <a:ext cx="10642482" cy="972164"/>
            </a:xfrm>
            <a:prstGeom prst="rect">
              <a:avLst/>
            </a:prstGeom>
          </p:spPr>
        </p:pic>
        <p:sp>
          <p:nvSpPr>
            <p:cNvPr id="17" name="object 17"/>
            <p:cNvSpPr/>
            <p:nvPr/>
          </p:nvSpPr>
          <p:spPr>
            <a:xfrm>
              <a:off x="755008" y="292176"/>
              <a:ext cx="10528300" cy="900979"/>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dirty="0"/>
            </a:p>
          </p:txBody>
        </p:sp>
      </p:grpSp>
      <p:sp>
        <p:nvSpPr>
          <p:cNvPr id="18" name="object 18"/>
          <p:cNvSpPr txBox="1">
            <a:spLocks noGrp="1"/>
          </p:cNvSpPr>
          <p:nvPr>
            <p:ph type="title"/>
          </p:nvPr>
        </p:nvSpPr>
        <p:spPr>
          <a:xfrm>
            <a:off x="755008" y="384500"/>
            <a:ext cx="10642483" cy="443711"/>
          </a:xfrm>
          <a:prstGeom prst="rect">
            <a:avLst/>
          </a:prstGeom>
        </p:spPr>
        <p:txBody>
          <a:bodyPr vert="horz" wrap="square" lIns="0" tIns="12700" rIns="0" bIns="0" rtlCol="0" anchor="t">
            <a:spAutoFit/>
          </a:bodyPr>
          <a:lstStyle/>
          <a:p>
            <a:pPr marL="12700" algn="ctr">
              <a:spcBef>
                <a:spcPts val="100"/>
              </a:spcBef>
            </a:pPr>
            <a:r>
              <a:rPr lang="en-US" sz="2800" dirty="0"/>
              <a:t>IOT Based Automatic Vehicle Accident Detection and Rescue System</a:t>
            </a:r>
            <a:endParaRPr lang="en-IN" sz="2800" dirty="0"/>
          </a:p>
        </p:txBody>
      </p:sp>
      <p:sp>
        <p:nvSpPr>
          <p:cNvPr id="19" name="object 19"/>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20" name="object 20"/>
          <p:cNvPicPr/>
          <p:nvPr/>
        </p:nvPicPr>
        <p:blipFill>
          <a:blip r:embed="rId4" cstate="print"/>
          <a:stretch>
            <a:fillRect/>
          </a:stretch>
        </p:blipFill>
        <p:spPr>
          <a:xfrm>
            <a:off x="5273238" y="3560742"/>
            <a:ext cx="1659050" cy="1578160"/>
          </a:xfrm>
          <a:prstGeom prst="rect">
            <a:avLst/>
          </a:prstGeom>
        </p:spPr>
      </p:pic>
      <p:sp>
        <p:nvSpPr>
          <p:cNvPr id="27" name="TextBox 26">
            <a:extLst>
              <a:ext uri="{FF2B5EF4-FFF2-40B4-BE49-F238E27FC236}">
                <a16:creationId xmlns:a16="http://schemas.microsoft.com/office/drawing/2014/main" id="{359CF6B6-5F8C-ABC8-2607-C8A5865035DA}"/>
              </a:ext>
            </a:extLst>
          </p:cNvPr>
          <p:cNvSpPr txBox="1"/>
          <p:nvPr/>
        </p:nvSpPr>
        <p:spPr>
          <a:xfrm>
            <a:off x="6668924" y="6587523"/>
            <a:ext cx="4931113" cy="323165"/>
          </a:xfrm>
          <a:prstGeom prst="rect">
            <a:avLst/>
          </a:prstGeom>
          <a:noFill/>
        </p:spPr>
        <p:txBody>
          <a:bodyPr wrap="square">
            <a:spAutoFit/>
          </a:bodyPr>
          <a:lstStyle/>
          <a:p>
            <a:pPr marL="12700">
              <a:lnSpc>
                <a:spcPts val="1845"/>
              </a:lnSpc>
            </a:pPr>
            <a:r>
              <a:rPr lang="en-US" sz="1600" cap="small" spc="-105" dirty="0">
                <a:solidFill>
                  <a:srgbClr val="FFFFFF"/>
                </a:solidFill>
                <a:latin typeface="Times New Roman"/>
                <a:cs typeface="Times New Roman"/>
              </a:rPr>
              <a:t>    Srinivasa</a:t>
            </a:r>
            <a:r>
              <a:rPr lang="en-US" sz="1600" cap="small" spc="70" dirty="0">
                <a:solidFill>
                  <a:srgbClr val="FFFFFF"/>
                </a:solidFill>
                <a:latin typeface="Times New Roman"/>
                <a:cs typeface="Times New Roman"/>
              </a:rPr>
              <a:t> </a:t>
            </a:r>
            <a:r>
              <a:rPr lang="en-US" sz="1600" cap="small" spc="-120" dirty="0">
                <a:solidFill>
                  <a:srgbClr val="FFFFFF"/>
                </a:solidFill>
                <a:latin typeface="Times New Roman"/>
                <a:cs typeface="Times New Roman"/>
              </a:rPr>
              <a:t>Ramanujan</a:t>
            </a:r>
            <a:r>
              <a:rPr lang="en-US" sz="1600" cap="small" spc="75" dirty="0">
                <a:solidFill>
                  <a:srgbClr val="FFFFFF"/>
                </a:solidFill>
                <a:latin typeface="Times New Roman"/>
                <a:cs typeface="Times New Roman"/>
              </a:rPr>
              <a:t> </a:t>
            </a:r>
            <a:r>
              <a:rPr lang="en-US" sz="1600" cap="small" spc="-110" dirty="0">
                <a:solidFill>
                  <a:srgbClr val="FFFFFF"/>
                </a:solidFill>
                <a:latin typeface="Times New Roman"/>
                <a:cs typeface="Times New Roman"/>
              </a:rPr>
              <a:t>Institute</a:t>
            </a:r>
            <a:r>
              <a:rPr lang="en-US" sz="1600" cap="small" spc="75" dirty="0">
                <a:solidFill>
                  <a:srgbClr val="FFFFFF"/>
                </a:solidFill>
                <a:latin typeface="Times New Roman"/>
                <a:cs typeface="Times New Roman"/>
              </a:rPr>
              <a:t> </a:t>
            </a:r>
            <a:r>
              <a:rPr lang="en-US" sz="1600" cap="small" spc="-100" dirty="0">
                <a:solidFill>
                  <a:srgbClr val="FFFFFF"/>
                </a:solidFill>
                <a:latin typeface="Times New Roman"/>
                <a:cs typeface="Times New Roman"/>
              </a:rPr>
              <a:t>of</a:t>
            </a:r>
            <a:r>
              <a:rPr lang="en-US" sz="1600" cap="small" spc="75" dirty="0">
                <a:solidFill>
                  <a:srgbClr val="FFFFFF"/>
                </a:solidFill>
                <a:latin typeface="Times New Roman"/>
                <a:cs typeface="Times New Roman"/>
              </a:rPr>
              <a:t> </a:t>
            </a:r>
            <a:r>
              <a:rPr lang="en-US" sz="1600" cap="small" spc="-140" dirty="0">
                <a:solidFill>
                  <a:srgbClr val="FFFFFF"/>
                </a:solidFill>
                <a:latin typeface="Times New Roman"/>
                <a:cs typeface="Times New Roman"/>
              </a:rPr>
              <a:t>Technology</a:t>
            </a:r>
            <a:endParaRPr lang="en-US" sz="1600" dirty="0">
              <a:latin typeface="Times New Roman"/>
              <a:cs typeface="Times New Roman"/>
            </a:endParaRPr>
          </a:p>
        </p:txBody>
      </p:sp>
      <p:sp>
        <p:nvSpPr>
          <p:cNvPr id="21" name="object 12">
            <a:extLst>
              <a:ext uri="{FF2B5EF4-FFF2-40B4-BE49-F238E27FC236}">
                <a16:creationId xmlns:a16="http://schemas.microsoft.com/office/drawing/2014/main" id="{15A9E691-713E-A339-E7FB-17342247BA5D}"/>
              </a:ext>
            </a:extLst>
          </p:cNvPr>
          <p:cNvSpPr txBox="1">
            <a:spLocks noGrp="1"/>
          </p:cNvSpPr>
          <p:nvPr>
            <p:ph type="sldNum" sz="quarter" idx="7"/>
          </p:nvPr>
        </p:nvSpPr>
        <p:spPr>
          <a:xfrm>
            <a:off x="11858823" y="6675966"/>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14744" y="293973"/>
            <a:ext cx="3820616" cy="689932"/>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9" name="object 9"/>
          <p:cNvSpPr txBox="1">
            <a:spLocks noGrp="1"/>
          </p:cNvSpPr>
          <p:nvPr>
            <p:ph type="dt" sz="half" idx="6"/>
          </p:nvPr>
        </p:nvSpPr>
        <p:spPr>
          <a:xfrm>
            <a:off x="1074848" y="6625241"/>
            <a:ext cx="6306202"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p:cNvSpPr txBox="1"/>
          <p:nvPr/>
        </p:nvSpPr>
        <p:spPr>
          <a:xfrm>
            <a:off x="6682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IN" sz="1600" b="1" spc="-50" dirty="0">
                <a:solidFill>
                  <a:srgbClr val="002060"/>
                </a:solidFill>
                <a:latin typeface="Times New Roman"/>
                <a:cs typeface="Times New Roman"/>
              </a:rPr>
              <a:t>2</a:t>
            </a:r>
            <a:endParaRPr sz="1600" dirty="0">
              <a:latin typeface="Times New Roman"/>
              <a:cs typeface="Times New Roman"/>
            </a:endParaRPr>
          </a:p>
        </p:txBody>
      </p:sp>
      <p:sp>
        <p:nvSpPr>
          <p:cNvPr id="7" name="object 7"/>
          <p:cNvSpPr txBox="1"/>
          <p:nvPr/>
        </p:nvSpPr>
        <p:spPr>
          <a:xfrm>
            <a:off x="325852" y="1108455"/>
            <a:ext cx="2870200" cy="5054600"/>
          </a:xfrm>
          <a:prstGeom prst="rect">
            <a:avLst/>
          </a:prstGeom>
        </p:spPr>
        <p:txBody>
          <a:bodyPr vert="horz" wrap="square" lIns="0" tIns="12700" rIns="0" bIns="0" rtlCol="0">
            <a:spAutoFit/>
          </a:bodyPr>
          <a:lstStyle/>
          <a:p>
            <a:pPr marL="421005" indent="-408305">
              <a:lnSpc>
                <a:spcPct val="100000"/>
              </a:lnSpc>
              <a:spcBef>
                <a:spcPts val="100"/>
              </a:spcBef>
              <a:buChar char="•"/>
              <a:tabLst>
                <a:tab pos="421005" algn="l"/>
              </a:tabLst>
            </a:pPr>
            <a:r>
              <a:rPr sz="2800" spc="-10" dirty="0">
                <a:latin typeface="Times New Roman"/>
                <a:cs typeface="Times New Roman"/>
              </a:rPr>
              <a:t>Abstract</a:t>
            </a:r>
            <a:endParaRPr sz="2800" dirty="0">
              <a:latin typeface="Times New Roman"/>
              <a:cs typeface="Times New Roman"/>
            </a:endParaRPr>
          </a:p>
          <a:p>
            <a:pPr marL="421005" indent="-408305">
              <a:lnSpc>
                <a:spcPct val="100000"/>
              </a:lnSpc>
              <a:spcBef>
                <a:spcPts val="2680"/>
              </a:spcBef>
              <a:buChar char="•"/>
              <a:tabLst>
                <a:tab pos="421005" algn="l"/>
              </a:tabLst>
            </a:pPr>
            <a:r>
              <a:rPr sz="2800" spc="-10" dirty="0">
                <a:latin typeface="Times New Roman"/>
                <a:cs typeface="Times New Roman"/>
              </a:rPr>
              <a:t>Introduction</a:t>
            </a:r>
            <a:endParaRPr sz="2800" dirty="0">
              <a:latin typeface="Times New Roman"/>
              <a:cs typeface="Times New Roman"/>
            </a:endParaRPr>
          </a:p>
          <a:p>
            <a:pPr marL="421005" indent="-408305">
              <a:lnSpc>
                <a:spcPct val="100000"/>
              </a:lnSpc>
              <a:spcBef>
                <a:spcPts val="2680"/>
              </a:spcBef>
              <a:buChar char="•"/>
              <a:tabLst>
                <a:tab pos="421005" algn="l"/>
              </a:tabLst>
            </a:pPr>
            <a:r>
              <a:rPr sz="2800" dirty="0">
                <a:latin typeface="Times New Roman"/>
                <a:cs typeface="Times New Roman"/>
              </a:rPr>
              <a:t>Literature</a:t>
            </a:r>
            <a:r>
              <a:rPr sz="2800" spc="-50" dirty="0">
                <a:latin typeface="Times New Roman"/>
                <a:cs typeface="Times New Roman"/>
              </a:rPr>
              <a:t> </a:t>
            </a:r>
            <a:r>
              <a:rPr sz="2800" spc="-10" dirty="0">
                <a:latin typeface="Times New Roman"/>
                <a:cs typeface="Times New Roman"/>
              </a:rPr>
              <a:t>survey</a:t>
            </a:r>
            <a:endParaRPr sz="2800" dirty="0">
              <a:latin typeface="Times New Roman"/>
              <a:cs typeface="Times New Roman"/>
            </a:endParaRPr>
          </a:p>
          <a:p>
            <a:pPr marL="421005" indent="-408305">
              <a:lnSpc>
                <a:spcPct val="100000"/>
              </a:lnSpc>
              <a:spcBef>
                <a:spcPts val="2680"/>
              </a:spcBef>
              <a:buChar char="•"/>
              <a:tabLst>
                <a:tab pos="421005" algn="l"/>
              </a:tabLst>
            </a:pPr>
            <a:r>
              <a:rPr sz="2800" dirty="0">
                <a:latin typeface="Times New Roman"/>
                <a:cs typeface="Times New Roman"/>
              </a:rPr>
              <a:t>Proposed</a:t>
            </a:r>
            <a:r>
              <a:rPr sz="2800" spc="-105" dirty="0">
                <a:latin typeface="Times New Roman"/>
                <a:cs typeface="Times New Roman"/>
              </a:rPr>
              <a:t> </a:t>
            </a:r>
            <a:r>
              <a:rPr sz="2800" spc="-20" dirty="0">
                <a:latin typeface="Times New Roman"/>
                <a:cs typeface="Times New Roman"/>
              </a:rPr>
              <a:t>Work</a:t>
            </a:r>
            <a:endParaRPr sz="2800" dirty="0">
              <a:latin typeface="Times New Roman"/>
              <a:cs typeface="Times New Roman"/>
            </a:endParaRPr>
          </a:p>
          <a:p>
            <a:pPr marL="421005" indent="-408305">
              <a:lnSpc>
                <a:spcPct val="100000"/>
              </a:lnSpc>
              <a:spcBef>
                <a:spcPts val="2680"/>
              </a:spcBef>
              <a:buChar char="•"/>
              <a:tabLst>
                <a:tab pos="421005" algn="l"/>
              </a:tabLst>
            </a:pPr>
            <a:r>
              <a:rPr sz="2800" spc="-10" dirty="0">
                <a:latin typeface="Times New Roman"/>
                <a:cs typeface="Times New Roman"/>
              </a:rPr>
              <a:t>References</a:t>
            </a:r>
            <a:endParaRPr sz="2800" dirty="0">
              <a:latin typeface="Times New Roman"/>
              <a:cs typeface="Times New Roman"/>
            </a:endParaRPr>
          </a:p>
          <a:p>
            <a:pPr marL="421005" indent="-408305">
              <a:lnSpc>
                <a:spcPct val="100000"/>
              </a:lnSpc>
              <a:spcBef>
                <a:spcPts val="2680"/>
              </a:spcBef>
              <a:buChar char="•"/>
              <a:tabLst>
                <a:tab pos="421005" algn="l"/>
              </a:tabLst>
            </a:pPr>
            <a:r>
              <a:rPr sz="2800" dirty="0">
                <a:latin typeface="Times New Roman"/>
                <a:cs typeface="Times New Roman"/>
              </a:rPr>
              <a:t>GitHub </a:t>
            </a:r>
            <a:r>
              <a:rPr sz="2800" spc="-20" dirty="0">
                <a:latin typeface="Times New Roman"/>
                <a:cs typeface="Times New Roman"/>
              </a:rPr>
              <a:t>Link</a:t>
            </a:r>
            <a:endParaRPr sz="2800" dirty="0">
              <a:latin typeface="Times New Roman"/>
              <a:cs typeface="Times New Roman"/>
            </a:endParaRPr>
          </a:p>
          <a:p>
            <a:pPr marL="421005" indent="-408305">
              <a:lnSpc>
                <a:spcPct val="100000"/>
              </a:lnSpc>
              <a:spcBef>
                <a:spcPts val="2680"/>
              </a:spcBef>
              <a:buChar char="•"/>
              <a:tabLst>
                <a:tab pos="421005" algn="l"/>
              </a:tabLst>
            </a:pPr>
            <a:r>
              <a:rPr sz="2800" spc="-10" dirty="0">
                <a:latin typeface="Times New Roman"/>
                <a:cs typeface="Times New Roman"/>
              </a:rPr>
              <a:t>Queries</a:t>
            </a:r>
            <a:endParaRPr sz="2800" dirty="0">
              <a:latin typeface="Times New Roman"/>
              <a:cs typeface="Times New Roman"/>
            </a:endParaRPr>
          </a:p>
        </p:txBody>
      </p:sp>
      <p:sp>
        <p:nvSpPr>
          <p:cNvPr id="12" name="object 2">
            <a:extLst>
              <a:ext uri="{FF2B5EF4-FFF2-40B4-BE49-F238E27FC236}">
                <a16:creationId xmlns:a16="http://schemas.microsoft.com/office/drawing/2014/main" id="{FDA4E3D9-FF78-45E3-9BC4-8D72D4A74DD6}"/>
              </a:ext>
            </a:extLst>
          </p:cNvPr>
          <p:cNvSpPr txBox="1"/>
          <p:nvPr/>
        </p:nvSpPr>
        <p:spPr>
          <a:xfrm>
            <a:off x="3429000" y="-16304"/>
            <a:ext cx="5029200" cy="471924"/>
          </a:xfrm>
          <a:prstGeom prst="rect">
            <a:avLst/>
          </a:prstGeom>
        </p:spPr>
        <p:txBody>
          <a:bodyPr vert="horz" wrap="square" lIns="0" tIns="12700" rIns="0" bIns="0" rtlCol="0" anchor="t">
            <a:spAutoFit/>
          </a:bodyPr>
          <a:lstStyle/>
          <a:p>
            <a:pPr marL="12700" algn="ctr">
              <a:spcBef>
                <a:spcPts val="100"/>
              </a:spcBef>
            </a:pPr>
            <a:r>
              <a:rPr lang="en-US" sz="1400" spc="-10" dirty="0">
                <a:solidFill>
                  <a:srgbClr val="FFFFFF"/>
                </a:solidFill>
                <a:latin typeface="Times New Roman"/>
                <a:cs typeface="Times New Roman"/>
              </a:rPr>
              <a:t>IOT Based Automatic Vehicle Accident Detection and Rescue System</a:t>
            </a:r>
            <a:r>
              <a:rPr lang="en-IN" sz="1400" spc="-10" dirty="0">
                <a:solidFill>
                  <a:srgbClr val="FFFFFF"/>
                </a:solidFill>
                <a:latin typeface="Times New Roman"/>
                <a:cs typeface="Times New Roman"/>
              </a:rPr>
              <a:t> </a:t>
            </a:r>
            <a:endParaRPr lang="en-IN" sz="2500" spc="-10" dirty="0">
              <a:solidFill>
                <a:srgbClr val="FFFFFF"/>
              </a:solidFill>
              <a:latin typeface="Times New Roman"/>
              <a:cs typeface="Times New Roman"/>
            </a:endParaRPr>
          </a:p>
          <a:p>
            <a:pPr marL="12700" algn="ctr">
              <a:lnSpc>
                <a:spcPct val="100000"/>
              </a:lnSpc>
              <a:spcBef>
                <a:spcPts val="100"/>
              </a:spcBef>
            </a:pPr>
            <a:endParaRPr lang="en-IN" sz="1500" b="1" spc="-10" dirty="0">
              <a:solidFill>
                <a:srgbClr val="FFFFFF"/>
              </a:solidFill>
              <a:latin typeface="Times New Roman"/>
              <a:cs typeface="Times New Roman"/>
            </a:endParaRPr>
          </a:p>
        </p:txBody>
      </p:sp>
      <p:sp>
        <p:nvSpPr>
          <p:cNvPr id="16" name="TextBox 15">
            <a:extLst>
              <a:ext uri="{FF2B5EF4-FFF2-40B4-BE49-F238E27FC236}">
                <a16:creationId xmlns:a16="http://schemas.microsoft.com/office/drawing/2014/main" id="{23B7749F-2B78-62D7-ECE8-B0BE94DF57EE}"/>
              </a:ext>
            </a:extLst>
          </p:cNvPr>
          <p:cNvSpPr txBox="1"/>
          <p:nvPr/>
        </p:nvSpPr>
        <p:spPr>
          <a:xfrm>
            <a:off x="104600" y="6581123"/>
            <a:ext cx="914400" cy="338554"/>
          </a:xfrm>
          <a:prstGeom prst="rect">
            <a:avLst/>
          </a:prstGeom>
          <a:noFill/>
        </p:spPr>
        <p:txBody>
          <a:bodyPr wrap="square" rtlCol="0">
            <a:spAutoFit/>
          </a:bodyPr>
          <a:lstStyle/>
          <a:p>
            <a:r>
              <a:rPr lang="en-IN" sz="1600" dirty="0">
                <a:solidFill>
                  <a:schemeClr val="bg1"/>
                </a:solidFill>
                <a:latin typeface="Times New Roman" panose="02020603050405020304" pitchFamily="18" charset="0"/>
                <a:cs typeface="Times New Roman" panose="02020603050405020304" pitchFamily="18" charset="0"/>
              </a:rPr>
              <a:t>B-15</a:t>
            </a:r>
            <a:endParaRPr lang="en-IN" sz="16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79092-5EBB-86EC-7548-F3C02E76B31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1A78C14C-8960-8D04-FFA5-0EB95274339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id="{2DC6B255-0582-E4F3-D45C-244BEC43F754}"/>
              </a:ext>
            </a:extLst>
          </p:cNvPr>
          <p:cNvSpPr/>
          <p:nvPr/>
        </p:nvSpPr>
        <p:spPr>
          <a:xfrm>
            <a:off x="0" y="6634572"/>
            <a:ext cx="762989" cy="220979"/>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B-15</a:t>
            </a:r>
          </a:p>
        </p:txBody>
      </p:sp>
      <p:sp>
        <p:nvSpPr>
          <p:cNvPr id="9" name="object 9">
            <a:extLst>
              <a:ext uri="{FF2B5EF4-FFF2-40B4-BE49-F238E27FC236}">
                <a16:creationId xmlns:a16="http://schemas.microsoft.com/office/drawing/2014/main" id="{AE246CF0-101C-DC74-3F0C-37E64E7C29E0}"/>
              </a:ext>
            </a:extLst>
          </p:cNvPr>
          <p:cNvSpPr txBox="1"/>
          <p:nvPr/>
        </p:nvSpPr>
        <p:spPr>
          <a:xfrm>
            <a:off x="-228600" y="1331747"/>
            <a:ext cx="14173200" cy="4585807"/>
          </a:xfrm>
          <a:prstGeom prst="rect">
            <a:avLst/>
          </a:prstGeom>
        </p:spPr>
        <p:txBody>
          <a:bodyPr vert="horz" wrap="square" lIns="0" tIns="12700" rIns="0" bIns="0" rtlCol="0" anchor="t">
            <a:spAutoFit/>
          </a:bodyPr>
          <a:lstStyle/>
          <a:p>
            <a:pPr marL="469900" marR="2094230">
              <a:lnSpc>
                <a:spcPct val="124700"/>
              </a:lnSpc>
              <a:spcBef>
                <a:spcPts val="100"/>
              </a:spcBef>
            </a:pPr>
            <a:r>
              <a:rPr lang="en-US" sz="2400" dirty="0"/>
              <a:t>Road accidents often happen suddenly, and sometimes help takes too long to arrive because the accident is not reported quickly. Most current systems need someone to call for help or don’t detect accidents right away. This project creates an IoT-based system that uses sensors and GPS to automatically detect accidents and find the exact location. When a crash occurs, the system sends a message with details and location to emergency services using GSM. This helps rescue teams get to the scene faster, especially in remote or less busy areas. It works automatically without needing anyone to make a call, which can save lives. Quick detection and immediate alerts can reduce the time taken for medical help, lowering deaths and serious injuries on the road.</a:t>
            </a:r>
            <a:endParaRPr lang="en-US" sz="2400" dirty="0">
              <a:latin typeface="Times New Roman"/>
              <a:cs typeface="Times New Roman"/>
            </a:endParaRPr>
          </a:p>
        </p:txBody>
      </p:sp>
      <p:sp>
        <p:nvSpPr>
          <p:cNvPr id="10" name="object 9">
            <a:extLst>
              <a:ext uri="{FF2B5EF4-FFF2-40B4-BE49-F238E27FC236}">
                <a16:creationId xmlns:a16="http://schemas.microsoft.com/office/drawing/2014/main" id="{00DF8C02-1BC8-D7E1-63DE-7B346AEA96F2}"/>
              </a:ext>
            </a:extLst>
          </p:cNvPr>
          <p:cNvSpPr txBox="1">
            <a:spLocks noGrp="1"/>
          </p:cNvSpPr>
          <p:nvPr>
            <p:ph type="dt" sz="half" idx="6"/>
          </p:nvPr>
        </p:nvSpPr>
        <p:spPr>
          <a:xfrm>
            <a:off x="1123125" y="6629792"/>
            <a:ext cx="10611675" cy="46166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sz="1600" cap="small" spc="-105" dirty="0">
                <a:solidFill>
                  <a:srgbClr val="FFFFFF"/>
                </a:solidFill>
                <a:latin typeface="Times New Roman"/>
                <a:cs typeface="Times New Roman"/>
              </a:rPr>
              <a:t>Srinivasa</a:t>
            </a:r>
            <a:r>
              <a:rPr lang="en-US" sz="1600" cap="small" spc="70" dirty="0">
                <a:solidFill>
                  <a:srgbClr val="FFFFFF"/>
                </a:solidFill>
                <a:latin typeface="Times New Roman"/>
                <a:cs typeface="Times New Roman"/>
              </a:rPr>
              <a:t> </a:t>
            </a:r>
            <a:r>
              <a:rPr lang="en-US" sz="1600" cap="small" spc="-120" dirty="0">
                <a:solidFill>
                  <a:srgbClr val="FFFFFF"/>
                </a:solidFill>
                <a:latin typeface="Times New Roman"/>
                <a:cs typeface="Times New Roman"/>
              </a:rPr>
              <a:t>Ramanujan</a:t>
            </a:r>
            <a:r>
              <a:rPr lang="en-US" sz="1600" cap="small" spc="75" dirty="0">
                <a:solidFill>
                  <a:srgbClr val="FFFFFF"/>
                </a:solidFill>
                <a:latin typeface="Times New Roman"/>
                <a:cs typeface="Times New Roman"/>
              </a:rPr>
              <a:t> </a:t>
            </a:r>
            <a:r>
              <a:rPr lang="en-US" sz="1600" cap="small" spc="-110" dirty="0">
                <a:solidFill>
                  <a:srgbClr val="FFFFFF"/>
                </a:solidFill>
                <a:latin typeface="Times New Roman"/>
                <a:cs typeface="Times New Roman"/>
              </a:rPr>
              <a:t>Institute</a:t>
            </a:r>
            <a:r>
              <a:rPr lang="en-US" sz="1600" cap="small" spc="75" dirty="0">
                <a:solidFill>
                  <a:srgbClr val="FFFFFF"/>
                </a:solidFill>
                <a:latin typeface="Times New Roman"/>
                <a:cs typeface="Times New Roman"/>
              </a:rPr>
              <a:t> </a:t>
            </a:r>
            <a:r>
              <a:rPr lang="en-US" sz="1600" cap="small" spc="-100" dirty="0">
                <a:solidFill>
                  <a:srgbClr val="FFFFFF"/>
                </a:solidFill>
                <a:latin typeface="Times New Roman"/>
                <a:cs typeface="Times New Roman"/>
              </a:rPr>
              <a:t>of</a:t>
            </a:r>
            <a:r>
              <a:rPr lang="en-US" sz="1600" cap="small" spc="75" dirty="0">
                <a:solidFill>
                  <a:srgbClr val="FFFFFF"/>
                </a:solidFill>
                <a:latin typeface="Times New Roman"/>
                <a:cs typeface="Times New Roman"/>
              </a:rPr>
              <a:t> </a:t>
            </a:r>
            <a:r>
              <a:rPr lang="en-US" sz="1600" cap="small" spc="-140" dirty="0">
                <a:solidFill>
                  <a:srgbClr val="FFFFFF"/>
                </a:solidFill>
                <a:latin typeface="Times New Roman"/>
                <a:cs typeface="Times New Roman"/>
              </a:rPr>
              <a:t>Technology</a:t>
            </a:r>
            <a:endParaRPr lang="en-US" sz="1600" dirty="0">
              <a:latin typeface="Times New Roman"/>
              <a:cs typeface="Times New Roman"/>
            </a:endParaRPr>
          </a:p>
          <a:p>
            <a:pPr marL="12700">
              <a:lnSpc>
                <a:spcPts val="1845"/>
              </a:lnSpc>
            </a:pPr>
            <a:endParaRPr cap="small" spc="-95" dirty="0"/>
          </a:p>
        </p:txBody>
      </p:sp>
      <p:sp>
        <p:nvSpPr>
          <p:cNvPr id="22" name="object 5">
            <a:extLst>
              <a:ext uri="{FF2B5EF4-FFF2-40B4-BE49-F238E27FC236}">
                <a16:creationId xmlns:a16="http://schemas.microsoft.com/office/drawing/2014/main" id="{10C0CF6D-744C-0894-AE41-DC4D1C13F06F}"/>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id="{5A396B69-336C-DBD5-633E-8FFBEB87989A}"/>
              </a:ext>
            </a:extLst>
          </p:cNvPr>
          <p:cNvSpPr txBox="1">
            <a:spLocks noGrp="1"/>
          </p:cNvSpPr>
          <p:nvPr>
            <p:ph type="title"/>
          </p:nvPr>
        </p:nvSpPr>
        <p:spPr>
          <a:xfrm>
            <a:off x="0" y="331752"/>
            <a:ext cx="2286000" cy="689932"/>
          </a:xfrm>
          <a:prstGeom prst="rect">
            <a:avLst/>
          </a:prstGeom>
        </p:spPr>
        <p:txBody>
          <a:bodyPr vert="horz" wrap="square" lIns="0" tIns="12700" rIns="0" bIns="0" rtlCol="0">
            <a:spAutoFit/>
          </a:bodyPr>
          <a:lstStyle/>
          <a:p>
            <a:pPr marL="12700" algn="ctr">
              <a:lnSpc>
                <a:spcPct val="100000"/>
              </a:lnSpc>
            </a:pPr>
            <a:r>
              <a:rPr lang="en-IN" b="1" spc="-10" dirty="0"/>
              <a:t>Abstract</a:t>
            </a:r>
            <a:endParaRPr b="1" spc="-10" dirty="0"/>
          </a:p>
        </p:txBody>
      </p:sp>
      <p:sp>
        <p:nvSpPr>
          <p:cNvPr id="28" name="object 2">
            <a:extLst>
              <a:ext uri="{FF2B5EF4-FFF2-40B4-BE49-F238E27FC236}">
                <a16:creationId xmlns:a16="http://schemas.microsoft.com/office/drawing/2014/main" id="{05F20B3F-B180-8979-5AC1-4F6D81ACE388}"/>
              </a:ext>
            </a:extLst>
          </p:cNvPr>
          <p:cNvSpPr txBox="1"/>
          <p:nvPr/>
        </p:nvSpPr>
        <p:spPr>
          <a:xfrm>
            <a:off x="3604386" y="-10897"/>
            <a:ext cx="5006213" cy="228268"/>
          </a:xfrm>
          <a:prstGeom prst="rect">
            <a:avLst/>
          </a:prstGeom>
        </p:spPr>
        <p:txBody>
          <a:bodyPr vert="horz" wrap="square" lIns="0" tIns="12700" rIns="0" bIns="0" rtlCol="0" anchor="t">
            <a:spAutoFit/>
          </a:bodyPr>
          <a:lstStyle/>
          <a:p>
            <a:pPr marL="12700" algn="ctr">
              <a:spcBef>
                <a:spcPts val="100"/>
              </a:spcBef>
            </a:pPr>
            <a:r>
              <a:rPr lang="en-US" sz="1400" spc="-10" dirty="0">
                <a:solidFill>
                  <a:srgbClr val="FFFFFF"/>
                </a:solidFill>
                <a:latin typeface="Times New Roman"/>
                <a:cs typeface="Times New Roman"/>
              </a:rPr>
              <a:t>IOT Based Automatic Vehicle Accident Detection and Rescue System</a:t>
            </a:r>
            <a:r>
              <a:rPr lang="en-IN" sz="1400" spc="-10" dirty="0">
                <a:solidFill>
                  <a:srgbClr val="FFFFFF"/>
                </a:solidFill>
                <a:latin typeface="Times New Roman"/>
                <a:cs typeface="Times New Roman"/>
              </a:rPr>
              <a:t> </a:t>
            </a:r>
            <a:endParaRPr sz="1500" dirty="0">
              <a:latin typeface="Times New Roman"/>
              <a:cs typeface="Times New Roman"/>
            </a:endParaRPr>
          </a:p>
        </p:txBody>
      </p:sp>
      <p:sp>
        <p:nvSpPr>
          <p:cNvPr id="29" name="object 12">
            <a:extLst>
              <a:ext uri="{FF2B5EF4-FFF2-40B4-BE49-F238E27FC236}">
                <a16:creationId xmlns:a16="http://schemas.microsoft.com/office/drawing/2014/main" id="{C818B434-3B05-BC15-9E9D-6E172EFF9769}"/>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Tree>
    <p:extLst>
      <p:ext uri="{BB962C8B-B14F-4D97-AF65-F5344CB8AC3E}">
        <p14:creationId xmlns:p14="http://schemas.microsoft.com/office/powerpoint/2010/main" val="3045865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AF9F2-CAE6-699F-11DE-BD872CD45D38}"/>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F51EC347-4269-3F42-F8B9-F202BB60CAFA}"/>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B-15</a:t>
            </a:r>
          </a:p>
        </p:txBody>
      </p:sp>
      <p:sp>
        <p:nvSpPr>
          <p:cNvPr id="9" name="object 9">
            <a:extLst>
              <a:ext uri="{FF2B5EF4-FFF2-40B4-BE49-F238E27FC236}">
                <a16:creationId xmlns:a16="http://schemas.microsoft.com/office/drawing/2014/main" id="{8AB71811-0898-3361-3AE5-598E50D40E20}"/>
              </a:ext>
            </a:extLst>
          </p:cNvPr>
          <p:cNvSpPr txBox="1"/>
          <p:nvPr/>
        </p:nvSpPr>
        <p:spPr>
          <a:xfrm>
            <a:off x="-228600" y="1494106"/>
            <a:ext cx="14325600" cy="5009000"/>
          </a:xfrm>
          <a:prstGeom prst="rect">
            <a:avLst/>
          </a:prstGeom>
        </p:spPr>
        <p:txBody>
          <a:bodyPr vert="horz" wrap="square" lIns="0" tIns="12700" rIns="0" bIns="0" rtlCol="0" anchor="t">
            <a:spAutoFit/>
          </a:bodyPr>
          <a:lstStyle/>
          <a:p>
            <a:pPr marL="812800" marR="2094230" indent="-342900" algn="just">
              <a:lnSpc>
                <a:spcPct val="150000"/>
              </a:lnSpc>
              <a:spcBef>
                <a:spcPts val="100"/>
              </a:spcBef>
              <a:spcAft>
                <a:spcPts val="100"/>
              </a:spcAft>
              <a:buFont typeface="Wingdings" panose="05000000000000000000" pitchFamily="2" charset="2"/>
              <a:buChar char="v"/>
            </a:pPr>
            <a:r>
              <a:rPr lang="en-US" sz="2400" dirty="0"/>
              <a:t>Road accidents are a major cause of death and injury, and in many cases, help arrives late because the accident is not reported in time.</a:t>
            </a:r>
            <a:endParaRPr lang="en-US" sz="2400" dirty="0">
              <a:latin typeface="Times New Roman" panose="02020603050405020304" pitchFamily="18" charset="0"/>
              <a:cs typeface="Times New Roman" panose="02020603050405020304" pitchFamily="18" charset="0"/>
            </a:endParaRPr>
          </a:p>
          <a:p>
            <a:pPr marL="812800" marR="2094230" indent="-342900" algn="just">
              <a:lnSpc>
                <a:spcPct val="150000"/>
              </a:lnSpc>
              <a:spcBef>
                <a:spcPts val="100"/>
              </a:spcBef>
              <a:spcAft>
                <a:spcPts val="100"/>
              </a:spcAft>
              <a:buFont typeface="Wingdings" panose="05000000000000000000" pitchFamily="2" charset="2"/>
              <a:buChar char="v"/>
            </a:pPr>
            <a:r>
              <a:rPr lang="en-US" sz="2400" dirty="0"/>
              <a:t>Traditional systems depend on people to report accidents, which can lead to delays and reduce the chances of saving lives.</a:t>
            </a:r>
            <a:endParaRPr lang="en-US" sz="2400" dirty="0">
              <a:latin typeface="Times New Roman" panose="02020603050405020304" pitchFamily="18" charset="0"/>
              <a:cs typeface="Times New Roman" panose="02020603050405020304" pitchFamily="18" charset="0"/>
            </a:endParaRPr>
          </a:p>
          <a:p>
            <a:pPr marL="812800" marR="2094230" indent="-342900" algn="just">
              <a:lnSpc>
                <a:spcPct val="150000"/>
              </a:lnSpc>
              <a:spcBef>
                <a:spcPts val="100"/>
              </a:spcBef>
              <a:spcAft>
                <a:spcPts val="1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a:t>
            </a:r>
            <a:r>
              <a:rPr lang="en-US" sz="2400" dirty="0"/>
              <a:t>To solve this problem, our project uses </a:t>
            </a:r>
            <a:r>
              <a:rPr lang="en-US" sz="2400" b="1" dirty="0"/>
              <a:t>IoT technology</a:t>
            </a:r>
            <a:r>
              <a:rPr lang="en-US" sz="2400" dirty="0"/>
              <a:t> with sensors, GPS, and a microcontroller to </a:t>
            </a:r>
            <a:r>
              <a:rPr lang="en-US" sz="2400" b="1" dirty="0"/>
              <a:t>automatically detect accidents</a:t>
            </a:r>
            <a:r>
              <a:rPr lang="en-US" sz="2400" dirty="0"/>
              <a:t> and </a:t>
            </a:r>
            <a:r>
              <a:rPr lang="en-US" sz="2400" b="1" dirty="0"/>
              <a:t>send the location</a:t>
            </a:r>
            <a:r>
              <a:rPr lang="en-US" sz="2400" dirty="0"/>
              <a:t> to emergency services</a:t>
            </a:r>
          </a:p>
          <a:p>
            <a:pPr marL="812800" marR="2094230" indent="-342900" algn="just">
              <a:lnSpc>
                <a:spcPct val="150000"/>
              </a:lnSpc>
              <a:spcBef>
                <a:spcPts val="100"/>
              </a:spcBef>
              <a:spcAft>
                <a:spcPts val="100"/>
              </a:spcAft>
              <a:buFont typeface="Wingdings" panose="05000000000000000000" pitchFamily="2" charset="2"/>
              <a:buChar char="v"/>
            </a:pPr>
            <a:r>
              <a:rPr lang="en-US" sz="2400" dirty="0"/>
              <a:t>The system works without human help. It can detect a crash using sensors and immediately send alerts through </a:t>
            </a:r>
            <a:r>
              <a:rPr lang="en-US" sz="2400" b="1" dirty="0"/>
              <a:t>GSM</a:t>
            </a:r>
            <a:r>
              <a:rPr lang="en-US" sz="2400" dirty="0"/>
              <a:t> to hospitals and rescue teams.</a:t>
            </a:r>
            <a:endParaRPr lang="en-US" sz="2400" dirty="0">
              <a:latin typeface="Times New Roman" panose="02020603050405020304" pitchFamily="18" charset="0"/>
              <a:cs typeface="Times New Roman" panose="02020603050405020304" pitchFamily="18" charset="0"/>
            </a:endParaRPr>
          </a:p>
        </p:txBody>
      </p:sp>
      <p:sp>
        <p:nvSpPr>
          <p:cNvPr id="10" name="object 9">
            <a:extLst>
              <a:ext uri="{FF2B5EF4-FFF2-40B4-BE49-F238E27FC236}">
                <a16:creationId xmlns:a16="http://schemas.microsoft.com/office/drawing/2014/main" id="{B3C5EF99-88D2-D1C6-27F3-BA852AF0AB97}"/>
              </a:ext>
            </a:extLst>
          </p:cNvPr>
          <p:cNvSpPr txBox="1">
            <a:spLocks noGrp="1"/>
          </p:cNvSpPr>
          <p:nvPr>
            <p:ph type="dt" sz="half" idx="6"/>
          </p:nvPr>
        </p:nvSpPr>
        <p:spPr>
          <a:xfrm>
            <a:off x="774794" y="6634572"/>
            <a:ext cx="10960005" cy="230832"/>
          </a:xfrm>
          <a:prstGeom prst="rect">
            <a:avLst/>
          </a:prstGeom>
        </p:spPr>
        <p:txBody>
          <a:bodyPr vert="horz" wrap="square" lIns="0" tIns="0" rIns="0" bIns="0" rtlCol="0">
            <a:spAutoFit/>
          </a:bodyPr>
          <a:lstStyle/>
          <a:p>
            <a:pPr marL="12700">
              <a:lnSpc>
                <a:spcPts val="1845"/>
              </a:lnSpc>
            </a:pPr>
            <a:r>
              <a:rPr lang="en-IN" cap="small" spc="-75" dirty="0"/>
              <a:t>      </a:t>
            </a: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cap="small" spc="-95" dirty="0"/>
              <a:t>Srinivasa Ramanujan Institute of Technology</a:t>
            </a:r>
            <a:endParaRPr cap="small" spc="-95" dirty="0"/>
          </a:p>
        </p:txBody>
      </p:sp>
      <p:sp>
        <p:nvSpPr>
          <p:cNvPr id="22" name="object 5">
            <a:extLst>
              <a:ext uri="{FF2B5EF4-FFF2-40B4-BE49-F238E27FC236}">
                <a16:creationId xmlns:a16="http://schemas.microsoft.com/office/drawing/2014/main" id="{021057BB-8D93-F44B-B9E2-B26E2A078D57}"/>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id="{D10505DB-F7E8-855A-F365-5BFF0E607288}"/>
              </a:ext>
            </a:extLst>
          </p:cNvPr>
          <p:cNvSpPr txBox="1">
            <a:spLocks noGrp="1"/>
          </p:cNvSpPr>
          <p:nvPr>
            <p:ph type="title"/>
          </p:nvPr>
        </p:nvSpPr>
        <p:spPr>
          <a:xfrm>
            <a:off x="20182" y="331752"/>
            <a:ext cx="3408818" cy="689932"/>
          </a:xfrm>
          <a:prstGeom prst="rect">
            <a:avLst/>
          </a:prstGeom>
        </p:spPr>
        <p:txBody>
          <a:bodyPr vert="horz" wrap="square" lIns="0" tIns="12700" rIns="0" bIns="0" rtlCol="0">
            <a:spAutoFit/>
          </a:bodyPr>
          <a:lstStyle/>
          <a:p>
            <a:pPr marL="12700" algn="ctr">
              <a:lnSpc>
                <a:spcPct val="100000"/>
              </a:lnSpc>
            </a:pPr>
            <a:r>
              <a:rPr lang="en-IN" b="1" spc="-10" dirty="0"/>
              <a:t>Introduction</a:t>
            </a:r>
            <a:endParaRPr b="1" spc="-10" dirty="0"/>
          </a:p>
        </p:txBody>
      </p:sp>
      <p:sp>
        <p:nvSpPr>
          <p:cNvPr id="28" name="object 2">
            <a:extLst>
              <a:ext uri="{FF2B5EF4-FFF2-40B4-BE49-F238E27FC236}">
                <a16:creationId xmlns:a16="http://schemas.microsoft.com/office/drawing/2014/main" id="{BA43E4AB-4DA4-83FC-9279-66EC70BE0FEA}"/>
              </a:ext>
            </a:extLst>
          </p:cNvPr>
          <p:cNvSpPr txBox="1"/>
          <p:nvPr/>
        </p:nvSpPr>
        <p:spPr>
          <a:xfrm>
            <a:off x="3604386" y="-10897"/>
            <a:ext cx="5158615" cy="228268"/>
          </a:xfrm>
          <a:prstGeom prst="rect">
            <a:avLst/>
          </a:prstGeom>
        </p:spPr>
        <p:txBody>
          <a:bodyPr vert="horz" wrap="square" lIns="0" tIns="12700" rIns="0" bIns="0" rtlCol="0" anchor="t">
            <a:spAutoFit/>
          </a:bodyPr>
          <a:lstStyle/>
          <a:p>
            <a:pPr marL="12700" algn="ctr">
              <a:spcBef>
                <a:spcPts val="100"/>
              </a:spcBef>
            </a:pPr>
            <a:r>
              <a:rPr lang="en-US" sz="1400" spc="-10" dirty="0">
                <a:solidFill>
                  <a:srgbClr val="FFFFFF"/>
                </a:solidFill>
                <a:latin typeface="Times New Roman"/>
                <a:cs typeface="Times New Roman"/>
              </a:rPr>
              <a:t>IOT Based Automatic Vehicle Accident Detection and Rescue System</a:t>
            </a:r>
            <a:r>
              <a:rPr lang="en-IN" sz="1400" spc="-10" dirty="0">
                <a:solidFill>
                  <a:srgbClr val="FFFFFF"/>
                </a:solidFill>
                <a:latin typeface="Times New Roman"/>
                <a:cs typeface="Times New Roman"/>
              </a:rPr>
              <a:t> </a:t>
            </a:r>
            <a:endParaRPr sz="1500" dirty="0">
              <a:latin typeface="Times New Roman"/>
              <a:cs typeface="Times New Roman"/>
            </a:endParaRPr>
          </a:p>
        </p:txBody>
      </p:sp>
      <p:sp>
        <p:nvSpPr>
          <p:cNvPr id="29" name="object 12">
            <a:extLst>
              <a:ext uri="{FF2B5EF4-FFF2-40B4-BE49-F238E27FC236}">
                <a16:creationId xmlns:a16="http://schemas.microsoft.com/office/drawing/2014/main" id="{D1955DD0-3570-10E4-F36C-5B17246839E1}"/>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Tree>
    <p:extLst>
      <p:ext uri="{BB962C8B-B14F-4D97-AF65-F5344CB8AC3E}">
        <p14:creationId xmlns:p14="http://schemas.microsoft.com/office/powerpoint/2010/main" val="4294508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216248"/>
            <a:ext cx="4354017" cy="689932"/>
          </a:xfrm>
          <a:prstGeom prst="rect">
            <a:avLst/>
          </a:prstGeom>
        </p:spPr>
        <p:txBody>
          <a:bodyPr vert="horz" wrap="square" lIns="0" tIns="12700" rIns="0" bIns="0" rtlCol="0">
            <a:spAutoFit/>
          </a:bodyPr>
          <a:lstStyle/>
          <a:p>
            <a:pPr marL="12700">
              <a:lnSpc>
                <a:spcPct val="100000"/>
              </a:lnSpc>
              <a:spcBef>
                <a:spcPts val="100"/>
              </a:spcBef>
            </a:pPr>
            <a:r>
              <a:rPr dirty="0"/>
              <a:t>Literature</a:t>
            </a:r>
            <a:r>
              <a:rPr spc="-50" dirty="0"/>
              <a:t> </a:t>
            </a:r>
            <a:r>
              <a:rPr spc="-10" dirty="0"/>
              <a:t>Survey</a:t>
            </a:r>
          </a:p>
        </p:txBody>
      </p:sp>
      <p:sp>
        <p:nvSpPr>
          <p:cNvPr id="8" name="object 8"/>
          <p:cNvSpPr txBox="1">
            <a:spLocks noGrp="1"/>
          </p:cNvSpPr>
          <p:nvPr>
            <p:ph type="ftr" sz="quarter" idx="5"/>
          </p:nvPr>
        </p:nvSpPr>
        <p:spPr>
          <a:xfrm>
            <a:off x="104577" y="6640376"/>
            <a:ext cx="582036" cy="230832"/>
          </a:xfrm>
          <a:prstGeom prst="rect">
            <a:avLst/>
          </a:prstGeom>
        </p:spPr>
        <p:txBody>
          <a:bodyPr vert="horz" wrap="square" lIns="0" tIns="0" rIns="0" bIns="0" rtlCol="0" anchor="t">
            <a:spAutoFit/>
          </a:bodyPr>
          <a:lstStyle/>
          <a:p>
            <a:pPr marL="12700">
              <a:lnSpc>
                <a:spcPts val="1845"/>
              </a:lnSpc>
            </a:pPr>
            <a:r>
              <a:rPr lang="en-IN" spc="-25" dirty="0"/>
              <a:t>B - 15</a:t>
            </a:r>
            <a:endParaRPr spc="-25" dirty="0"/>
          </a:p>
        </p:txBody>
      </p:sp>
      <p:sp>
        <p:nvSpPr>
          <p:cNvPr id="9"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endParaRPr cap="small" spc="-95" dirty="0"/>
          </a:p>
        </p:txBody>
      </p:sp>
      <p:sp>
        <p:nvSpPr>
          <p:cNvPr id="10" name="object 10"/>
          <p:cNvSpPr txBox="1"/>
          <p:nvPr/>
        </p:nvSpPr>
        <p:spPr>
          <a:xfrm>
            <a:off x="6749909" y="6640376"/>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graphicFrame>
        <p:nvGraphicFramePr>
          <p:cNvPr id="7" name="object 7"/>
          <p:cNvGraphicFramePr>
            <a:graphicFrameLocks noGrp="1"/>
          </p:cNvGraphicFramePr>
          <p:nvPr>
            <p:extLst>
              <p:ext uri="{D42A27DB-BD31-4B8C-83A1-F6EECF244321}">
                <p14:modId xmlns:p14="http://schemas.microsoft.com/office/powerpoint/2010/main" val="153717870"/>
              </p:ext>
            </p:extLst>
          </p:nvPr>
        </p:nvGraphicFramePr>
        <p:xfrm>
          <a:off x="141784" y="1133326"/>
          <a:ext cx="11821617" cy="5184368"/>
        </p:xfrm>
        <a:graphic>
          <a:graphicData uri="http://schemas.openxmlformats.org/drawingml/2006/table">
            <a:tbl>
              <a:tblPr firstRow="1" bandRow="1">
                <a:tableStyleId>{2D5ABB26-0587-4C30-8999-92F81FD0307C}</a:tableStyleId>
              </a:tblPr>
              <a:tblGrid>
                <a:gridCol w="30029">
                  <a:extLst>
                    <a:ext uri="{9D8B030D-6E8A-4147-A177-3AD203B41FA5}">
                      <a16:colId xmlns:a16="http://schemas.microsoft.com/office/drawing/2014/main" val="20000"/>
                    </a:ext>
                  </a:extLst>
                </a:gridCol>
                <a:gridCol w="2187820">
                  <a:extLst>
                    <a:ext uri="{9D8B030D-6E8A-4147-A177-3AD203B41FA5}">
                      <a16:colId xmlns:a16="http://schemas.microsoft.com/office/drawing/2014/main" val="20001"/>
                    </a:ext>
                  </a:extLst>
                </a:gridCol>
                <a:gridCol w="1604758">
                  <a:extLst>
                    <a:ext uri="{9D8B030D-6E8A-4147-A177-3AD203B41FA5}">
                      <a16:colId xmlns:a16="http://schemas.microsoft.com/office/drawing/2014/main" val="20002"/>
                    </a:ext>
                  </a:extLst>
                </a:gridCol>
                <a:gridCol w="1610777">
                  <a:extLst>
                    <a:ext uri="{9D8B030D-6E8A-4147-A177-3AD203B41FA5}">
                      <a16:colId xmlns:a16="http://schemas.microsoft.com/office/drawing/2014/main" val="20003"/>
                    </a:ext>
                  </a:extLst>
                </a:gridCol>
                <a:gridCol w="2011488">
                  <a:extLst>
                    <a:ext uri="{9D8B030D-6E8A-4147-A177-3AD203B41FA5}">
                      <a16:colId xmlns:a16="http://schemas.microsoft.com/office/drawing/2014/main" val="20004"/>
                    </a:ext>
                  </a:extLst>
                </a:gridCol>
                <a:gridCol w="2330338">
                  <a:extLst>
                    <a:ext uri="{9D8B030D-6E8A-4147-A177-3AD203B41FA5}">
                      <a16:colId xmlns:a16="http://schemas.microsoft.com/office/drawing/2014/main" val="20005"/>
                    </a:ext>
                  </a:extLst>
                </a:gridCol>
                <a:gridCol w="2046407">
                  <a:extLst>
                    <a:ext uri="{9D8B030D-6E8A-4147-A177-3AD203B41FA5}">
                      <a16:colId xmlns:a16="http://schemas.microsoft.com/office/drawing/2014/main" val="20006"/>
                    </a:ext>
                  </a:extLst>
                </a:gridCol>
              </a:tblGrid>
              <a:tr h="834899">
                <a:tc>
                  <a:txBody>
                    <a:bodyPr/>
                    <a:lstStyle/>
                    <a:p>
                      <a:pPr marL="85725">
                        <a:lnSpc>
                          <a:spcPct val="100000"/>
                        </a:lnSpc>
                        <a:spcBef>
                          <a:spcPts val="225"/>
                        </a:spcBef>
                      </a:pPr>
                      <a:r>
                        <a:rPr sz="1800" b="1" spc="-25" dirty="0">
                          <a:solidFill>
                            <a:srgbClr val="FFFFFF"/>
                          </a:solidFill>
                          <a:latin typeface="Calibri"/>
                          <a:cs typeface="Calibri"/>
                        </a:rPr>
                        <a:t>No</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85725">
                        <a:lnSpc>
                          <a:spcPct val="100000"/>
                        </a:lnSpc>
                        <a:spcBef>
                          <a:spcPts val="225"/>
                        </a:spcBef>
                      </a:pPr>
                      <a:r>
                        <a:rPr sz="1800" b="1" spc="-10" dirty="0">
                          <a:solidFill>
                            <a:srgbClr val="FFFFFF"/>
                          </a:solidFill>
                          <a:latin typeface="Calibri"/>
                          <a:cs typeface="Calibri"/>
                        </a:rPr>
                        <a:t>Title</a:t>
                      </a:r>
                      <a:endParaRPr sz="1800" dirty="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85725">
                        <a:lnSpc>
                          <a:spcPct val="100000"/>
                        </a:lnSpc>
                        <a:spcBef>
                          <a:spcPts val="225"/>
                        </a:spcBef>
                      </a:pPr>
                      <a:r>
                        <a:rPr sz="1800" b="1" spc="-10" dirty="0">
                          <a:solidFill>
                            <a:srgbClr val="FFFFFF"/>
                          </a:solidFill>
                          <a:latin typeface="Calibri"/>
                          <a:cs typeface="Calibri"/>
                        </a:rPr>
                        <a:t>Author</a:t>
                      </a:r>
                      <a:endParaRPr sz="1800" dirty="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4"/>
                    </a:solidFill>
                  </a:tcPr>
                </a:tc>
                <a:tc>
                  <a:txBody>
                    <a:bodyPr/>
                    <a:lstStyle/>
                    <a:p>
                      <a:pPr marL="85725" marR="137160">
                        <a:lnSpc>
                          <a:spcPct val="100000"/>
                        </a:lnSpc>
                        <a:spcBef>
                          <a:spcPts val="225"/>
                        </a:spcBef>
                      </a:pPr>
                      <a:r>
                        <a:rPr sz="1800" b="1" dirty="0">
                          <a:solidFill>
                            <a:srgbClr val="FFFFFF"/>
                          </a:solidFill>
                          <a:latin typeface="Calibri"/>
                          <a:cs typeface="Calibri"/>
                        </a:rPr>
                        <a:t>Journal</a:t>
                      </a:r>
                      <a:r>
                        <a:rPr sz="1800" b="1" spc="-35" dirty="0">
                          <a:solidFill>
                            <a:srgbClr val="FFFFFF"/>
                          </a:solidFill>
                          <a:latin typeface="Calibri"/>
                          <a:cs typeface="Calibri"/>
                        </a:rPr>
                        <a:t> </a:t>
                      </a:r>
                      <a:r>
                        <a:rPr sz="1800" b="1" spc="-20" dirty="0">
                          <a:solidFill>
                            <a:srgbClr val="FFFFFF"/>
                          </a:solidFill>
                          <a:latin typeface="Calibri"/>
                          <a:cs typeface="Calibri"/>
                        </a:rPr>
                        <a:t>Name </a:t>
                      </a:r>
                      <a:r>
                        <a:rPr sz="1800" b="1" dirty="0">
                          <a:solidFill>
                            <a:srgbClr val="FFFFFF"/>
                          </a:solidFill>
                          <a:latin typeface="Calibri"/>
                          <a:cs typeface="Calibri"/>
                        </a:rPr>
                        <a:t>&amp;</a:t>
                      </a:r>
                      <a:r>
                        <a:rPr sz="1800" b="1" spc="-5" dirty="0">
                          <a:solidFill>
                            <a:srgbClr val="FFFFFF"/>
                          </a:solidFill>
                          <a:latin typeface="Calibri"/>
                          <a:cs typeface="Calibri"/>
                        </a:rPr>
                        <a:t> </a:t>
                      </a:r>
                      <a:r>
                        <a:rPr sz="1800" b="1" spc="-20" dirty="0">
                          <a:solidFill>
                            <a:srgbClr val="FFFFFF"/>
                          </a:solidFill>
                          <a:latin typeface="Calibri"/>
                          <a:cs typeface="Calibri"/>
                        </a:rPr>
                        <a:t>Year</a:t>
                      </a:r>
                      <a:endParaRPr sz="1800" dirty="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85090" marR="521334">
                        <a:lnSpc>
                          <a:spcPct val="100000"/>
                        </a:lnSpc>
                        <a:spcBef>
                          <a:spcPts val="225"/>
                        </a:spcBef>
                      </a:pPr>
                      <a:r>
                        <a:rPr sz="1800" b="1" spc="-10" dirty="0">
                          <a:solidFill>
                            <a:srgbClr val="FFFFFF"/>
                          </a:solidFill>
                          <a:latin typeface="Calibri"/>
                          <a:cs typeface="Calibri"/>
                        </a:rPr>
                        <a:t>Methodology Adapted</a:t>
                      </a:r>
                      <a:endParaRPr sz="1800" dirty="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85725">
                        <a:lnSpc>
                          <a:spcPct val="100000"/>
                        </a:lnSpc>
                        <a:spcBef>
                          <a:spcPts val="225"/>
                        </a:spcBef>
                      </a:pPr>
                      <a:r>
                        <a:rPr sz="1800" b="1" dirty="0">
                          <a:solidFill>
                            <a:srgbClr val="FFFFFF"/>
                          </a:solidFill>
                          <a:latin typeface="Calibri"/>
                          <a:cs typeface="Calibri"/>
                        </a:rPr>
                        <a:t>Key</a:t>
                      </a:r>
                      <a:r>
                        <a:rPr sz="1800" b="1" spc="-25" dirty="0">
                          <a:solidFill>
                            <a:srgbClr val="FFFFFF"/>
                          </a:solidFill>
                          <a:latin typeface="Calibri"/>
                          <a:cs typeface="Calibri"/>
                        </a:rPr>
                        <a:t> </a:t>
                      </a:r>
                      <a:r>
                        <a:rPr sz="1800" b="1" spc="-10" dirty="0">
                          <a:solidFill>
                            <a:srgbClr val="FFFFFF"/>
                          </a:solidFill>
                          <a:latin typeface="Calibri"/>
                          <a:cs typeface="Calibri"/>
                        </a:rPr>
                        <a:t>Findings</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85725">
                        <a:lnSpc>
                          <a:spcPct val="100000"/>
                        </a:lnSpc>
                        <a:spcBef>
                          <a:spcPts val="225"/>
                        </a:spcBef>
                      </a:pPr>
                      <a:r>
                        <a:rPr sz="1800" b="1" spc="-20" dirty="0">
                          <a:solidFill>
                            <a:srgbClr val="FFFFFF"/>
                          </a:solidFill>
                          <a:latin typeface="Calibri"/>
                          <a:cs typeface="Calibri"/>
                        </a:rPr>
                        <a:t>Gaps</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0"/>
                  </a:ext>
                </a:extLst>
              </a:tr>
              <a:tr h="1425644">
                <a:tc>
                  <a:txBody>
                    <a:bodyPr/>
                    <a:lstStyle/>
                    <a:p>
                      <a:pPr marL="85725">
                        <a:lnSpc>
                          <a:spcPct val="100000"/>
                        </a:lnSpc>
                        <a:spcBef>
                          <a:spcPts val="225"/>
                        </a:spcBef>
                      </a:pPr>
                      <a:r>
                        <a:rPr sz="1800" spc="-25" dirty="0">
                          <a:latin typeface="Calibri"/>
                          <a:cs typeface="Calibri"/>
                        </a:rPr>
                        <a:t>1.</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marL="85725" marR="172720" lvl="0">
                        <a:lnSpc>
                          <a:spcPct val="100000"/>
                        </a:lnSpc>
                        <a:spcBef>
                          <a:spcPts val="225"/>
                        </a:spcBef>
                        <a:buNone/>
                      </a:pPr>
                      <a:r>
                        <a:rPr lang="en-US" sz="1800" dirty="0"/>
                        <a:t>IoT-based </a:t>
                      </a:r>
                      <a:r>
                        <a:rPr lang="en-US" dirty="0"/>
                        <a:t>Vehicular Accident Detection Using a Deep Learning Model</a:t>
                      </a:r>
                      <a:endParaRPr lang="en-US" sz="1800" dirty="0">
                        <a:latin typeface="Times New Roman" panose="02020603050405020304" pitchFamily="18" charset="0"/>
                        <a:cs typeface="Times New Roman" panose="02020603050405020304" pitchFamily="18" charset="0"/>
                      </a:endParaRPr>
                    </a:p>
                  </a:txBody>
                  <a:tcPr marL="0" marR="0" marT="28575"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0DEEE"/>
                    </a:solidFill>
                  </a:tcPr>
                </a:tc>
                <a:tc>
                  <a:txBody>
                    <a:bodyPr/>
                    <a:lstStyle/>
                    <a:p>
                      <a:pPr>
                        <a:buNone/>
                      </a:pPr>
                      <a:r>
                        <a:rPr lang="en-IN" dirty="0"/>
                        <a:t>Ishu Rani et al.</a:t>
                      </a:r>
                      <a:endParaRPr lang="en-IN" sz="1800" dirty="0">
                        <a:latin typeface="Times New Roman" panose="02020603050405020304" pitchFamily="18" charset="0"/>
                        <a:cs typeface="Times New Roman" panose="02020603050405020304" pitchFamily="18" charset="0"/>
                      </a:endParaRP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marL="85725" marR="103505" lvl="0">
                        <a:lnSpc>
                          <a:spcPct val="100000"/>
                        </a:lnSpc>
                        <a:spcBef>
                          <a:spcPts val="225"/>
                        </a:spcBef>
                        <a:buNone/>
                      </a:pPr>
                      <a:r>
                        <a:rPr lang="en-US" dirty="0"/>
                        <a:t>Int. Journal of Autonomous and Adaptive Communications Systems</a:t>
                      </a:r>
                      <a:r>
                        <a:rPr lang="en-US"/>
                        <a:t>, 2025</a:t>
                      </a:r>
                      <a:endParaRPr sz="1800" spc="-10" dirty="0">
                        <a:latin typeface="Times New Roman" panose="02020603050405020304" pitchFamily="18" charset="0"/>
                        <a:cs typeface="Times New Roman" panose="02020603050405020304" pitchFamily="18" charset="0"/>
                      </a:endParaRPr>
                    </a:p>
                  </a:txBody>
                  <a:tcPr marL="0" marR="0" marT="28575"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marL="85090" marR="462915">
                        <a:lnSpc>
                          <a:spcPct val="100000"/>
                        </a:lnSpc>
                        <a:spcBef>
                          <a:spcPts val="225"/>
                        </a:spcBef>
                      </a:pPr>
                      <a:r>
                        <a:rPr lang="en-US" dirty="0"/>
                        <a:t>IoT sensors with deep learning model for accident severity detection</a:t>
                      </a:r>
                      <a:endParaRPr sz="1800" dirty="0">
                        <a:latin typeface="Times New Roman" panose="02020603050405020304" pitchFamily="18" charset="0"/>
                        <a:cs typeface="Times New Roman" panose="02020603050405020304" pitchFamily="18" charset="0"/>
                      </a:endParaRPr>
                    </a:p>
                  </a:txBody>
                  <a:tcPr marL="0" marR="0" marT="285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marL="85725" marR="192405">
                        <a:lnSpc>
                          <a:spcPct val="100000"/>
                        </a:lnSpc>
                        <a:spcBef>
                          <a:spcPts val="225"/>
                        </a:spcBef>
                      </a:pPr>
                      <a:r>
                        <a:rPr lang="en-US" dirty="0"/>
                        <a:t>High accuracy in detecting and classifying accidents using real-time data</a:t>
                      </a:r>
                      <a:endParaRPr sz="1800" b="0" i="0" u="none" strike="noStrike" spc="-10" noProof="0" dirty="0">
                        <a:latin typeface="Times New Roman" panose="02020603050405020304" pitchFamily="18" charset="0"/>
                        <a:cs typeface="Times New Roman" panose="02020603050405020304" pitchFamily="18" charset="0"/>
                      </a:endParaRPr>
                    </a:p>
                  </a:txBody>
                  <a:tcPr marL="0" marR="0" marT="285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marL="85725" marR="348615" lvl="0">
                        <a:lnSpc>
                          <a:spcPct val="100000"/>
                        </a:lnSpc>
                        <a:spcBef>
                          <a:spcPts val="225"/>
                        </a:spcBef>
                        <a:buNone/>
                      </a:pPr>
                      <a:r>
                        <a:rPr lang="en-US" dirty="0"/>
                        <a:t>Depends on quality of dataset; not tested in all real-world environments</a:t>
                      </a:r>
                      <a:endParaRPr sz="1800" dirty="0">
                        <a:latin typeface="Times New Roman" panose="02020603050405020304" pitchFamily="18" charset="0"/>
                        <a:cs typeface="Times New Roman" panose="02020603050405020304" pitchFamily="18" charset="0"/>
                      </a:endParaRPr>
                    </a:p>
                  </a:txBody>
                  <a:tcPr marL="0" marR="0" marT="285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extLst>
                  <a:ext uri="{0D108BD9-81ED-4DB2-BD59-A6C34878D82A}">
                    <a16:rowId xmlns:a16="http://schemas.microsoft.com/office/drawing/2014/main" val="10001"/>
                  </a:ext>
                </a:extLst>
              </a:tr>
              <a:tr h="1230001">
                <a:tc>
                  <a:txBody>
                    <a:bodyPr/>
                    <a:lstStyle/>
                    <a:p>
                      <a:pPr marL="85725">
                        <a:lnSpc>
                          <a:spcPct val="100000"/>
                        </a:lnSpc>
                        <a:spcBef>
                          <a:spcPts val="225"/>
                        </a:spcBef>
                      </a:pPr>
                      <a:endParaRPr sz="1800" dirty="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lvl="0">
                        <a:lnSpc>
                          <a:spcPct val="100000"/>
                        </a:lnSpc>
                        <a:buNone/>
                      </a:pPr>
                      <a:r>
                        <a:rPr lang="en-US" dirty="0"/>
                        <a:t>Smart IoT-based Accident Monitoring and Rescue System</a:t>
                      </a:r>
                      <a:endParaRPr sz="18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lvl="0">
                        <a:lnSpc>
                          <a:spcPct val="100000"/>
                        </a:lnSpc>
                        <a:buNone/>
                      </a:pPr>
                      <a:r>
                        <a:rPr lang="en-IN" dirty="0"/>
                        <a:t>                         Sujithra G. et al.</a:t>
                      </a:r>
                      <a:endParaRPr sz="18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EF6"/>
                    </a:solidFill>
                  </a:tcPr>
                </a:tc>
                <a:tc>
                  <a:txBody>
                    <a:bodyPr/>
                    <a:lstStyle/>
                    <a:p>
                      <a:pPr lvl="0">
                        <a:lnSpc>
                          <a:spcPct val="100000"/>
                        </a:lnSpc>
                        <a:buNone/>
                      </a:pPr>
                      <a:r>
                        <a:rPr lang="en-US" dirty="0"/>
                        <a:t>Journal of IoT in Social, Mobile, Analytics, and Cloud, 2024</a:t>
                      </a:r>
                      <a:endParaRPr sz="18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lvl="0">
                        <a:lnSpc>
                          <a:spcPct val="100000"/>
                        </a:lnSpc>
                        <a:buNone/>
                      </a:pPr>
                      <a:r>
                        <a:rPr lang="en-IN" dirty="0"/>
                        <a:t>Arduino + multiple IoT sensors (accelerometer, GPS, MQ3, GSM) for real-time alert system</a:t>
                      </a:r>
                      <a:endParaRPr sz="18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lvl="0">
                        <a:lnSpc>
                          <a:spcPct val="100000"/>
                        </a:lnSpc>
                        <a:buNone/>
                      </a:pPr>
                      <a:r>
                        <a:rPr lang="en-US" dirty="0"/>
                        <a:t>Accurate accident detection and alerting with live location</a:t>
                      </a:r>
                      <a:endParaRPr sz="18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lvl="0">
                        <a:lnSpc>
                          <a:spcPct val="100000"/>
                        </a:lnSpc>
                        <a:buNone/>
                      </a:pPr>
                      <a:r>
                        <a:rPr lang="en-US" dirty="0"/>
                        <a:t>May face false positives; needs sensor calibration for different vehicles</a:t>
                      </a:r>
                      <a:endParaRPr sz="18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extLst>
                  <a:ext uri="{0D108BD9-81ED-4DB2-BD59-A6C34878D82A}">
                    <a16:rowId xmlns:a16="http://schemas.microsoft.com/office/drawing/2014/main" val="10002"/>
                  </a:ext>
                </a:extLst>
              </a:tr>
              <a:tr h="697584">
                <a:tc>
                  <a:txBody>
                    <a:bodyPr/>
                    <a:lstStyle/>
                    <a:p>
                      <a:pPr marL="85725">
                        <a:lnSpc>
                          <a:spcPct val="100000"/>
                        </a:lnSpc>
                        <a:spcBef>
                          <a:spcPts val="225"/>
                        </a:spcBef>
                      </a:pPr>
                      <a:r>
                        <a:rPr sz="1800" spc="-50" dirty="0">
                          <a:latin typeface="Calibri"/>
                          <a:cs typeface="Calibri"/>
                        </a:rPr>
                        <a:t>3</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lvl="0">
                        <a:lnSpc>
                          <a:spcPct val="100000"/>
                        </a:lnSpc>
                        <a:buNone/>
                      </a:pPr>
                      <a:endParaRPr dirty="0"/>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lvl="0">
                        <a:lnSpc>
                          <a:spcPct val="100000"/>
                        </a:lnSpc>
                        <a:buNone/>
                      </a:pPr>
                      <a:endParaRPr sz="1400" dirty="0">
                        <a:latin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lvl="0">
                        <a:lnSpc>
                          <a:spcPct val="100000"/>
                        </a:lnSpc>
                        <a:buNone/>
                      </a:pPr>
                      <a:endParaRPr sz="1400" dirty="0">
                        <a:latin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lvl="0">
                        <a:lnSpc>
                          <a:spcPct val="100000"/>
                        </a:lnSpc>
                        <a:buNone/>
                      </a:pPr>
                      <a:endParaRPr sz="1400" dirty="0">
                        <a:latin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lvl="0">
                        <a:lnSpc>
                          <a:spcPct val="100000"/>
                        </a:lnSpc>
                        <a:buNone/>
                      </a:pPr>
                      <a:endParaRPr sz="1400" dirty="0">
                        <a:latin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lvl="0">
                        <a:lnSpc>
                          <a:spcPct val="100000"/>
                        </a:lnSpc>
                        <a:buNone/>
                      </a:pPr>
                      <a:endParaRPr sz="1400" dirty="0">
                        <a:latin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extLst>
                  <a:ext uri="{0D108BD9-81ED-4DB2-BD59-A6C34878D82A}">
                    <a16:rowId xmlns:a16="http://schemas.microsoft.com/office/drawing/2014/main" val="10003"/>
                  </a:ext>
                </a:extLst>
              </a:tr>
              <a:tr h="301783">
                <a:tc>
                  <a:txBody>
                    <a:bodyPr/>
                    <a:lstStyle/>
                    <a:p>
                      <a:pPr marL="85725">
                        <a:lnSpc>
                          <a:spcPct val="100000"/>
                        </a:lnSpc>
                        <a:spcBef>
                          <a:spcPts val="225"/>
                        </a:spcBef>
                      </a:pPr>
                      <a:r>
                        <a:rPr sz="1800" spc="-50" dirty="0">
                          <a:latin typeface="Calibri"/>
                          <a:cs typeface="Calibri"/>
                        </a:rPr>
                        <a:t>4</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extLst>
                  <a:ext uri="{0D108BD9-81ED-4DB2-BD59-A6C34878D82A}">
                    <a16:rowId xmlns:a16="http://schemas.microsoft.com/office/drawing/2014/main" val="10004"/>
                  </a:ext>
                </a:extLst>
              </a:tr>
              <a:tr h="301783">
                <a:tc>
                  <a:txBody>
                    <a:bodyPr/>
                    <a:lstStyle/>
                    <a:p>
                      <a:pPr marL="85725">
                        <a:lnSpc>
                          <a:spcPct val="100000"/>
                        </a:lnSpc>
                        <a:spcBef>
                          <a:spcPts val="225"/>
                        </a:spcBef>
                      </a:pPr>
                      <a:r>
                        <a:rPr sz="1800" spc="-50" dirty="0">
                          <a:latin typeface="Calibri"/>
                          <a:cs typeface="Calibri"/>
                        </a:rPr>
                        <a:t>5</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extLst>
                  <a:ext uri="{0D108BD9-81ED-4DB2-BD59-A6C34878D82A}">
                    <a16:rowId xmlns:a16="http://schemas.microsoft.com/office/drawing/2014/main" val="10005"/>
                  </a:ext>
                </a:extLst>
              </a:tr>
            </a:tbl>
          </a:graphicData>
        </a:graphic>
      </p:graphicFrame>
      <p:sp>
        <p:nvSpPr>
          <p:cNvPr id="12" name="object 2">
            <a:extLst>
              <a:ext uri="{FF2B5EF4-FFF2-40B4-BE49-F238E27FC236}">
                <a16:creationId xmlns:a16="http://schemas.microsoft.com/office/drawing/2014/main" id="{645C9295-2517-9D36-F2D9-E747C2A3E8EA}"/>
              </a:ext>
            </a:extLst>
          </p:cNvPr>
          <p:cNvSpPr txBox="1"/>
          <p:nvPr/>
        </p:nvSpPr>
        <p:spPr>
          <a:xfrm>
            <a:off x="3604386" y="-10897"/>
            <a:ext cx="5158613" cy="228268"/>
          </a:xfrm>
          <a:prstGeom prst="rect">
            <a:avLst/>
          </a:prstGeom>
        </p:spPr>
        <p:txBody>
          <a:bodyPr vert="horz" wrap="square" lIns="0" tIns="12700" rIns="0" bIns="0" rtlCol="0" anchor="t">
            <a:spAutoFit/>
          </a:bodyPr>
          <a:lstStyle/>
          <a:p>
            <a:pPr marL="12700" algn="ctr">
              <a:spcBef>
                <a:spcPts val="100"/>
              </a:spcBef>
            </a:pPr>
            <a:r>
              <a:rPr lang="en-US" sz="1400" spc="-10" dirty="0">
                <a:solidFill>
                  <a:srgbClr val="FFFFFF"/>
                </a:solidFill>
                <a:latin typeface="Times New Roman"/>
                <a:cs typeface="Times New Roman"/>
              </a:rPr>
              <a:t>IOT Based Automatic Vehicle Accident Detection and Rescue System</a:t>
            </a:r>
            <a:r>
              <a:rPr lang="en-IN" sz="1400" spc="-10" dirty="0">
                <a:solidFill>
                  <a:srgbClr val="FFFFFF"/>
                </a:solidFill>
                <a:latin typeface="Times New Roman"/>
                <a:cs typeface="Times New Roman"/>
              </a:rPr>
              <a:t> </a:t>
            </a:r>
            <a:endParaRPr sz="15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A2B46-EE0E-0F2C-CB64-968372F39B11}"/>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35710D5-4BC0-AE90-DD16-AE8287FD7E17}"/>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id="{628F9FBE-3F35-0318-78A9-BB13802A291A}"/>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B-15</a:t>
            </a:r>
          </a:p>
        </p:txBody>
      </p:sp>
      <p:sp>
        <p:nvSpPr>
          <p:cNvPr id="9" name="object 9">
            <a:extLst>
              <a:ext uri="{FF2B5EF4-FFF2-40B4-BE49-F238E27FC236}">
                <a16:creationId xmlns:a16="http://schemas.microsoft.com/office/drawing/2014/main" id="{B7A4E859-BB97-7132-E666-A968C897D333}"/>
              </a:ext>
            </a:extLst>
          </p:cNvPr>
          <p:cNvSpPr txBox="1"/>
          <p:nvPr/>
        </p:nvSpPr>
        <p:spPr>
          <a:xfrm>
            <a:off x="228600" y="1309714"/>
            <a:ext cx="11858822" cy="6084038"/>
          </a:xfrm>
          <a:prstGeom prst="rect">
            <a:avLst/>
          </a:prstGeom>
        </p:spPr>
        <p:txBody>
          <a:bodyPr vert="horz" wrap="square" lIns="0" tIns="12700" rIns="0" bIns="0" rtlCol="0" anchor="t">
            <a:spAutoFit/>
          </a:bodyPr>
          <a:lstStyle/>
          <a:p>
            <a:pPr marL="285750" indent="-285750">
              <a:buFont typeface="Wingdings" panose="05000000000000000000" pitchFamily="2" charset="2"/>
              <a:buChar char="v"/>
            </a:pPr>
            <a:r>
              <a:rPr lang="en-US" b="1" dirty="0"/>
              <a:t>Accident Detection Using IoT Sensors:</a:t>
            </a:r>
            <a:r>
              <a:rPr lang="en-US" dirty="0"/>
              <a:t> Use motion sensors and GPS to quickly detect if a vehicle has crashed.</a:t>
            </a:r>
            <a:r>
              <a:rPr lang="en-US" sz="800" dirty="0"/>
              <a:t>   </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b="1" dirty="0"/>
              <a:t>Real-Time Location Tracking:</a:t>
            </a:r>
            <a:r>
              <a:rPr lang="en-US" dirty="0"/>
              <a:t> Keep track of the vehicle’s location at all times using GPS, so the accident spot is easy to find.</a:t>
            </a:r>
            <a:r>
              <a:rPr lang="en-US" sz="800" dirty="0"/>
              <a:t>  												</a:t>
            </a:r>
            <a:endParaRPr lang="en-US" dirty="0"/>
          </a:p>
          <a:p>
            <a:pPr marL="285750" indent="-285750">
              <a:buFont typeface="Wingdings" panose="05000000000000000000" pitchFamily="2" charset="2"/>
              <a:buChar char="v"/>
            </a:pPr>
            <a:r>
              <a:rPr lang="en-US" b="1" dirty="0"/>
              <a:t>Instant Alert and Notification System:</a:t>
            </a:r>
            <a:r>
              <a:rPr lang="en-US" dirty="0"/>
              <a:t> Send automatic messages with the location to family, rescue teams, or hospitals when an accident happens.    </a:t>
            </a:r>
            <a:r>
              <a:rPr lang="en-US" sz="800" dirty="0"/>
              <a:t>    											</a:t>
            </a:r>
          </a:p>
          <a:p>
            <a:pPr marL="285750" indent="-285750">
              <a:buFont typeface="Wingdings" panose="05000000000000000000" pitchFamily="2" charset="2"/>
              <a:buChar char="v"/>
            </a:pPr>
            <a:r>
              <a:rPr lang="en-US" b="1" dirty="0"/>
              <a:t>User Interface for Monitoring and Alerts:</a:t>
            </a:r>
            <a:r>
              <a:rPr lang="en-US" dirty="0"/>
              <a:t> Create a simple app or screen to show vehicle info, accident alerts, and location. </a:t>
            </a:r>
            <a:r>
              <a:rPr lang="en-US" sz="800" dirty="0"/>
              <a:t>	        											</a:t>
            </a:r>
            <a:endParaRPr lang="en-US" dirty="0"/>
          </a:p>
          <a:p>
            <a:pPr marL="285750" indent="-285750">
              <a:buFont typeface="Wingdings" panose="05000000000000000000" pitchFamily="2" charset="2"/>
              <a:buChar char="v"/>
            </a:pPr>
            <a:r>
              <a:rPr lang="en-US" b="1" dirty="0"/>
              <a:t>System Reliability and Testing:</a:t>
            </a:r>
            <a:r>
              <a:rPr lang="en-US" dirty="0"/>
              <a:t> Test the system in different situations to make sure it works well and avoids sending false alerts. </a:t>
            </a:r>
            <a:r>
              <a:rPr lang="en-US" sz="800" dirty="0"/>
              <a:t> 											</a:t>
            </a:r>
          </a:p>
          <a:p>
            <a:pPr marL="285750" indent="-285750">
              <a:buFont typeface="Wingdings" panose="05000000000000000000" pitchFamily="2" charset="2"/>
              <a:buChar char="v"/>
            </a:pPr>
            <a:r>
              <a:rPr lang="en-US" b="1" dirty="0"/>
              <a:t>Driver Health Monitoring: </a:t>
            </a:r>
            <a:r>
              <a:rPr lang="en-US" dirty="0"/>
              <a:t>Use heart rate sensors to continuously check the driver’s vital signs and send health status along with accident alerts to prioritize medical help.</a:t>
            </a:r>
            <a:r>
              <a:rPr lang="en-US" sz="800" dirty="0"/>
              <a:t>                                                                                                                                                                                        	</a:t>
            </a:r>
            <a:endParaRPr lang="en-US" dirty="0"/>
          </a:p>
          <a:p>
            <a:pPr marL="285750" indent="-285750">
              <a:buFont typeface="Wingdings" panose="05000000000000000000" pitchFamily="2" charset="2"/>
              <a:buChar char="v"/>
            </a:pPr>
            <a:r>
              <a:rPr lang="en-US" b="1" dirty="0"/>
              <a:t>AI-Based Camera Scene Analysis: </a:t>
            </a:r>
            <a:r>
              <a:rPr lang="en-US" dirty="0"/>
              <a:t>Integrate a camera and AI to capture and analyze accident scenes, estimating crash severity and number of people involved for better rescue planning.</a:t>
            </a:r>
            <a:r>
              <a:rPr lang="en-US" sz="800" dirty="0"/>
              <a:t>				</a:t>
            </a:r>
            <a:endParaRPr lang="en-US" dirty="0"/>
          </a:p>
          <a:p>
            <a:pPr marL="285750" indent="-285750">
              <a:buFont typeface="Wingdings" panose="05000000000000000000" pitchFamily="2" charset="2"/>
              <a:buChar char="v"/>
            </a:pPr>
            <a:r>
              <a:rPr lang="en-US" b="1" dirty="0"/>
              <a:t>Backup Power Supply: </a:t>
            </a:r>
            <a:r>
              <a:rPr lang="en-US" dirty="0"/>
              <a:t>Include a rechargeable battery backup to keep the accident detection and alert system running even if the vehicle’s main power fails after a crash.</a:t>
            </a:r>
          </a:p>
          <a:p>
            <a:pPr marL="342900" indent="-342900">
              <a:buFont typeface="Wingdings" panose="05000000000000000000" pitchFamily="2" charset="2"/>
              <a:buChar char="v"/>
            </a:pPr>
            <a:endParaRPr lang="en-US" dirty="0"/>
          </a:p>
          <a:p>
            <a:pPr marL="469900" marR="2094230" algn="just">
              <a:lnSpc>
                <a:spcPct val="150000"/>
              </a:lnSpc>
              <a:spcBef>
                <a:spcPts val="100"/>
              </a:spcBef>
              <a:spcAft>
                <a:spcPts val="100"/>
              </a:spcAft>
            </a:pPr>
            <a:endParaRPr lang="en-US" sz="2400" dirty="0">
              <a:latin typeface="Times New Roman" panose="02020603050405020304" pitchFamily="18" charset="0"/>
              <a:cs typeface="Times New Roman" panose="02020603050405020304" pitchFamily="18" charset="0"/>
            </a:endParaRPr>
          </a:p>
        </p:txBody>
      </p:sp>
      <p:sp>
        <p:nvSpPr>
          <p:cNvPr id="10" name="object 9">
            <a:extLst>
              <a:ext uri="{FF2B5EF4-FFF2-40B4-BE49-F238E27FC236}">
                <a16:creationId xmlns:a16="http://schemas.microsoft.com/office/drawing/2014/main" id="{CFA60471-15DF-9083-FE5E-3902175A72B6}"/>
              </a:ext>
            </a:extLst>
          </p:cNvPr>
          <p:cNvSpPr txBox="1">
            <a:spLocks noGrp="1"/>
          </p:cNvSpPr>
          <p:nvPr>
            <p:ph type="dt" sz="half" idx="6"/>
          </p:nvPr>
        </p:nvSpPr>
        <p:spPr>
          <a:xfrm>
            <a:off x="774794" y="6634572"/>
            <a:ext cx="10960005" cy="230832"/>
          </a:xfrm>
          <a:prstGeom prst="rect">
            <a:avLst/>
          </a:prstGeom>
        </p:spPr>
        <p:txBody>
          <a:bodyPr vert="horz" wrap="square" lIns="0" tIns="0" rIns="0" bIns="0" rtlCol="0">
            <a:spAutoFit/>
          </a:bodyPr>
          <a:lstStyle/>
          <a:p>
            <a:pPr marL="12700">
              <a:lnSpc>
                <a:spcPts val="1845"/>
              </a:lnSpc>
            </a:pPr>
            <a:r>
              <a:rPr lang="en-IN" cap="small" spc="-75" dirty="0"/>
              <a:t>      </a:t>
            </a: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cap="small" spc="-95" dirty="0"/>
              <a:t>Srinivasa Ramanujan Institute of Technology</a:t>
            </a:r>
            <a:endParaRPr cap="small" spc="-95" dirty="0"/>
          </a:p>
        </p:txBody>
      </p:sp>
      <p:sp>
        <p:nvSpPr>
          <p:cNvPr id="22" name="object 5">
            <a:extLst>
              <a:ext uri="{FF2B5EF4-FFF2-40B4-BE49-F238E27FC236}">
                <a16:creationId xmlns:a16="http://schemas.microsoft.com/office/drawing/2014/main" id="{E4DC98FB-3CF7-49F2-EAA0-8C29A884416B}"/>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id="{FBEEA442-2159-FA46-AF17-B29D79E7DB86}"/>
              </a:ext>
            </a:extLst>
          </p:cNvPr>
          <p:cNvSpPr txBox="1">
            <a:spLocks noGrp="1"/>
          </p:cNvSpPr>
          <p:nvPr>
            <p:ph type="title"/>
          </p:nvPr>
        </p:nvSpPr>
        <p:spPr>
          <a:xfrm>
            <a:off x="20182" y="331752"/>
            <a:ext cx="3942218" cy="689932"/>
          </a:xfrm>
          <a:prstGeom prst="rect">
            <a:avLst/>
          </a:prstGeom>
        </p:spPr>
        <p:txBody>
          <a:bodyPr vert="horz" wrap="square" lIns="0" tIns="12700" rIns="0" bIns="0" rtlCol="0">
            <a:spAutoFit/>
          </a:bodyPr>
          <a:lstStyle/>
          <a:p>
            <a:pPr marL="12700" algn="ctr">
              <a:lnSpc>
                <a:spcPct val="100000"/>
              </a:lnSpc>
            </a:pPr>
            <a:r>
              <a:rPr lang="en-US" b="1" spc="-10" dirty="0"/>
              <a:t>P</a:t>
            </a:r>
            <a:r>
              <a:rPr lang="en-IN" b="1" spc="-10" dirty="0" err="1"/>
              <a:t>roposed</a:t>
            </a:r>
            <a:r>
              <a:rPr lang="en-IN" b="1" spc="-10" dirty="0"/>
              <a:t> Work</a:t>
            </a:r>
            <a:endParaRPr b="1" spc="-10" dirty="0"/>
          </a:p>
        </p:txBody>
      </p:sp>
      <p:sp>
        <p:nvSpPr>
          <p:cNvPr id="28" name="object 2">
            <a:extLst>
              <a:ext uri="{FF2B5EF4-FFF2-40B4-BE49-F238E27FC236}">
                <a16:creationId xmlns:a16="http://schemas.microsoft.com/office/drawing/2014/main" id="{FC934F8A-48B2-E680-3397-4D3BE537D38A}"/>
              </a:ext>
            </a:extLst>
          </p:cNvPr>
          <p:cNvSpPr txBox="1"/>
          <p:nvPr/>
        </p:nvSpPr>
        <p:spPr>
          <a:xfrm>
            <a:off x="3604386" y="-10897"/>
            <a:ext cx="5082413" cy="228268"/>
          </a:xfrm>
          <a:prstGeom prst="rect">
            <a:avLst/>
          </a:prstGeom>
        </p:spPr>
        <p:txBody>
          <a:bodyPr vert="horz" wrap="square" lIns="0" tIns="12700" rIns="0" bIns="0" rtlCol="0" anchor="t">
            <a:spAutoFit/>
          </a:bodyPr>
          <a:lstStyle/>
          <a:p>
            <a:pPr marL="12700" algn="ctr">
              <a:spcBef>
                <a:spcPts val="100"/>
              </a:spcBef>
            </a:pPr>
            <a:r>
              <a:rPr lang="en-US" sz="1400" spc="-10" dirty="0">
                <a:solidFill>
                  <a:srgbClr val="FFFFFF"/>
                </a:solidFill>
                <a:latin typeface="Times New Roman"/>
                <a:cs typeface="Times New Roman"/>
              </a:rPr>
              <a:t>IOT Based Automatic Vehicle Accident Detection and Rescue System</a:t>
            </a:r>
            <a:r>
              <a:rPr lang="en-IN" sz="1400" spc="-10" dirty="0">
                <a:solidFill>
                  <a:srgbClr val="FFFFFF"/>
                </a:solidFill>
                <a:latin typeface="Times New Roman"/>
                <a:cs typeface="Times New Roman"/>
              </a:rPr>
              <a:t> </a:t>
            </a:r>
            <a:endParaRPr sz="1500" dirty="0">
              <a:latin typeface="Times New Roman"/>
              <a:cs typeface="Times New Roman"/>
            </a:endParaRPr>
          </a:p>
        </p:txBody>
      </p:sp>
      <p:sp>
        <p:nvSpPr>
          <p:cNvPr id="29" name="object 12">
            <a:extLst>
              <a:ext uri="{FF2B5EF4-FFF2-40B4-BE49-F238E27FC236}">
                <a16:creationId xmlns:a16="http://schemas.microsoft.com/office/drawing/2014/main" id="{AA683E38-C0D5-4B58-6465-7012B73F6E26}"/>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Tree>
    <p:extLst>
      <p:ext uri="{BB962C8B-B14F-4D97-AF65-F5344CB8AC3E}">
        <p14:creationId xmlns:p14="http://schemas.microsoft.com/office/powerpoint/2010/main" val="4150270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989EC-E189-335A-F237-F01995E1DB17}"/>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7A69AB61-70F8-0F9E-2D64-50A74E7103A3}"/>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id="{2EBFC1CA-2F19-3580-EB4B-7ED18CC47A98}"/>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B-15</a:t>
            </a:r>
          </a:p>
        </p:txBody>
      </p:sp>
      <p:sp>
        <p:nvSpPr>
          <p:cNvPr id="10" name="object 9">
            <a:extLst>
              <a:ext uri="{FF2B5EF4-FFF2-40B4-BE49-F238E27FC236}">
                <a16:creationId xmlns:a16="http://schemas.microsoft.com/office/drawing/2014/main" id="{6CD096F8-8F7D-C729-0A6D-A2723A09300F}"/>
              </a:ext>
            </a:extLst>
          </p:cNvPr>
          <p:cNvSpPr txBox="1">
            <a:spLocks noGrp="1"/>
          </p:cNvSpPr>
          <p:nvPr>
            <p:ph type="dt" sz="half" idx="6"/>
          </p:nvPr>
        </p:nvSpPr>
        <p:spPr>
          <a:xfrm>
            <a:off x="1138993" y="6634572"/>
            <a:ext cx="106878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cap="small" spc="-95" dirty="0"/>
              <a:t> Srinivasa Ramanujan Institute of Technology</a:t>
            </a:r>
            <a:endParaRPr cap="small" spc="-95" dirty="0"/>
          </a:p>
        </p:txBody>
      </p:sp>
      <p:sp>
        <p:nvSpPr>
          <p:cNvPr id="22" name="object 5">
            <a:extLst>
              <a:ext uri="{FF2B5EF4-FFF2-40B4-BE49-F238E27FC236}">
                <a16:creationId xmlns:a16="http://schemas.microsoft.com/office/drawing/2014/main" id="{1ACBC29F-027F-DBF0-FA9E-DBE2D48F1DDD}"/>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id="{5A730D9C-6CC0-0BC4-E2C8-C39AAC4B318E}"/>
              </a:ext>
            </a:extLst>
          </p:cNvPr>
          <p:cNvSpPr txBox="1">
            <a:spLocks noGrp="1"/>
          </p:cNvSpPr>
          <p:nvPr>
            <p:ph type="title"/>
          </p:nvPr>
        </p:nvSpPr>
        <p:spPr>
          <a:xfrm>
            <a:off x="20182" y="331753"/>
            <a:ext cx="4780418" cy="689932"/>
          </a:xfrm>
          <a:prstGeom prst="rect">
            <a:avLst/>
          </a:prstGeom>
        </p:spPr>
        <p:txBody>
          <a:bodyPr vert="horz" wrap="square" lIns="0" tIns="12700" rIns="0" bIns="0" rtlCol="0">
            <a:spAutoFit/>
          </a:bodyPr>
          <a:lstStyle/>
          <a:p>
            <a:pPr marL="12700" algn="ctr">
              <a:lnSpc>
                <a:spcPct val="100000"/>
              </a:lnSpc>
            </a:pPr>
            <a:r>
              <a:rPr lang="en-IN" b="1" spc="-10" dirty="0" err="1"/>
              <a:t>Github</a:t>
            </a:r>
            <a:r>
              <a:rPr lang="en-IN" b="1" spc="-10" dirty="0"/>
              <a:t> Dashboard</a:t>
            </a:r>
            <a:endParaRPr b="1" spc="-10" dirty="0"/>
          </a:p>
        </p:txBody>
      </p:sp>
      <p:sp>
        <p:nvSpPr>
          <p:cNvPr id="28" name="object 2">
            <a:extLst>
              <a:ext uri="{FF2B5EF4-FFF2-40B4-BE49-F238E27FC236}">
                <a16:creationId xmlns:a16="http://schemas.microsoft.com/office/drawing/2014/main" id="{C195DF4B-C3B0-4F7B-DA13-13B4A167AA02}"/>
              </a:ext>
            </a:extLst>
          </p:cNvPr>
          <p:cNvSpPr txBox="1"/>
          <p:nvPr/>
        </p:nvSpPr>
        <p:spPr>
          <a:xfrm>
            <a:off x="3604386" y="-10897"/>
            <a:ext cx="5082413" cy="228268"/>
          </a:xfrm>
          <a:prstGeom prst="rect">
            <a:avLst/>
          </a:prstGeom>
        </p:spPr>
        <p:txBody>
          <a:bodyPr vert="horz" wrap="square" lIns="0" tIns="12700" rIns="0" bIns="0" rtlCol="0" anchor="t">
            <a:spAutoFit/>
          </a:bodyPr>
          <a:lstStyle/>
          <a:p>
            <a:pPr marL="12700" algn="ctr">
              <a:spcBef>
                <a:spcPts val="100"/>
              </a:spcBef>
            </a:pPr>
            <a:r>
              <a:rPr lang="en-US" sz="1400" spc="-10" dirty="0">
                <a:solidFill>
                  <a:srgbClr val="FFFFFF"/>
                </a:solidFill>
                <a:latin typeface="Times New Roman"/>
                <a:cs typeface="Times New Roman"/>
              </a:rPr>
              <a:t>IOT Based Automatic Vehicle Accident Detection and Rescue System</a:t>
            </a:r>
            <a:r>
              <a:rPr lang="en-IN" sz="1400" spc="-10" dirty="0">
                <a:solidFill>
                  <a:srgbClr val="FFFFFF"/>
                </a:solidFill>
                <a:latin typeface="Times New Roman"/>
                <a:cs typeface="Times New Roman"/>
              </a:rPr>
              <a:t> </a:t>
            </a:r>
            <a:endParaRPr sz="1500" dirty="0">
              <a:latin typeface="Times New Roman"/>
              <a:cs typeface="Times New Roman"/>
            </a:endParaRPr>
          </a:p>
        </p:txBody>
      </p:sp>
      <p:sp>
        <p:nvSpPr>
          <p:cNvPr id="29" name="object 12">
            <a:extLst>
              <a:ext uri="{FF2B5EF4-FFF2-40B4-BE49-F238E27FC236}">
                <a16:creationId xmlns:a16="http://schemas.microsoft.com/office/drawing/2014/main" id="{09864754-2FF8-4B81-6358-D3AC9D361849}"/>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7</a:t>
            </a:fld>
            <a:endParaRPr spc="-25" dirty="0"/>
          </a:p>
        </p:txBody>
      </p:sp>
      <p:pic>
        <p:nvPicPr>
          <p:cNvPr id="4" name="Picture 3">
            <a:extLst>
              <a:ext uri="{FF2B5EF4-FFF2-40B4-BE49-F238E27FC236}">
                <a16:creationId xmlns:a16="http://schemas.microsoft.com/office/drawing/2014/main" id="{37656E17-F862-CDD4-DF7B-2C4B0215B5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1676400"/>
            <a:ext cx="10210800" cy="4419600"/>
          </a:xfrm>
          <a:prstGeom prst="rect">
            <a:avLst/>
          </a:prstGeom>
        </p:spPr>
      </p:pic>
    </p:spTree>
    <p:extLst>
      <p:ext uri="{BB962C8B-B14F-4D97-AF65-F5344CB8AC3E}">
        <p14:creationId xmlns:p14="http://schemas.microsoft.com/office/powerpoint/2010/main" val="787783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6754444" y="6624710"/>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
        <p:nvSpPr>
          <p:cNvPr id="3" name="object 3"/>
          <p:cNvSpPr txBox="1">
            <a:spLocks noGrp="1"/>
          </p:cNvSpPr>
          <p:nvPr>
            <p:ph type="title"/>
          </p:nvPr>
        </p:nvSpPr>
        <p:spPr>
          <a:xfrm>
            <a:off x="2826638" y="235230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
        <p:nvSpPr>
          <p:cNvPr id="8" name="object 9">
            <a:extLst>
              <a:ext uri="{FF2B5EF4-FFF2-40B4-BE49-F238E27FC236}">
                <a16:creationId xmlns:a16="http://schemas.microsoft.com/office/drawing/2014/main" id="{38036199-2B51-9B00-5280-3FB15D955DE6}"/>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5" name="object 2">
            <a:extLst>
              <a:ext uri="{FF2B5EF4-FFF2-40B4-BE49-F238E27FC236}">
                <a16:creationId xmlns:a16="http://schemas.microsoft.com/office/drawing/2014/main" id="{5D94190F-02FA-303B-279B-F732CC88B753}"/>
              </a:ext>
            </a:extLst>
          </p:cNvPr>
          <p:cNvSpPr txBox="1"/>
          <p:nvPr/>
        </p:nvSpPr>
        <p:spPr>
          <a:xfrm>
            <a:off x="3604386" y="-10897"/>
            <a:ext cx="5082413" cy="228268"/>
          </a:xfrm>
          <a:prstGeom prst="rect">
            <a:avLst/>
          </a:prstGeom>
        </p:spPr>
        <p:txBody>
          <a:bodyPr vert="horz" wrap="square" lIns="0" tIns="12700" rIns="0" bIns="0" rtlCol="0" anchor="t">
            <a:spAutoFit/>
          </a:bodyPr>
          <a:lstStyle/>
          <a:p>
            <a:pPr marL="12700" algn="ctr">
              <a:spcBef>
                <a:spcPts val="100"/>
              </a:spcBef>
            </a:pPr>
            <a:r>
              <a:rPr lang="en-US" sz="1400" spc="-10" dirty="0">
                <a:solidFill>
                  <a:srgbClr val="FFFFFF"/>
                </a:solidFill>
                <a:latin typeface="Times New Roman"/>
                <a:cs typeface="Times New Roman"/>
              </a:rPr>
              <a:t>IOT Based Automatic Vehicle Accident Detection and Rescue System</a:t>
            </a:r>
            <a:r>
              <a:rPr lang="en-IN" sz="1400" spc="-10" dirty="0">
                <a:solidFill>
                  <a:srgbClr val="FFFFFF"/>
                </a:solidFill>
                <a:latin typeface="Times New Roman"/>
                <a:cs typeface="Times New Roman"/>
              </a:rPr>
              <a:t> </a:t>
            </a:r>
            <a:endParaRPr sz="1500" dirty="0">
              <a:latin typeface="Times New Roman"/>
              <a:cs typeface="Times New Roman"/>
            </a:endParaRPr>
          </a:p>
        </p:txBody>
      </p:sp>
      <p:sp>
        <p:nvSpPr>
          <p:cNvPr id="9" name="object 8">
            <a:extLst>
              <a:ext uri="{FF2B5EF4-FFF2-40B4-BE49-F238E27FC236}">
                <a16:creationId xmlns:a16="http://schemas.microsoft.com/office/drawing/2014/main" id="{244C6EFB-B7DE-99D3-22A4-6086FD307999}"/>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nchor="t">
            <a:spAutoFit/>
          </a:bodyPr>
          <a:lstStyle/>
          <a:p>
            <a:pPr marL="12700">
              <a:lnSpc>
                <a:spcPts val="1845"/>
              </a:lnSpc>
            </a:pPr>
            <a:r>
              <a:rPr lang="en-IN" spc="-25" dirty="0"/>
              <a:t>B - 15</a:t>
            </a:r>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3" name="object 3"/>
          <p:cNvSpPr txBox="1">
            <a:spLocks noGrp="1"/>
          </p:cNvSpPr>
          <p:nvPr>
            <p:ph type="title"/>
          </p:nvPr>
        </p:nvSpPr>
        <p:spPr>
          <a:xfrm>
            <a:off x="2826638" y="2249889"/>
            <a:ext cx="6698362" cy="1486946"/>
          </a:xfrm>
          <a:prstGeom prst="rect">
            <a:avLst/>
          </a:prstGeom>
        </p:spPr>
        <p:txBody>
          <a:bodyPr vert="horz" wrap="square" lIns="0" tIns="12700" rIns="0" bIns="0" rtlCol="0">
            <a:spAutoFit/>
          </a:bodyPr>
          <a:lstStyle/>
          <a:p>
            <a:pPr marL="12700" marR="5080" algn="l">
              <a:lnSpc>
                <a:spcPct val="107000"/>
              </a:lnSpc>
              <a:spcBef>
                <a:spcPts val="100"/>
              </a:spcBef>
            </a:pPr>
            <a:r>
              <a:rPr sz="9600" i="1" spc="-10" dirty="0">
                <a:solidFill>
                  <a:srgbClr val="FF6600"/>
                </a:solidFill>
                <a:latin typeface="Times New Roman"/>
                <a:cs typeface="Times New Roman"/>
              </a:rPr>
              <a:t>Thank</a:t>
            </a:r>
            <a:r>
              <a:rPr lang="en-IN" sz="9600" i="1" spc="-10" dirty="0">
                <a:solidFill>
                  <a:srgbClr val="FF6600"/>
                </a:solidFill>
                <a:latin typeface="Times New Roman"/>
                <a:cs typeface="Times New Roman"/>
              </a:rPr>
              <a:t> </a:t>
            </a:r>
            <a:r>
              <a:rPr sz="9600" i="1" spc="-10" dirty="0">
                <a:solidFill>
                  <a:srgbClr val="FF6600"/>
                </a:solidFill>
                <a:latin typeface="Times New Roman"/>
                <a:cs typeface="Times New Roman"/>
              </a:rPr>
              <a:t>You!!!</a:t>
            </a:r>
            <a:endParaRPr sz="9600" dirty="0">
              <a:latin typeface="Times New Roman"/>
              <a:cs typeface="Times New Roman"/>
            </a:endParaRPr>
          </a:p>
        </p:txBody>
      </p:sp>
      <p:sp>
        <p:nvSpPr>
          <p:cNvPr id="8" name="object 9">
            <a:extLst>
              <a:ext uri="{FF2B5EF4-FFF2-40B4-BE49-F238E27FC236}">
                <a16:creationId xmlns:a16="http://schemas.microsoft.com/office/drawing/2014/main" id="{54D73473-8B89-25C7-80BC-FF44172E7C40}"/>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object 8">
            <a:extLst>
              <a:ext uri="{FF2B5EF4-FFF2-40B4-BE49-F238E27FC236}">
                <a16:creationId xmlns:a16="http://schemas.microsoft.com/office/drawing/2014/main" id="{FA43E41F-06F6-DED8-0E94-DA7D49A8DDAE}"/>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nchor="t">
            <a:spAutoFit/>
          </a:bodyPr>
          <a:lstStyle/>
          <a:p>
            <a:pPr marL="12700">
              <a:lnSpc>
                <a:spcPts val="1845"/>
              </a:lnSpc>
            </a:pPr>
            <a:r>
              <a:rPr lang="en-IN" spc="-25" dirty="0"/>
              <a:t>B - 15</a:t>
            </a:r>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786</TotalTime>
  <Words>1045</Words>
  <Application>Microsoft Office PowerPoint</Application>
  <PresentationFormat>Widescreen</PresentationFormat>
  <Paragraphs>117</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Calibri</vt:lpstr>
      <vt:lpstr>Times New Roman</vt:lpstr>
      <vt:lpstr>Wingdings</vt:lpstr>
      <vt:lpstr>Office Theme</vt:lpstr>
      <vt:lpstr>IOT Based Automatic Vehicle Accident Detection and Rescue System</vt:lpstr>
      <vt:lpstr>Contents</vt:lpstr>
      <vt:lpstr>Abstract</vt:lpstr>
      <vt:lpstr>Introduction</vt:lpstr>
      <vt:lpstr>Literature Survey</vt:lpstr>
      <vt:lpstr>Proposed Work</vt:lpstr>
      <vt:lpstr>Github Dashboard</vt:lpstr>
      <vt:lpstr>Any 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Biofloc Aquaculture: ML predictions with IOT Based Monitoring and Alerts</dc:title>
  <dc:creator>Revathi Reddy</dc:creator>
  <cp:lastModifiedBy>SOWMYA LATHA</cp:lastModifiedBy>
  <cp:revision>767</cp:revision>
  <dcterms:created xsi:type="dcterms:W3CDTF">2025-09-12T04:18:11Z</dcterms:created>
  <dcterms:modified xsi:type="dcterms:W3CDTF">2025-10-10T15:08:24Z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Creator">
    <vt:lpwstr>Google</vt:lpwstr>
  </property>
  <property fmtid="{D5CDD505-2E9C-101B-9397-08002B2CF9AE}" pid="4" name="LastSaved">
    <vt:filetime>2025-09-12T00:00:00Z</vt:filetime>
  </property>
</Properties>
</file>