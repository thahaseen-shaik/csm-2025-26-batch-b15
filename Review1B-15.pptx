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56" r:id="rId2"/>
    <p:sldId id="258" r:id="rId3"/>
    <p:sldId id="257" r:id="rId4"/>
    <p:sldId id="271" r:id="rId5"/>
    <p:sldId id="267" r:id="rId6"/>
    <p:sldId id="260" r:id="rId7"/>
    <p:sldId id="269" r:id="rId8"/>
    <p:sldId id="268" r:id="rId9"/>
    <p:sldId id="261" r:id="rId10"/>
    <p:sldId id="266" r:id="rId11"/>
    <p:sldId id="270" r:id="rId12"/>
    <p:sldId id="262" r:id="rId13"/>
    <p:sldId id="263" r:id="rId14"/>
    <p:sldId id="264" r:id="rId15"/>
    <p:sldId id="265"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CC7942-D04C-4F80-9695-C2AD1002643D}" v="91" dt="2025-09-19T13:57:21.54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339" autoAdjust="0"/>
  </p:normalViewPr>
  <p:slideViewPr>
    <p:cSldViewPr>
      <p:cViewPr varScale="1">
        <p:scale>
          <a:sx n="67" d="100"/>
          <a:sy n="67" d="100"/>
        </p:scale>
        <p:origin x="1267" y="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C4EC2B-1398-BE2E-B35B-03743946ECF5}"/>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BFDE6E5-5B9C-9E6F-8643-40BE446E04BD}"/>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7DFC11D4-3948-47A1-9259-B8AE03E08916}" type="datetimeFigureOut">
              <a:rPr lang="en-US" smtClean="0"/>
              <a:t>12/25/2025</a:t>
            </a:fld>
            <a:endParaRPr lang="en-US"/>
          </a:p>
        </p:txBody>
      </p:sp>
      <p:sp>
        <p:nvSpPr>
          <p:cNvPr id="4" name="Footer Placeholder 3">
            <a:extLst>
              <a:ext uri="{FF2B5EF4-FFF2-40B4-BE49-F238E27FC236}">
                <a16:creationId xmlns:a16="http://schemas.microsoft.com/office/drawing/2014/main" id="{5562F404-0009-A433-7874-98DF1A86151A}"/>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5BE121-0575-2523-B9BD-5B16E657A266}"/>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583E109C-00D3-4310-8BA3-C4BC753C4403}" type="slidenum">
              <a:rPr lang="en-US" smtClean="0"/>
              <a:t>‹#›</a:t>
            </a:fld>
            <a:endParaRPr lang="en-US"/>
          </a:p>
        </p:txBody>
      </p:sp>
    </p:spTree>
    <p:extLst>
      <p:ext uri="{BB962C8B-B14F-4D97-AF65-F5344CB8AC3E}">
        <p14:creationId xmlns:p14="http://schemas.microsoft.com/office/powerpoint/2010/main" val="34560309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A514432-EC42-43AC-8471-74D982027697}" type="datetimeFigureOut">
              <a:rPr lang="en-IN" smtClean="0"/>
              <a:t>25-12-2025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C1906C5-96C6-4EC8-9F77-9D2B923AC44C}" type="slidenum">
              <a:rPr lang="en-IN" smtClean="0"/>
              <a:t>‹#›</a:t>
            </a:fld>
            <a:endParaRPr lang="en-IN"/>
          </a:p>
        </p:txBody>
      </p:sp>
    </p:spTree>
    <p:extLst>
      <p:ext uri="{BB962C8B-B14F-4D97-AF65-F5344CB8AC3E}">
        <p14:creationId xmlns:p14="http://schemas.microsoft.com/office/powerpoint/2010/main" val="245238598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17487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39474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4098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8B3DB-6188-5838-277F-9B595F6DB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E1737-30C4-C58A-A213-CD251C63C44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712640F-E2C7-03B1-368C-7E687BF8501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00009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4945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17101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55916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C8F5-67D3-21F4-3609-BFFB7C170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FF8FF-F353-179C-DE86-180230BFF90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5F4EB3D-B14E-922E-AF7A-DC96B15B0C9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3489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18B7-036B-63BA-BE57-D5FB660631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E49DC-D9E7-9687-563A-37E2715C102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AA7C605-CAA7-828A-8EE6-324223B605A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48660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5830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67540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dirty="0"/>
              <a:t>B - 15</a:t>
            </a:r>
            <a:endParaRPr spc="-25" dirty="0"/>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3335">
              <a:lnSpc>
                <a:spcPts val="1845"/>
              </a:lnSpc>
            </a:pPr>
            <a:r>
              <a:rPr lang="en-US" cap="small" spc="-75"/>
              <a:t>Dept. of Computer Science and Engineering (AI&amp;ML)</a:t>
            </a:r>
            <a:endParaRPr cap="small" spc="-60" dirty="0"/>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381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dirty="0"/>
              <a:t>B - 15</a:t>
            </a:r>
            <a:endParaRPr spc="-25" dirty="0"/>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3335">
              <a:lnSpc>
                <a:spcPts val="1845"/>
              </a:lnSpc>
            </a:pPr>
            <a:r>
              <a:rPr lang="en-US" cap="small" spc="-75"/>
              <a:t>Dept. of Computer Science and Engineering (AI&amp;ML)</a:t>
            </a:r>
            <a:endParaRPr cap="small" spc="-60" dirty="0"/>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381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dirty="0"/>
              <a:t>B - 15</a:t>
            </a:r>
            <a:endParaRPr spc="-25" dirty="0"/>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3335">
              <a:lnSpc>
                <a:spcPts val="1845"/>
              </a:lnSpc>
            </a:pPr>
            <a:r>
              <a:rPr lang="en-US" cap="small" spc="-75"/>
              <a:t>Dept. of Computer Science and Engineering (AI&amp;ML)</a:t>
            </a:r>
            <a:endParaRPr cap="small" spc="-60" dirty="0"/>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381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dirty="0"/>
              <a:t>B - 15</a:t>
            </a:r>
            <a:endParaRPr spc="-25" dirty="0"/>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3335">
              <a:lnSpc>
                <a:spcPts val="1845"/>
              </a:lnSpc>
            </a:pPr>
            <a:r>
              <a:rPr lang="en-US" cap="small" spc="-75"/>
              <a:t>Dept. of Computer Science and Engineering (AI&amp;ML)</a:t>
            </a:r>
            <a:endParaRPr cap="small" spc="-60" dirty="0"/>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381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dirty="0"/>
              <a:t>B - 15</a:t>
            </a:r>
            <a:endParaRPr spc="-25" dirty="0"/>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3335">
              <a:lnSpc>
                <a:spcPts val="1845"/>
              </a:lnSpc>
            </a:pPr>
            <a:r>
              <a:rPr lang="en-US" cap="small" spc="-75"/>
              <a:t>Dept. of Computer Science and Engineering (AI&amp;ML)</a:t>
            </a:r>
            <a:endParaRPr cap="small" spc="-60" dirty="0"/>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381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7" y="6642827"/>
            <a:ext cx="5654040" cy="215265"/>
          </a:xfrm>
          <a:custGeom>
            <a:avLst/>
            <a:gdLst/>
            <a:ahLst/>
            <a:cxnLst/>
            <a:rect l="l" t="t" r="r" b="b"/>
            <a:pathLst>
              <a:path w="5654040" h="215265">
                <a:moveTo>
                  <a:pt x="5654038" y="215169"/>
                </a:moveTo>
                <a:lnTo>
                  <a:pt x="0" y="215169"/>
                </a:lnTo>
                <a:lnTo>
                  <a:pt x="0" y="0"/>
                </a:lnTo>
                <a:lnTo>
                  <a:pt x="5654038" y="0"/>
                </a:lnTo>
                <a:lnTo>
                  <a:pt x="5654038" y="215169"/>
                </a:lnTo>
                <a:close/>
              </a:path>
            </a:pathLst>
          </a:custGeom>
          <a:solidFill>
            <a:srgbClr val="002060"/>
          </a:solidFill>
        </p:spPr>
        <p:txBody>
          <a:bodyPr wrap="square" lIns="0" tIns="0" rIns="0" bIns="0" rtlCol="0"/>
          <a:lstStyle/>
          <a:p>
            <a:endParaRPr/>
          </a:p>
        </p:txBody>
      </p:sp>
      <p:sp>
        <p:nvSpPr>
          <p:cNvPr id="17" name="bg object 17"/>
          <p:cNvSpPr/>
          <p:nvPr/>
        </p:nvSpPr>
        <p:spPr>
          <a:xfrm>
            <a:off x="6431276" y="6641865"/>
            <a:ext cx="5323205" cy="216535"/>
          </a:xfrm>
          <a:custGeom>
            <a:avLst/>
            <a:gdLst/>
            <a:ahLst/>
            <a:cxnLst/>
            <a:rect l="l" t="t" r="r" b="b"/>
            <a:pathLst>
              <a:path w="5323205" h="216534">
                <a:moveTo>
                  <a:pt x="5322915" y="216134"/>
                </a:moveTo>
                <a:lnTo>
                  <a:pt x="0" y="216134"/>
                </a:lnTo>
                <a:lnTo>
                  <a:pt x="0" y="0"/>
                </a:lnTo>
                <a:lnTo>
                  <a:pt x="5322915" y="0"/>
                </a:lnTo>
                <a:lnTo>
                  <a:pt x="5322915" y="216134"/>
                </a:lnTo>
                <a:close/>
              </a:path>
            </a:pathLst>
          </a:custGeom>
          <a:solidFill>
            <a:srgbClr val="008080"/>
          </a:solidFill>
        </p:spPr>
        <p:txBody>
          <a:bodyPr wrap="square" lIns="0" tIns="0" rIns="0" bIns="0" rtlCol="0"/>
          <a:lstStyle/>
          <a:p>
            <a:endParaRPr/>
          </a:p>
        </p:txBody>
      </p:sp>
      <p:sp>
        <p:nvSpPr>
          <p:cNvPr id="18" name="bg object 18"/>
          <p:cNvSpPr/>
          <p:nvPr/>
        </p:nvSpPr>
        <p:spPr>
          <a:xfrm>
            <a:off x="11754194" y="6641864"/>
            <a:ext cx="438150" cy="216535"/>
          </a:xfrm>
          <a:custGeom>
            <a:avLst/>
            <a:gdLst/>
            <a:ahLst/>
            <a:cxnLst/>
            <a:rect l="l" t="t" r="r" b="b"/>
            <a:pathLst>
              <a:path w="438150" h="216534">
                <a:moveTo>
                  <a:pt x="437802" y="216132"/>
                </a:moveTo>
                <a:lnTo>
                  <a:pt x="0" y="216132"/>
                </a:lnTo>
                <a:lnTo>
                  <a:pt x="0" y="0"/>
                </a:lnTo>
                <a:lnTo>
                  <a:pt x="437802" y="0"/>
                </a:lnTo>
                <a:lnTo>
                  <a:pt x="437802"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8" cy="681642"/>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7" y="215169"/>
                </a:moveTo>
                <a:lnTo>
                  <a:pt x="0" y="215169"/>
                </a:lnTo>
                <a:lnTo>
                  <a:pt x="0" y="0"/>
                </a:lnTo>
                <a:lnTo>
                  <a:pt x="777237" y="0"/>
                </a:lnTo>
                <a:lnTo>
                  <a:pt x="777237" y="215169"/>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7" y="232757"/>
                </a:moveTo>
                <a:lnTo>
                  <a:pt x="0" y="232757"/>
                </a:lnTo>
                <a:lnTo>
                  <a:pt x="0" y="0"/>
                </a:lnTo>
                <a:lnTo>
                  <a:pt x="12191997" y="0"/>
                </a:lnTo>
                <a:lnTo>
                  <a:pt x="12191997" y="232757"/>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76122"/>
            <a:ext cx="394652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72529" y="1071015"/>
            <a:ext cx="11450955" cy="235521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1783" y="6631089"/>
            <a:ext cx="533400" cy="230832"/>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lang="en-US" dirty="0"/>
              <a:t>B - 15</a:t>
            </a:r>
            <a:endParaRPr spc="-25" dirty="0"/>
          </a:p>
        </p:txBody>
      </p:sp>
      <p:sp>
        <p:nvSpPr>
          <p:cNvPr id="5" name="Holder 5"/>
          <p:cNvSpPr>
            <a:spLocks noGrp="1"/>
          </p:cNvSpPr>
          <p:nvPr>
            <p:ph type="dt" sz="half" idx="6"/>
          </p:nvPr>
        </p:nvSpPr>
        <p:spPr>
          <a:xfrm>
            <a:off x="1122363" y="6630698"/>
            <a:ext cx="4433061" cy="251216"/>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3335">
              <a:lnSpc>
                <a:spcPts val="1845"/>
              </a:lnSpc>
            </a:pPr>
            <a:r>
              <a:rPr lang="en-US" cap="small" spc="-75"/>
              <a:t>Dept. of Computer Science and Engineering (AI&amp;ML)</a:t>
            </a:r>
            <a:endParaRPr cap="small" spc="-60" dirty="0"/>
          </a:p>
        </p:txBody>
      </p:sp>
      <p:sp>
        <p:nvSpPr>
          <p:cNvPr id="6" name="Holder 6"/>
          <p:cNvSpPr>
            <a:spLocks noGrp="1"/>
          </p:cNvSpPr>
          <p:nvPr>
            <p:ph type="sldNum" sz="quarter" idx="7"/>
          </p:nvPr>
        </p:nvSpPr>
        <p:spPr>
          <a:xfrm>
            <a:off x="11833423" y="6630606"/>
            <a:ext cx="2540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381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23010"/>
            <a:ext cx="11415108" cy="223427"/>
            <a:chOff x="777237" y="6634571"/>
            <a:chExt cx="11415108" cy="223427"/>
          </a:xfrm>
        </p:grpSpPr>
        <p:sp>
          <p:nvSpPr>
            <p:cNvPr id="3" name="object 3"/>
            <p:cNvSpPr/>
            <p:nvPr/>
          </p:nvSpPr>
          <p:spPr>
            <a:xfrm>
              <a:off x="777237" y="6634571"/>
              <a:ext cx="5782310" cy="220979"/>
            </a:xfrm>
            <a:custGeom>
              <a:avLst/>
              <a:gdLst/>
              <a:ahLst/>
              <a:cxnLst/>
              <a:rect l="l" t="t" r="r" b="b"/>
              <a:pathLst>
                <a:path w="5782309" h="220979">
                  <a:moveTo>
                    <a:pt x="5781821" y="220978"/>
                  </a:moveTo>
                  <a:lnTo>
                    <a:pt x="0" y="220978"/>
                  </a:lnTo>
                  <a:lnTo>
                    <a:pt x="0" y="0"/>
                  </a:lnTo>
                  <a:lnTo>
                    <a:pt x="5781821" y="0"/>
                  </a:lnTo>
                  <a:lnTo>
                    <a:pt x="5781821" y="220978"/>
                  </a:lnTo>
                  <a:close/>
                </a:path>
              </a:pathLst>
            </a:custGeom>
            <a:solidFill>
              <a:srgbClr val="002060"/>
            </a:solidFill>
          </p:spPr>
          <p:txBody>
            <a:bodyPr wrap="square" lIns="0" tIns="0" rIns="0" bIns="0" rtlCol="0"/>
            <a:lstStyle/>
            <a:p>
              <a:endParaRPr/>
            </a:p>
          </p:txBody>
        </p:sp>
        <p:sp>
          <p:nvSpPr>
            <p:cNvPr id="4" name="object 4"/>
            <p:cNvSpPr/>
            <p:nvPr/>
          </p:nvSpPr>
          <p:spPr>
            <a:xfrm>
              <a:off x="6559061" y="6634571"/>
              <a:ext cx="5195570" cy="220979"/>
            </a:xfrm>
            <a:custGeom>
              <a:avLst/>
              <a:gdLst/>
              <a:ahLst/>
              <a:cxnLst/>
              <a:rect l="l" t="t" r="r" b="b"/>
              <a:pathLst>
                <a:path w="5195570" h="220979">
                  <a:moveTo>
                    <a:pt x="5195132" y="220978"/>
                  </a:moveTo>
                  <a:lnTo>
                    <a:pt x="0" y="220978"/>
                  </a:lnTo>
                  <a:lnTo>
                    <a:pt x="0" y="0"/>
                  </a:lnTo>
                  <a:lnTo>
                    <a:pt x="5195132" y="0"/>
                  </a:lnTo>
                  <a:lnTo>
                    <a:pt x="5195132" y="220978"/>
                  </a:lnTo>
                  <a:close/>
                </a:path>
              </a:pathLst>
            </a:custGeom>
            <a:solidFill>
              <a:srgbClr val="008080"/>
            </a:solidFill>
          </p:spPr>
          <p:txBody>
            <a:bodyPr wrap="square" lIns="0" tIns="0" rIns="0" bIns="0" rtlCol="0"/>
            <a:lstStyle/>
            <a:p>
              <a:endParaRPr/>
            </a:p>
          </p:txBody>
        </p:sp>
        <p:sp>
          <p:nvSpPr>
            <p:cNvPr id="5" name="object 5"/>
            <p:cNvSpPr/>
            <p:nvPr/>
          </p:nvSpPr>
          <p:spPr>
            <a:xfrm>
              <a:off x="11754195" y="6637019"/>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0" y="11470"/>
            <a:ext cx="12192000" cy="233045"/>
          </a:xfrm>
          <a:custGeom>
            <a:avLst/>
            <a:gdLst/>
            <a:ahLst/>
            <a:cxnLst/>
            <a:rect l="l" t="t" r="r" b="b"/>
            <a:pathLst>
              <a:path w="12192000" h="233045">
                <a:moveTo>
                  <a:pt x="12191997" y="232757"/>
                </a:moveTo>
                <a:lnTo>
                  <a:pt x="0" y="232757"/>
                </a:lnTo>
                <a:lnTo>
                  <a:pt x="0" y="0"/>
                </a:lnTo>
                <a:lnTo>
                  <a:pt x="12191997" y="0"/>
                </a:lnTo>
                <a:lnTo>
                  <a:pt x="12191997" y="232757"/>
                </a:lnTo>
                <a:close/>
              </a:path>
            </a:pathLst>
          </a:custGeom>
          <a:solidFill>
            <a:srgbClr val="006666"/>
          </a:solidFill>
        </p:spPr>
        <p:txBody>
          <a:bodyPr wrap="square" lIns="0" tIns="0" rIns="0" bIns="0" rtlCol="0"/>
          <a:lstStyle/>
          <a:p>
            <a:endParaRPr/>
          </a:p>
        </p:txBody>
      </p:sp>
      <p:sp>
        <p:nvSpPr>
          <p:cNvPr id="7" name="object 7"/>
          <p:cNvSpPr/>
          <p:nvPr/>
        </p:nvSpPr>
        <p:spPr>
          <a:xfrm>
            <a:off x="0" y="6634571"/>
            <a:ext cx="777240" cy="221615"/>
          </a:xfrm>
          <a:custGeom>
            <a:avLst/>
            <a:gdLst/>
            <a:ahLst/>
            <a:cxnLst/>
            <a:rect l="l" t="t" r="r" b="b"/>
            <a:pathLst>
              <a:path w="777240" h="221615">
                <a:moveTo>
                  <a:pt x="777237" y="221521"/>
                </a:moveTo>
                <a:lnTo>
                  <a:pt x="0" y="221521"/>
                </a:lnTo>
                <a:lnTo>
                  <a:pt x="0" y="0"/>
                </a:lnTo>
                <a:lnTo>
                  <a:pt x="777237" y="0"/>
                </a:lnTo>
                <a:lnTo>
                  <a:pt x="777237" y="221521"/>
                </a:lnTo>
                <a:close/>
              </a:path>
            </a:pathLst>
          </a:custGeom>
          <a:solidFill>
            <a:srgbClr val="C55A11"/>
          </a:solidFill>
        </p:spPr>
        <p:txBody>
          <a:bodyPr wrap="square" lIns="0" tIns="0" rIns="0" bIns="0" rtlCol="0"/>
          <a:lstStyle/>
          <a:p>
            <a:endParaRPr/>
          </a:p>
        </p:txBody>
      </p:sp>
      <p:sp>
        <p:nvSpPr>
          <p:cNvPr id="8" name="object 8"/>
          <p:cNvSpPr txBox="1"/>
          <p:nvPr/>
        </p:nvSpPr>
        <p:spPr>
          <a:xfrm>
            <a:off x="5240947" y="1638910"/>
            <a:ext cx="2790634" cy="527067"/>
          </a:xfrm>
          <a:prstGeom prst="rect">
            <a:avLst/>
          </a:prstGeom>
        </p:spPr>
        <p:txBody>
          <a:bodyPr vert="horz" wrap="square" lIns="0" tIns="36830" rIns="0" bIns="0" rtlCol="0">
            <a:spAutoFit/>
          </a:bodyPr>
          <a:lstStyle/>
          <a:p>
            <a:pPr algn="ctr">
              <a:lnSpc>
                <a:spcPct val="100000"/>
              </a:lnSpc>
              <a:spcBef>
                <a:spcPts val="290"/>
              </a:spcBef>
            </a:pPr>
            <a:r>
              <a:rPr lang="en-IN" sz="2000" dirty="0">
                <a:latin typeface="Times New Roman"/>
                <a:cs typeface="Times New Roman"/>
              </a:rPr>
              <a:t>M. SIMHADRI</a:t>
            </a:r>
            <a:endParaRPr sz="2000" dirty="0">
              <a:latin typeface="Times New Roman"/>
              <a:cs typeface="Times New Roman"/>
            </a:endParaRPr>
          </a:p>
          <a:p>
            <a:pPr marL="4445" algn="ctr">
              <a:lnSpc>
                <a:spcPct val="100000"/>
              </a:lnSpc>
              <a:spcBef>
                <a:spcPts val="85"/>
              </a:spcBef>
            </a:pPr>
            <a:r>
              <a:rPr sz="1100" dirty="0">
                <a:latin typeface="Times New Roman"/>
                <a:cs typeface="Times New Roman"/>
              </a:rPr>
              <a:t>Roll</a:t>
            </a:r>
            <a:r>
              <a:rPr sz="1100" spc="-25" dirty="0">
                <a:latin typeface="Times New Roman"/>
                <a:cs typeface="Times New Roman"/>
              </a:rPr>
              <a:t> </a:t>
            </a:r>
            <a:r>
              <a:rPr sz="1100" dirty="0">
                <a:latin typeface="Times New Roman"/>
                <a:cs typeface="Times New Roman"/>
              </a:rPr>
              <a:t>No.</a:t>
            </a:r>
            <a:r>
              <a:rPr sz="1100" spc="-15" dirty="0">
                <a:latin typeface="Times New Roman"/>
                <a:cs typeface="Times New Roman"/>
              </a:rPr>
              <a:t> </a:t>
            </a:r>
            <a:r>
              <a:rPr sz="1100" spc="-10" dirty="0">
                <a:latin typeface="Times New Roman"/>
                <a:cs typeface="Times New Roman"/>
              </a:rPr>
              <a:t>2</a:t>
            </a:r>
            <a:r>
              <a:rPr lang="en-IN" sz="1100" spc="-10" dirty="0">
                <a:latin typeface="Times New Roman"/>
                <a:cs typeface="Times New Roman"/>
              </a:rPr>
              <a:t>34G5A3309</a:t>
            </a:r>
            <a:endParaRPr sz="1100" dirty="0">
              <a:latin typeface="Times New Roman"/>
              <a:cs typeface="Times New Roman"/>
            </a:endParaRPr>
          </a:p>
        </p:txBody>
      </p:sp>
      <p:sp>
        <p:nvSpPr>
          <p:cNvPr id="9" name="object 9"/>
          <p:cNvSpPr txBox="1"/>
          <p:nvPr/>
        </p:nvSpPr>
        <p:spPr>
          <a:xfrm>
            <a:off x="5082451" y="2407338"/>
            <a:ext cx="1899211" cy="259045"/>
          </a:xfrm>
          <a:prstGeom prst="rect">
            <a:avLst/>
          </a:prstGeom>
        </p:spPr>
        <p:txBody>
          <a:bodyPr vert="horz" wrap="square" lIns="0" tIns="12700" rIns="0" bIns="0" rtlCol="0">
            <a:spAutoFit/>
          </a:bodyPr>
          <a:lstStyle/>
          <a:p>
            <a:pPr marL="12700">
              <a:lnSpc>
                <a:spcPct val="100000"/>
              </a:lnSpc>
              <a:spcBef>
                <a:spcPts val="100"/>
              </a:spcBef>
            </a:pPr>
            <a:r>
              <a:rPr sz="1600" i="1" dirty="0">
                <a:latin typeface="Times New Roman"/>
                <a:cs typeface="Times New Roman"/>
              </a:rPr>
              <a:t>Under</a:t>
            </a:r>
            <a:r>
              <a:rPr sz="1600" i="1" spc="-35" dirty="0">
                <a:latin typeface="Times New Roman"/>
                <a:cs typeface="Times New Roman"/>
              </a:rPr>
              <a:t> </a:t>
            </a:r>
            <a:r>
              <a:rPr sz="1600" i="1" dirty="0">
                <a:latin typeface="Times New Roman"/>
                <a:cs typeface="Times New Roman"/>
              </a:rPr>
              <a:t>the</a:t>
            </a:r>
            <a:r>
              <a:rPr sz="1600" i="1" spc="-35" dirty="0">
                <a:latin typeface="Times New Roman"/>
                <a:cs typeface="Times New Roman"/>
              </a:rPr>
              <a:t> </a:t>
            </a:r>
            <a:r>
              <a:rPr sz="1600" i="1" spc="-10" dirty="0">
                <a:latin typeface="Times New Roman"/>
                <a:cs typeface="Times New Roman"/>
              </a:rPr>
              <a:t>guidance</a:t>
            </a:r>
            <a:r>
              <a:rPr sz="1600" i="1" spc="-35" dirty="0">
                <a:latin typeface="Times New Roman"/>
                <a:cs typeface="Times New Roman"/>
              </a:rPr>
              <a:t> </a:t>
            </a:r>
            <a:r>
              <a:rPr sz="1600" i="1" spc="-25" dirty="0">
                <a:latin typeface="Times New Roman"/>
                <a:cs typeface="Times New Roman"/>
              </a:rPr>
              <a:t>of</a:t>
            </a:r>
            <a:endParaRPr sz="1600" dirty="0">
              <a:latin typeface="Times New Roman"/>
              <a:cs typeface="Times New Roman"/>
            </a:endParaRPr>
          </a:p>
        </p:txBody>
      </p:sp>
      <p:sp>
        <p:nvSpPr>
          <p:cNvPr id="10" name="object 10"/>
          <p:cNvSpPr txBox="1"/>
          <p:nvPr/>
        </p:nvSpPr>
        <p:spPr>
          <a:xfrm>
            <a:off x="4971943" y="2689568"/>
            <a:ext cx="1718427" cy="382156"/>
          </a:xfrm>
          <a:prstGeom prst="rect">
            <a:avLst/>
          </a:prstGeom>
        </p:spPr>
        <p:txBody>
          <a:bodyPr vert="horz" wrap="square" lIns="0" tIns="12700" rIns="0" bIns="0" rtlCol="0">
            <a:spAutoFit/>
          </a:bodyPr>
          <a:lstStyle/>
          <a:p>
            <a:pPr marL="12700" algn="ctr">
              <a:lnSpc>
                <a:spcPct val="100000"/>
              </a:lnSpc>
              <a:spcBef>
                <a:spcPts val="100"/>
              </a:spcBef>
            </a:pPr>
            <a:r>
              <a:rPr sz="2400" spc="-135" dirty="0">
                <a:latin typeface="Times New Roman"/>
                <a:cs typeface="Times New Roman"/>
              </a:rPr>
              <a:t> </a:t>
            </a:r>
            <a:r>
              <a:rPr lang="en-IN" sz="2400" spc="-25" dirty="0">
                <a:latin typeface="Times New Roman"/>
                <a:cs typeface="Times New Roman"/>
              </a:rPr>
              <a:t>G. Gayathri</a:t>
            </a:r>
            <a:endParaRPr sz="2400" dirty="0">
              <a:latin typeface="Times New Roman"/>
              <a:cs typeface="Times New Roman"/>
            </a:endParaRPr>
          </a:p>
        </p:txBody>
      </p:sp>
      <p:sp>
        <p:nvSpPr>
          <p:cNvPr id="11" name="object 11"/>
          <p:cNvSpPr txBox="1"/>
          <p:nvPr/>
        </p:nvSpPr>
        <p:spPr>
          <a:xfrm>
            <a:off x="6330267" y="3031940"/>
            <a:ext cx="2826582" cy="259045"/>
          </a:xfrm>
          <a:prstGeom prst="rect">
            <a:avLst/>
          </a:prstGeom>
        </p:spPr>
        <p:txBody>
          <a:bodyPr vert="horz" wrap="square" lIns="0" tIns="12700" rIns="0" bIns="0" rtlCol="0">
            <a:spAutoFit/>
          </a:bodyPr>
          <a:lstStyle/>
          <a:p>
            <a:pPr marL="12700">
              <a:lnSpc>
                <a:spcPct val="100000"/>
              </a:lnSpc>
              <a:spcBef>
                <a:spcPts val="100"/>
              </a:spcBef>
            </a:pPr>
            <a:r>
              <a:rPr lang="en-IN" sz="1600" spc="5" dirty="0" err="1">
                <a:latin typeface="Times New Roman"/>
                <a:cs typeface="Times New Roman"/>
              </a:rPr>
              <a:t>M.Tech</a:t>
            </a:r>
            <a:r>
              <a:rPr lang="en-IN" sz="1600" spc="5" dirty="0">
                <a:latin typeface="Times New Roman"/>
                <a:cs typeface="Times New Roman"/>
              </a:rPr>
              <a:t> , </a:t>
            </a:r>
            <a:r>
              <a:rPr lang="en-IN" sz="1600" spc="-15" baseline="1984" dirty="0">
                <a:latin typeface="Times New Roman"/>
                <a:cs typeface="Times New Roman"/>
              </a:rPr>
              <a:t>Assistant </a:t>
            </a:r>
            <a:r>
              <a:rPr lang="en-IN" sz="1600" spc="7" baseline="1984" dirty="0">
                <a:latin typeface="Times New Roman"/>
                <a:cs typeface="Times New Roman"/>
              </a:rPr>
              <a:t>Pr</a:t>
            </a:r>
            <a:r>
              <a:rPr lang="en-IN" sz="1600" spc="5" baseline="1984" dirty="0">
                <a:latin typeface="Times New Roman"/>
                <a:cs typeface="Times New Roman"/>
              </a:rPr>
              <a:t>ofessor.</a:t>
            </a:r>
            <a:endParaRPr sz="1600" dirty="0">
              <a:latin typeface="Times New Roman"/>
              <a:cs typeface="Times New Roman"/>
            </a:endParaRPr>
          </a:p>
        </p:txBody>
      </p:sp>
      <p:sp>
        <p:nvSpPr>
          <p:cNvPr id="12" name="object 12"/>
          <p:cNvSpPr txBox="1"/>
          <p:nvPr/>
        </p:nvSpPr>
        <p:spPr>
          <a:xfrm>
            <a:off x="2753164" y="5096630"/>
            <a:ext cx="6677025" cy="1315745"/>
          </a:xfrm>
          <a:prstGeom prst="rect">
            <a:avLst/>
          </a:prstGeom>
        </p:spPr>
        <p:txBody>
          <a:bodyPr vert="horz" wrap="square" lIns="0" tIns="12700" rIns="0" bIns="0" rtlCol="0">
            <a:spAutoFit/>
          </a:bodyPr>
          <a:lstStyle/>
          <a:p>
            <a:pPr marL="6985" algn="ctr">
              <a:lnSpc>
                <a:spcPct val="100000"/>
              </a:lnSpc>
              <a:spcBef>
                <a:spcPts val="100"/>
              </a:spcBef>
            </a:pPr>
            <a:r>
              <a:rPr sz="1850" spc="-10" dirty="0">
                <a:latin typeface="Times New Roman"/>
                <a:cs typeface="Times New Roman"/>
              </a:rPr>
              <a:t>Department</a:t>
            </a:r>
            <a:r>
              <a:rPr sz="1850" spc="-35" dirty="0">
                <a:latin typeface="Times New Roman"/>
                <a:cs typeface="Times New Roman"/>
              </a:rPr>
              <a:t> </a:t>
            </a:r>
            <a:r>
              <a:rPr sz="1850" dirty="0">
                <a:latin typeface="Times New Roman"/>
                <a:cs typeface="Times New Roman"/>
              </a:rPr>
              <a:t>of</a:t>
            </a:r>
            <a:r>
              <a:rPr sz="1850" spc="-30" dirty="0">
                <a:latin typeface="Times New Roman"/>
                <a:cs typeface="Times New Roman"/>
              </a:rPr>
              <a:t> </a:t>
            </a:r>
            <a:r>
              <a:rPr sz="1850" dirty="0">
                <a:latin typeface="Times New Roman"/>
                <a:cs typeface="Times New Roman"/>
              </a:rPr>
              <a:t>Computer</a:t>
            </a:r>
            <a:r>
              <a:rPr sz="1850" spc="-25" dirty="0">
                <a:latin typeface="Times New Roman"/>
                <a:cs typeface="Times New Roman"/>
              </a:rPr>
              <a:t> </a:t>
            </a:r>
            <a:r>
              <a:rPr sz="1850" dirty="0">
                <a:latin typeface="Times New Roman"/>
                <a:cs typeface="Times New Roman"/>
              </a:rPr>
              <a:t>Science</a:t>
            </a:r>
            <a:r>
              <a:rPr sz="1850" spc="-35" dirty="0">
                <a:latin typeface="Times New Roman"/>
                <a:cs typeface="Times New Roman"/>
              </a:rPr>
              <a:t> </a:t>
            </a:r>
            <a:r>
              <a:rPr sz="1850" dirty="0">
                <a:latin typeface="Times New Roman"/>
                <a:cs typeface="Times New Roman"/>
              </a:rPr>
              <a:t>and</a:t>
            </a:r>
            <a:r>
              <a:rPr sz="1850" spc="-25" dirty="0">
                <a:latin typeface="Times New Roman"/>
                <a:cs typeface="Times New Roman"/>
              </a:rPr>
              <a:t> </a:t>
            </a:r>
            <a:r>
              <a:rPr sz="1850" dirty="0">
                <a:latin typeface="Times New Roman"/>
                <a:cs typeface="Times New Roman"/>
              </a:rPr>
              <a:t>Engineering</a:t>
            </a:r>
            <a:r>
              <a:rPr sz="1850" spc="-30" dirty="0">
                <a:latin typeface="Times New Roman"/>
                <a:cs typeface="Times New Roman"/>
              </a:rPr>
              <a:t> </a:t>
            </a:r>
            <a:r>
              <a:rPr sz="1850" dirty="0">
                <a:latin typeface="Times New Roman"/>
                <a:cs typeface="Times New Roman"/>
              </a:rPr>
              <a:t>(AI</a:t>
            </a:r>
            <a:r>
              <a:rPr sz="1850" spc="-25" dirty="0">
                <a:latin typeface="Times New Roman"/>
                <a:cs typeface="Times New Roman"/>
              </a:rPr>
              <a:t> </a:t>
            </a:r>
            <a:r>
              <a:rPr sz="1850" dirty="0">
                <a:latin typeface="Times New Roman"/>
                <a:cs typeface="Times New Roman"/>
              </a:rPr>
              <a:t>&amp;</a:t>
            </a:r>
            <a:r>
              <a:rPr sz="1850" spc="-35"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ct val="100000"/>
              </a:lnSpc>
              <a:spcBef>
                <a:spcPts val="105"/>
              </a:spcBef>
            </a:pPr>
            <a:r>
              <a:rPr lang="en-US" sz="2400" dirty="0">
                <a:solidFill>
                  <a:srgbClr val="FF0000"/>
                </a:solidFill>
                <a:latin typeface="Times New Roman"/>
                <a:cs typeface="Times New Roman"/>
              </a:rPr>
              <a:t>Srinivasa Ramanujan Institute of Technology</a:t>
            </a:r>
            <a:endParaRPr sz="2400" dirty="0">
              <a:latin typeface="Times New Roman"/>
              <a:cs typeface="Times New Roman"/>
            </a:endParaRPr>
          </a:p>
          <a:p>
            <a:pPr marL="12700" algn="ctr">
              <a:lnSpc>
                <a:spcPct val="100000"/>
              </a:lnSpc>
              <a:spcBef>
                <a:spcPts val="420"/>
              </a:spcBef>
            </a:pPr>
            <a:r>
              <a:rPr sz="950" b="1" dirty="0">
                <a:latin typeface="Times New Roman"/>
                <a:cs typeface="Times New Roman"/>
              </a:rPr>
              <a:t>(Affiliated</a:t>
            </a:r>
            <a:r>
              <a:rPr sz="950" b="1" spc="-35" dirty="0">
                <a:latin typeface="Times New Roman"/>
                <a:cs typeface="Times New Roman"/>
              </a:rPr>
              <a:t> </a:t>
            </a:r>
            <a:r>
              <a:rPr sz="950" b="1" dirty="0">
                <a:latin typeface="Times New Roman"/>
                <a:cs typeface="Times New Roman"/>
              </a:rPr>
              <a:t>to</a:t>
            </a:r>
            <a:r>
              <a:rPr sz="950" b="1" spc="-10" dirty="0">
                <a:latin typeface="Times New Roman"/>
                <a:cs typeface="Times New Roman"/>
              </a:rPr>
              <a:t> </a:t>
            </a:r>
            <a:r>
              <a:rPr sz="950" b="1" spc="-20" dirty="0">
                <a:latin typeface="Times New Roman"/>
                <a:cs typeface="Times New Roman"/>
              </a:rPr>
              <a:t>JNTUA</a:t>
            </a:r>
            <a:r>
              <a:rPr sz="950" b="1" spc="-55" dirty="0">
                <a:latin typeface="Times New Roman"/>
                <a:cs typeface="Times New Roman"/>
              </a:rPr>
              <a:t> </a:t>
            </a:r>
            <a:r>
              <a:rPr sz="950" b="1" dirty="0">
                <a:latin typeface="Times New Roman"/>
                <a:cs typeface="Times New Roman"/>
              </a:rPr>
              <a:t>&amp;</a:t>
            </a:r>
            <a:r>
              <a:rPr sz="950" b="1" spc="-60" dirty="0">
                <a:latin typeface="Times New Roman"/>
                <a:cs typeface="Times New Roman"/>
              </a:rPr>
              <a:t> </a:t>
            </a:r>
            <a:r>
              <a:rPr sz="950" b="1" dirty="0">
                <a:latin typeface="Times New Roman"/>
                <a:cs typeface="Times New Roman"/>
              </a:rPr>
              <a:t>Approved</a:t>
            </a:r>
            <a:r>
              <a:rPr sz="950" b="1" spc="-10" dirty="0">
                <a:latin typeface="Times New Roman"/>
                <a:cs typeface="Times New Roman"/>
              </a:rPr>
              <a:t> </a:t>
            </a:r>
            <a:r>
              <a:rPr sz="950" b="1" dirty="0">
                <a:latin typeface="Times New Roman"/>
                <a:cs typeface="Times New Roman"/>
              </a:rPr>
              <a:t>by</a:t>
            </a:r>
            <a:r>
              <a:rPr sz="950" b="1" spc="-60" dirty="0">
                <a:latin typeface="Times New Roman"/>
                <a:cs typeface="Times New Roman"/>
              </a:rPr>
              <a:t> </a:t>
            </a:r>
            <a:r>
              <a:rPr sz="950" b="1" dirty="0">
                <a:latin typeface="Times New Roman"/>
                <a:cs typeface="Times New Roman"/>
              </a:rPr>
              <a:t>AICTE)</a:t>
            </a:r>
            <a:r>
              <a:rPr sz="950" b="1" spc="-10" dirty="0">
                <a:latin typeface="Times New Roman"/>
                <a:cs typeface="Times New Roman"/>
              </a:rPr>
              <a:t> (Accredited </a:t>
            </a:r>
            <a:r>
              <a:rPr sz="950" b="1" dirty="0">
                <a:latin typeface="Times New Roman"/>
                <a:cs typeface="Times New Roman"/>
              </a:rPr>
              <a:t>by</a:t>
            </a:r>
            <a:r>
              <a:rPr sz="950" b="1" spc="-10" dirty="0">
                <a:latin typeface="Times New Roman"/>
                <a:cs typeface="Times New Roman"/>
              </a:rPr>
              <a:t> </a:t>
            </a:r>
            <a:r>
              <a:rPr sz="950" b="1" dirty="0">
                <a:latin typeface="Times New Roman"/>
                <a:cs typeface="Times New Roman"/>
              </a:rPr>
              <a:t>NAAC</a:t>
            </a:r>
            <a:r>
              <a:rPr sz="950" b="1" spc="-10" dirty="0">
                <a:latin typeface="Times New Roman"/>
                <a:cs typeface="Times New Roman"/>
              </a:rPr>
              <a:t> </a:t>
            </a:r>
            <a:r>
              <a:rPr sz="950" b="1" dirty="0">
                <a:latin typeface="Times New Roman"/>
                <a:cs typeface="Times New Roman"/>
              </a:rPr>
              <a:t>with</a:t>
            </a:r>
            <a:r>
              <a:rPr sz="950" b="1" spc="-15" dirty="0">
                <a:latin typeface="Times New Roman"/>
                <a:cs typeface="Times New Roman"/>
              </a:rPr>
              <a:t> </a:t>
            </a:r>
            <a:r>
              <a:rPr sz="950" b="1" spc="-35" dirty="0">
                <a:latin typeface="Times New Roman"/>
                <a:cs typeface="Times New Roman"/>
              </a:rPr>
              <a:t>‘A’</a:t>
            </a:r>
            <a:r>
              <a:rPr sz="950" b="1" spc="-75" dirty="0">
                <a:latin typeface="Times New Roman"/>
                <a:cs typeface="Times New Roman"/>
              </a:rPr>
              <a:t> </a:t>
            </a:r>
            <a:r>
              <a:rPr sz="950" b="1" dirty="0">
                <a:latin typeface="Times New Roman"/>
                <a:cs typeface="Times New Roman"/>
              </a:rPr>
              <a:t>Grade</a:t>
            </a:r>
            <a:r>
              <a:rPr sz="950" b="1" spc="-10" dirty="0">
                <a:latin typeface="Times New Roman"/>
                <a:cs typeface="Times New Roman"/>
              </a:rPr>
              <a:t> </a:t>
            </a:r>
            <a:r>
              <a:rPr sz="950" b="1" dirty="0">
                <a:latin typeface="Times New Roman"/>
                <a:cs typeface="Times New Roman"/>
              </a:rPr>
              <a:t>&amp;</a:t>
            </a:r>
            <a:r>
              <a:rPr sz="950" b="1" spc="-60" dirty="0">
                <a:latin typeface="Times New Roman"/>
                <a:cs typeface="Times New Roman"/>
              </a:rPr>
              <a:t> </a:t>
            </a:r>
            <a:r>
              <a:rPr sz="950" b="1" spc="-10" dirty="0">
                <a:latin typeface="Times New Roman"/>
                <a:cs typeface="Times New Roman"/>
              </a:rPr>
              <a:t>Accredited</a:t>
            </a:r>
            <a:r>
              <a:rPr sz="950" b="1" spc="-15" dirty="0">
                <a:latin typeface="Times New Roman"/>
                <a:cs typeface="Times New Roman"/>
              </a:rPr>
              <a:t> </a:t>
            </a:r>
            <a:r>
              <a:rPr sz="950" b="1" dirty="0">
                <a:latin typeface="Times New Roman"/>
                <a:cs typeface="Times New Roman"/>
              </a:rPr>
              <a:t>by</a:t>
            </a:r>
            <a:r>
              <a:rPr sz="950" b="1" spc="-5" dirty="0">
                <a:latin typeface="Times New Roman"/>
                <a:cs typeface="Times New Roman"/>
              </a:rPr>
              <a:t> </a:t>
            </a:r>
            <a:r>
              <a:rPr sz="950" b="1" spc="-20" dirty="0">
                <a:latin typeface="Times New Roman"/>
                <a:cs typeface="Times New Roman"/>
              </a:rPr>
              <a:t>NBA</a:t>
            </a:r>
            <a:r>
              <a:rPr sz="950" b="1" spc="-55" dirty="0">
                <a:latin typeface="Times New Roman"/>
                <a:cs typeface="Times New Roman"/>
              </a:rPr>
              <a:t> </a:t>
            </a:r>
            <a:r>
              <a:rPr sz="950" b="1" dirty="0">
                <a:latin typeface="Times New Roman"/>
                <a:cs typeface="Times New Roman"/>
              </a:rPr>
              <a:t>(EEE,</a:t>
            </a:r>
            <a:r>
              <a:rPr sz="950" b="1" spc="-10" dirty="0">
                <a:latin typeface="Times New Roman"/>
                <a:cs typeface="Times New Roman"/>
              </a:rPr>
              <a:t> </a:t>
            </a:r>
            <a:r>
              <a:rPr sz="950" b="1" dirty="0">
                <a:latin typeface="Times New Roman"/>
                <a:cs typeface="Times New Roman"/>
              </a:rPr>
              <a:t>ECE</a:t>
            </a:r>
            <a:r>
              <a:rPr sz="950" b="1" spc="-10" dirty="0">
                <a:latin typeface="Times New Roman"/>
                <a:cs typeface="Times New Roman"/>
              </a:rPr>
              <a:t> </a:t>
            </a:r>
            <a:r>
              <a:rPr sz="950" b="1" dirty="0">
                <a:latin typeface="Times New Roman"/>
                <a:cs typeface="Times New Roman"/>
              </a:rPr>
              <a:t>&amp;</a:t>
            </a:r>
            <a:r>
              <a:rPr sz="950" b="1" spc="-10" dirty="0">
                <a:latin typeface="Times New Roman"/>
                <a:cs typeface="Times New Roman"/>
              </a:rPr>
              <a:t> </a:t>
            </a:r>
            <a:r>
              <a:rPr sz="950" b="1" spc="-20" dirty="0">
                <a:latin typeface="Times New Roman"/>
                <a:cs typeface="Times New Roman"/>
              </a:rPr>
              <a:t>CSE)</a:t>
            </a:r>
            <a:endParaRPr sz="950" dirty="0">
              <a:latin typeface="Times New Roman"/>
              <a:cs typeface="Times New Roman"/>
            </a:endParaRPr>
          </a:p>
          <a:p>
            <a:pPr marL="10160" algn="ctr">
              <a:lnSpc>
                <a:spcPct val="100000"/>
              </a:lnSpc>
              <a:spcBef>
                <a:spcPts val="145"/>
              </a:spcBef>
            </a:pPr>
            <a:r>
              <a:rPr sz="1000" b="1" spc="-10" dirty="0">
                <a:latin typeface="Times New Roman"/>
                <a:cs typeface="Times New Roman"/>
              </a:rPr>
              <a:t>Rotarypuram</a:t>
            </a:r>
            <a:r>
              <a:rPr sz="1000" b="1" spc="-15" dirty="0">
                <a:latin typeface="Times New Roman"/>
                <a:cs typeface="Times New Roman"/>
              </a:rPr>
              <a:t> </a:t>
            </a:r>
            <a:r>
              <a:rPr sz="1000" b="1" dirty="0">
                <a:latin typeface="Times New Roman"/>
                <a:cs typeface="Times New Roman"/>
              </a:rPr>
              <a:t>Village,</a:t>
            </a:r>
            <a:r>
              <a:rPr sz="1000" b="1" spc="10" dirty="0">
                <a:latin typeface="Times New Roman"/>
                <a:cs typeface="Times New Roman"/>
              </a:rPr>
              <a:t> </a:t>
            </a:r>
            <a:r>
              <a:rPr sz="1000" b="1" dirty="0">
                <a:latin typeface="Times New Roman"/>
                <a:cs typeface="Times New Roman"/>
              </a:rPr>
              <a:t>B</a:t>
            </a:r>
            <a:r>
              <a:rPr sz="1000" b="1" spc="5" dirty="0">
                <a:latin typeface="Times New Roman"/>
                <a:cs typeface="Times New Roman"/>
              </a:rPr>
              <a:t> </a:t>
            </a:r>
            <a:r>
              <a:rPr sz="1000" b="1" dirty="0">
                <a:latin typeface="Times New Roman"/>
                <a:cs typeface="Times New Roman"/>
              </a:rPr>
              <a:t>K</a:t>
            </a:r>
            <a:r>
              <a:rPr sz="1000" b="1" spc="5" dirty="0">
                <a:latin typeface="Times New Roman"/>
                <a:cs typeface="Times New Roman"/>
              </a:rPr>
              <a:t> </a:t>
            </a:r>
            <a:r>
              <a:rPr sz="1000" b="1" dirty="0">
                <a:latin typeface="Times New Roman"/>
                <a:cs typeface="Times New Roman"/>
              </a:rPr>
              <a:t>Samudram</a:t>
            </a:r>
            <a:r>
              <a:rPr sz="1000" b="1" spc="10" dirty="0">
                <a:latin typeface="Times New Roman"/>
                <a:cs typeface="Times New Roman"/>
              </a:rPr>
              <a:t> </a:t>
            </a:r>
            <a:r>
              <a:rPr sz="1000" b="1" dirty="0">
                <a:latin typeface="Times New Roman"/>
                <a:cs typeface="Times New Roman"/>
              </a:rPr>
              <a:t>Mandal,</a:t>
            </a:r>
            <a:r>
              <a:rPr sz="1000" b="1" spc="-50" dirty="0">
                <a:latin typeface="Times New Roman"/>
                <a:cs typeface="Times New Roman"/>
              </a:rPr>
              <a:t> </a:t>
            </a:r>
            <a:r>
              <a:rPr sz="1000" b="1" spc="-10" dirty="0">
                <a:latin typeface="Times New Roman"/>
                <a:cs typeface="Times New Roman"/>
              </a:rPr>
              <a:t>Ananthapuramu</a:t>
            </a:r>
            <a:r>
              <a:rPr sz="1000" b="1" spc="5" dirty="0">
                <a:latin typeface="Times New Roman"/>
                <a:cs typeface="Times New Roman"/>
              </a:rPr>
              <a:t> </a:t>
            </a:r>
            <a:r>
              <a:rPr sz="1000" b="1" dirty="0">
                <a:latin typeface="Times New Roman"/>
                <a:cs typeface="Times New Roman"/>
              </a:rPr>
              <a:t>–</a:t>
            </a:r>
            <a:r>
              <a:rPr sz="1000" b="1" spc="10"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8890" algn="ctr">
              <a:lnSpc>
                <a:spcPct val="100000"/>
              </a:lnSpc>
              <a:spcBef>
                <a:spcPts val="840"/>
              </a:spcBef>
            </a:pPr>
            <a:r>
              <a:rPr sz="1100" b="1" dirty="0">
                <a:solidFill>
                  <a:srgbClr val="1E4E78"/>
                </a:solidFill>
                <a:latin typeface="Times New Roman"/>
                <a:cs typeface="Times New Roman"/>
              </a:rPr>
              <a:t>2</a:t>
            </a:r>
            <a:r>
              <a:rPr lang="en-IN" sz="1100" b="1" dirty="0">
                <a:solidFill>
                  <a:srgbClr val="1E4E78"/>
                </a:solidFill>
                <a:latin typeface="Times New Roman"/>
                <a:cs typeface="Times New Roman"/>
              </a:rPr>
              <a:t>02</a:t>
            </a:r>
            <a:r>
              <a:rPr sz="1100" b="1" dirty="0">
                <a:solidFill>
                  <a:srgbClr val="1E4E78"/>
                </a:solidFill>
                <a:latin typeface="Times New Roman"/>
                <a:cs typeface="Times New Roman"/>
              </a:rPr>
              <a:t>5 - </a:t>
            </a:r>
            <a:r>
              <a:rPr sz="1100" b="1" spc="-20" dirty="0">
                <a:solidFill>
                  <a:srgbClr val="1E4E78"/>
                </a:solidFill>
                <a:latin typeface="Times New Roman"/>
                <a:cs typeface="Times New Roman"/>
              </a:rPr>
              <a:t>2</a:t>
            </a:r>
            <a:r>
              <a:rPr lang="en-IN" sz="1100" b="1" spc="-20">
                <a:solidFill>
                  <a:srgbClr val="1E4E78"/>
                </a:solidFill>
                <a:latin typeface="Times New Roman"/>
                <a:cs typeface="Times New Roman"/>
              </a:rPr>
              <a:t>02</a:t>
            </a:r>
            <a:r>
              <a:rPr sz="1100" b="1" spc="-20">
                <a:solidFill>
                  <a:srgbClr val="1E4E78"/>
                </a:solidFill>
                <a:latin typeface="Times New Roman"/>
                <a:cs typeface="Times New Roman"/>
              </a:rPr>
              <a:t>6</a:t>
            </a:r>
            <a:endParaRPr sz="1100" dirty="0">
              <a:latin typeface="Times New Roman"/>
              <a:cs typeface="Times New Roman"/>
            </a:endParaRPr>
          </a:p>
        </p:txBody>
      </p:sp>
      <p:sp>
        <p:nvSpPr>
          <p:cNvPr id="13" name="object 13"/>
          <p:cNvSpPr txBox="1"/>
          <p:nvPr/>
        </p:nvSpPr>
        <p:spPr>
          <a:xfrm>
            <a:off x="2316966" y="1643975"/>
            <a:ext cx="3398711" cy="542456"/>
          </a:xfrm>
          <a:prstGeom prst="rect">
            <a:avLst/>
          </a:prstGeom>
        </p:spPr>
        <p:txBody>
          <a:bodyPr vert="horz" wrap="square" lIns="0" tIns="36830" rIns="0" bIns="0" rtlCol="0">
            <a:spAutoFit/>
          </a:bodyPr>
          <a:lstStyle/>
          <a:p>
            <a:pPr algn="ctr">
              <a:lnSpc>
                <a:spcPct val="100000"/>
              </a:lnSpc>
              <a:spcBef>
                <a:spcPts val="290"/>
              </a:spcBef>
            </a:pPr>
            <a:r>
              <a:rPr lang="en-IN" sz="2000" dirty="0">
                <a:latin typeface="Times New Roman"/>
                <a:cs typeface="Times New Roman"/>
              </a:rPr>
              <a:t>K. SOUMYA LATHA</a:t>
            </a:r>
            <a:endParaRPr sz="2000" dirty="0">
              <a:latin typeface="Times New Roman"/>
              <a:cs typeface="Times New Roman"/>
            </a:endParaRPr>
          </a:p>
          <a:p>
            <a:pPr marL="4445" algn="ctr">
              <a:lnSpc>
                <a:spcPct val="100000"/>
              </a:lnSpc>
              <a:spcBef>
                <a:spcPts val="85"/>
              </a:spcBef>
            </a:pPr>
            <a:r>
              <a:rPr sz="1200" dirty="0">
                <a:latin typeface="Times New Roman"/>
                <a:cs typeface="Times New Roman"/>
              </a:rPr>
              <a:t>Roll</a:t>
            </a:r>
            <a:r>
              <a:rPr sz="1200" spc="-25" dirty="0">
                <a:latin typeface="Times New Roman"/>
                <a:cs typeface="Times New Roman"/>
              </a:rPr>
              <a:t> </a:t>
            </a:r>
            <a:r>
              <a:rPr sz="1200" dirty="0">
                <a:latin typeface="Times New Roman"/>
                <a:cs typeface="Times New Roman"/>
              </a:rPr>
              <a:t>No.</a:t>
            </a:r>
            <a:r>
              <a:rPr sz="1200" spc="-15" dirty="0">
                <a:latin typeface="Times New Roman"/>
                <a:cs typeface="Times New Roman"/>
              </a:rPr>
              <a:t> </a:t>
            </a:r>
            <a:r>
              <a:rPr sz="1200" spc="-10" dirty="0">
                <a:latin typeface="Times New Roman"/>
                <a:cs typeface="Times New Roman"/>
              </a:rPr>
              <a:t>2</a:t>
            </a:r>
            <a:r>
              <a:rPr lang="en-IN" sz="1200" spc="-10" dirty="0">
                <a:latin typeface="Times New Roman"/>
                <a:cs typeface="Times New Roman"/>
              </a:rPr>
              <a:t>24G1A33A6</a:t>
            </a:r>
            <a:endParaRPr sz="1200" dirty="0">
              <a:latin typeface="Times New Roman"/>
              <a:cs typeface="Times New Roman"/>
            </a:endParaRPr>
          </a:p>
        </p:txBody>
      </p:sp>
      <p:sp>
        <p:nvSpPr>
          <p:cNvPr id="14" name="object 14"/>
          <p:cNvSpPr txBox="1"/>
          <p:nvPr/>
        </p:nvSpPr>
        <p:spPr>
          <a:xfrm>
            <a:off x="7700776" y="1660456"/>
            <a:ext cx="3591744" cy="527067"/>
          </a:xfrm>
          <a:prstGeom prst="rect">
            <a:avLst/>
          </a:prstGeom>
        </p:spPr>
        <p:txBody>
          <a:bodyPr vert="horz" wrap="square" lIns="0" tIns="36830" rIns="0" bIns="0" rtlCol="0">
            <a:spAutoFit/>
          </a:bodyPr>
          <a:lstStyle/>
          <a:p>
            <a:pPr algn="ctr">
              <a:lnSpc>
                <a:spcPct val="100000"/>
              </a:lnSpc>
              <a:spcBef>
                <a:spcPts val="290"/>
              </a:spcBef>
            </a:pPr>
            <a:r>
              <a:rPr lang="en-IN" sz="2000" dirty="0">
                <a:latin typeface="Times New Roman"/>
                <a:cs typeface="Times New Roman"/>
              </a:rPr>
              <a:t>P. JAGADEESWARA</a:t>
            </a:r>
            <a:endParaRPr sz="2000" dirty="0">
              <a:latin typeface="Times New Roman"/>
              <a:cs typeface="Times New Roman"/>
            </a:endParaRPr>
          </a:p>
          <a:p>
            <a:pPr marL="4445" algn="ctr">
              <a:lnSpc>
                <a:spcPct val="100000"/>
              </a:lnSpc>
              <a:spcBef>
                <a:spcPts val="85"/>
              </a:spcBef>
            </a:pPr>
            <a:r>
              <a:rPr sz="1100" dirty="0">
                <a:latin typeface="Times New Roman"/>
                <a:cs typeface="Times New Roman"/>
              </a:rPr>
              <a:t>Roll</a:t>
            </a:r>
            <a:r>
              <a:rPr sz="1100" spc="-25" dirty="0">
                <a:latin typeface="Times New Roman"/>
                <a:cs typeface="Times New Roman"/>
              </a:rPr>
              <a:t> </a:t>
            </a:r>
            <a:r>
              <a:rPr sz="1100" dirty="0">
                <a:latin typeface="Times New Roman"/>
                <a:cs typeface="Times New Roman"/>
              </a:rPr>
              <a:t>No.</a:t>
            </a:r>
            <a:r>
              <a:rPr sz="1100" spc="-15" dirty="0">
                <a:latin typeface="Times New Roman"/>
                <a:cs typeface="Times New Roman"/>
              </a:rPr>
              <a:t> </a:t>
            </a:r>
            <a:r>
              <a:rPr sz="1100" spc="-10" dirty="0">
                <a:latin typeface="Times New Roman"/>
                <a:cs typeface="Times New Roman"/>
              </a:rPr>
              <a:t>2</a:t>
            </a:r>
            <a:r>
              <a:rPr lang="en-IN" sz="1100" spc="-10" dirty="0">
                <a:latin typeface="Times New Roman"/>
                <a:cs typeface="Times New Roman"/>
              </a:rPr>
              <a:t>34G5A3312</a:t>
            </a:r>
            <a:endParaRPr sz="1100" dirty="0">
              <a:latin typeface="Times New Roman"/>
              <a:cs typeface="Times New Roman"/>
            </a:endParaRPr>
          </a:p>
        </p:txBody>
      </p:sp>
      <p:sp>
        <p:nvSpPr>
          <p:cNvPr id="15" name="object 15"/>
          <p:cNvSpPr txBox="1"/>
          <p:nvPr/>
        </p:nvSpPr>
        <p:spPr>
          <a:xfrm>
            <a:off x="360033" y="1657217"/>
            <a:ext cx="2350393" cy="527067"/>
          </a:xfrm>
          <a:prstGeom prst="rect">
            <a:avLst/>
          </a:prstGeom>
        </p:spPr>
        <p:txBody>
          <a:bodyPr vert="horz" wrap="square" lIns="0" tIns="36830" rIns="0" bIns="0" rtlCol="0">
            <a:spAutoFit/>
          </a:bodyPr>
          <a:lstStyle/>
          <a:p>
            <a:pPr algn="ctr">
              <a:lnSpc>
                <a:spcPct val="100000"/>
              </a:lnSpc>
              <a:spcBef>
                <a:spcPts val="290"/>
              </a:spcBef>
            </a:pPr>
            <a:r>
              <a:rPr lang="en-IN" sz="2000" dirty="0">
                <a:latin typeface="Times New Roman"/>
                <a:cs typeface="Times New Roman"/>
              </a:rPr>
              <a:t>G. THAHASEEN</a:t>
            </a:r>
            <a:endParaRPr sz="2000" dirty="0">
              <a:latin typeface="Times New Roman"/>
              <a:cs typeface="Times New Roman"/>
            </a:endParaRPr>
          </a:p>
          <a:p>
            <a:pPr marL="4445" algn="ctr">
              <a:lnSpc>
                <a:spcPct val="100000"/>
              </a:lnSpc>
              <a:spcBef>
                <a:spcPts val="85"/>
              </a:spcBef>
            </a:pPr>
            <a:r>
              <a:rPr sz="1100" dirty="0">
                <a:latin typeface="Times New Roman"/>
                <a:cs typeface="Times New Roman"/>
              </a:rPr>
              <a:t>Roll</a:t>
            </a:r>
            <a:r>
              <a:rPr sz="1100" spc="-25" dirty="0">
                <a:latin typeface="Times New Roman"/>
                <a:cs typeface="Times New Roman"/>
              </a:rPr>
              <a:t> </a:t>
            </a:r>
            <a:r>
              <a:rPr sz="1100" dirty="0">
                <a:latin typeface="Times New Roman"/>
                <a:cs typeface="Times New Roman"/>
              </a:rPr>
              <a:t>No.</a:t>
            </a:r>
            <a:r>
              <a:rPr sz="1100" spc="-15" dirty="0">
                <a:latin typeface="Times New Roman"/>
                <a:cs typeface="Times New Roman"/>
              </a:rPr>
              <a:t> </a:t>
            </a:r>
            <a:r>
              <a:rPr sz="1100" spc="-10" dirty="0">
                <a:latin typeface="Times New Roman"/>
                <a:cs typeface="Times New Roman"/>
              </a:rPr>
              <a:t>2</a:t>
            </a:r>
            <a:r>
              <a:rPr lang="en-IN" sz="1100" spc="-10" dirty="0">
                <a:latin typeface="Times New Roman"/>
                <a:cs typeface="Times New Roman"/>
              </a:rPr>
              <a:t>24G1A33B9</a:t>
            </a:r>
            <a:endParaRPr sz="1100" dirty="0">
              <a:latin typeface="Times New Roman"/>
              <a:cs typeface="Times New Roman"/>
            </a:endParaRPr>
          </a:p>
        </p:txBody>
      </p:sp>
      <p:grpSp>
        <p:nvGrpSpPr>
          <p:cNvPr id="16" name="object 16"/>
          <p:cNvGrpSpPr/>
          <p:nvPr/>
        </p:nvGrpSpPr>
        <p:grpSpPr>
          <a:xfrm>
            <a:off x="552795" y="255401"/>
            <a:ext cx="11086410" cy="1194862"/>
            <a:chOff x="697859" y="297171"/>
            <a:chExt cx="11086410" cy="1532831"/>
          </a:xfrm>
        </p:grpSpPr>
        <p:pic>
          <p:nvPicPr>
            <p:cNvPr id="17" name="object 17"/>
            <p:cNvPicPr/>
            <p:nvPr/>
          </p:nvPicPr>
          <p:blipFill>
            <a:blip r:embed="rId3" cstate="print"/>
            <a:stretch>
              <a:fillRect/>
            </a:stretch>
          </p:blipFill>
          <p:spPr>
            <a:xfrm>
              <a:off x="697859" y="297171"/>
              <a:ext cx="10642481" cy="972163"/>
            </a:xfrm>
            <a:prstGeom prst="rect">
              <a:avLst/>
            </a:prstGeom>
          </p:spPr>
        </p:pic>
        <p:sp>
          <p:nvSpPr>
            <p:cNvPr id="18" name="object 18"/>
            <p:cNvSpPr/>
            <p:nvPr/>
          </p:nvSpPr>
          <p:spPr>
            <a:xfrm>
              <a:off x="697859" y="354768"/>
              <a:ext cx="11086410" cy="1475234"/>
            </a:xfrm>
            <a:custGeom>
              <a:avLst/>
              <a:gdLst/>
              <a:ahLst/>
              <a:cxnLst/>
              <a:rect l="l" t="t" r="r" b="b"/>
              <a:pathLst>
                <a:path w="10528300" h="857885">
                  <a:moveTo>
                    <a:pt x="10385201" y="857862"/>
                  </a:moveTo>
                  <a:lnTo>
                    <a:pt x="142979" y="857862"/>
                  </a:lnTo>
                  <a:lnTo>
                    <a:pt x="97786" y="850573"/>
                  </a:lnTo>
                  <a:lnTo>
                    <a:pt x="58536" y="830276"/>
                  </a:lnTo>
                  <a:lnTo>
                    <a:pt x="27585" y="799325"/>
                  </a:lnTo>
                  <a:lnTo>
                    <a:pt x="7288" y="760075"/>
                  </a:lnTo>
                  <a:lnTo>
                    <a:pt x="0" y="714882"/>
                  </a:lnTo>
                  <a:lnTo>
                    <a:pt x="0" y="142979"/>
                  </a:lnTo>
                  <a:lnTo>
                    <a:pt x="7288" y="97786"/>
                  </a:lnTo>
                  <a:lnTo>
                    <a:pt x="27585" y="58536"/>
                  </a:lnTo>
                  <a:lnTo>
                    <a:pt x="58536" y="27585"/>
                  </a:lnTo>
                  <a:lnTo>
                    <a:pt x="97786" y="7288"/>
                  </a:lnTo>
                  <a:lnTo>
                    <a:pt x="142979" y="0"/>
                  </a:lnTo>
                  <a:lnTo>
                    <a:pt x="10385201" y="0"/>
                  </a:lnTo>
                  <a:lnTo>
                    <a:pt x="10439917" y="10882"/>
                  </a:lnTo>
                  <a:lnTo>
                    <a:pt x="10486303" y="41876"/>
                  </a:lnTo>
                  <a:lnTo>
                    <a:pt x="10517298" y="88263"/>
                  </a:lnTo>
                  <a:lnTo>
                    <a:pt x="10528182" y="142979"/>
                  </a:lnTo>
                  <a:lnTo>
                    <a:pt x="10528182" y="714882"/>
                  </a:lnTo>
                  <a:lnTo>
                    <a:pt x="10520894" y="760075"/>
                  </a:lnTo>
                  <a:lnTo>
                    <a:pt x="10500595" y="799325"/>
                  </a:lnTo>
                  <a:lnTo>
                    <a:pt x="10469644" y="830276"/>
                  </a:lnTo>
                  <a:lnTo>
                    <a:pt x="10430394" y="850573"/>
                  </a:lnTo>
                  <a:lnTo>
                    <a:pt x="10385201" y="857862"/>
                  </a:lnTo>
                  <a:close/>
                </a:path>
              </a:pathLst>
            </a:custGeom>
            <a:solidFill>
              <a:srgbClr val="FF6600"/>
            </a:solidFill>
          </p:spPr>
          <p:txBody>
            <a:bodyPr wrap="square" lIns="0" tIns="0" rIns="0" bIns="0" rtlCol="0"/>
            <a:lstStyle/>
            <a:p>
              <a:endParaRPr/>
            </a:p>
          </p:txBody>
        </p:sp>
      </p:grpSp>
      <p:sp>
        <p:nvSpPr>
          <p:cNvPr id="19" name="object 19"/>
          <p:cNvSpPr txBox="1">
            <a:spLocks noGrp="1"/>
          </p:cNvSpPr>
          <p:nvPr>
            <p:ph type="title"/>
          </p:nvPr>
        </p:nvSpPr>
        <p:spPr>
          <a:xfrm>
            <a:off x="595324" y="357505"/>
            <a:ext cx="10873467" cy="1059264"/>
          </a:xfrm>
          <a:prstGeom prst="rect">
            <a:avLst/>
          </a:prstGeom>
        </p:spPr>
        <p:txBody>
          <a:bodyPr vert="horz" wrap="square" lIns="0" tIns="12700" rIns="0" bIns="0" rtlCol="0">
            <a:spAutoFit/>
          </a:bodyPr>
          <a:lstStyle/>
          <a:p>
            <a:pPr marL="12700" algn="ctr">
              <a:spcBef>
                <a:spcPts val="100"/>
              </a:spcBef>
            </a:pPr>
            <a:r>
              <a:rPr lang="en-US" sz="3600" b="1" i="1" dirty="0">
                <a:solidFill>
                  <a:srgbClr val="FFFFFF"/>
                </a:solidFill>
                <a:latin typeface="Times New Roman" panose="02020603050405020304" pitchFamily="18" charset="0"/>
                <a:cs typeface="Times New Roman" panose="02020603050405020304" pitchFamily="18" charset="0"/>
              </a:rPr>
              <a:t>Smart Doorbell with Camera and Ultrasonic Sensor</a:t>
            </a:r>
            <a:br>
              <a:rPr lang="en-IN" dirty="0"/>
            </a:br>
            <a:r>
              <a:rPr lang="en-IN" sz="3200" spc="-10" dirty="0"/>
              <a:t> </a:t>
            </a:r>
            <a:endParaRPr sz="3200" dirty="0"/>
          </a:p>
        </p:txBody>
      </p:sp>
      <p:sp>
        <p:nvSpPr>
          <p:cNvPr id="20" name="object 20"/>
          <p:cNvSpPr txBox="1"/>
          <p:nvPr/>
        </p:nvSpPr>
        <p:spPr>
          <a:xfrm>
            <a:off x="5974424" y="1462723"/>
            <a:ext cx="234503" cy="259045"/>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dirty="0">
              <a:latin typeface="Times New Roman"/>
              <a:cs typeface="Times New Roman"/>
            </a:endParaRPr>
          </a:p>
        </p:txBody>
      </p:sp>
      <p:pic>
        <p:nvPicPr>
          <p:cNvPr id="21" name="object 21"/>
          <p:cNvPicPr/>
          <p:nvPr/>
        </p:nvPicPr>
        <p:blipFill>
          <a:blip r:embed="rId4" cstate="print"/>
          <a:stretch>
            <a:fillRect/>
          </a:stretch>
        </p:blipFill>
        <p:spPr>
          <a:xfrm>
            <a:off x="5342105" y="3373081"/>
            <a:ext cx="1843672" cy="1723549"/>
          </a:xfrm>
          <a:prstGeom prst="rect">
            <a:avLst/>
          </a:prstGeom>
        </p:spPr>
      </p:pic>
      <p:sp>
        <p:nvSpPr>
          <p:cNvPr id="22" name="object 22"/>
          <p:cNvSpPr txBox="1"/>
          <p:nvPr/>
        </p:nvSpPr>
        <p:spPr>
          <a:xfrm>
            <a:off x="1123124" y="6608964"/>
            <a:ext cx="4592554" cy="259045"/>
          </a:xfrm>
          <a:prstGeom prst="rect">
            <a:avLst/>
          </a:prstGeom>
        </p:spPr>
        <p:txBody>
          <a:bodyPr vert="horz" wrap="square" lIns="0" tIns="12700" rIns="0" bIns="0" rtlCol="0">
            <a:spAutoFit/>
          </a:bodyPr>
          <a:lstStyle/>
          <a:p>
            <a:pPr marL="12700">
              <a:lnSpc>
                <a:spcPct val="100000"/>
              </a:lnSpc>
              <a:spcBef>
                <a:spcPts val="100"/>
              </a:spcBef>
            </a:pPr>
            <a:r>
              <a:rPr sz="1600" cap="small" spc="-75" dirty="0">
                <a:solidFill>
                  <a:srgbClr val="FFFFFF"/>
                </a:solidFill>
                <a:latin typeface="Times New Roman"/>
                <a:cs typeface="Times New Roman"/>
              </a:rPr>
              <a:t>Dept.</a:t>
            </a:r>
            <a:r>
              <a:rPr sz="1600" cap="small" spc="-10"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40" dirty="0">
                <a:solidFill>
                  <a:srgbClr val="FFFFFF"/>
                </a:solidFill>
                <a:latin typeface="Times New Roman"/>
                <a:cs typeface="Times New Roman"/>
              </a:rPr>
              <a:t> </a:t>
            </a:r>
            <a:r>
              <a:rPr sz="1600" cap="small" spc="-114" dirty="0">
                <a:solidFill>
                  <a:srgbClr val="FFFFFF"/>
                </a:solidFill>
                <a:latin typeface="Times New Roman"/>
                <a:cs typeface="Times New Roman"/>
              </a:rPr>
              <a:t>Computer</a:t>
            </a:r>
            <a:r>
              <a:rPr sz="1600" cap="small" spc="60" dirty="0">
                <a:solidFill>
                  <a:srgbClr val="FFFFFF"/>
                </a:solidFill>
                <a:latin typeface="Times New Roman"/>
                <a:cs typeface="Times New Roman"/>
              </a:rPr>
              <a:t> </a:t>
            </a:r>
            <a:r>
              <a:rPr sz="1600" cap="small" spc="-95" dirty="0">
                <a:solidFill>
                  <a:srgbClr val="FFFFFF"/>
                </a:solidFill>
                <a:latin typeface="Times New Roman"/>
                <a:cs typeface="Times New Roman"/>
              </a:rPr>
              <a:t>Science</a:t>
            </a:r>
            <a:r>
              <a:rPr sz="1600" cap="small" spc="55" dirty="0">
                <a:solidFill>
                  <a:srgbClr val="FFFFFF"/>
                </a:solidFill>
                <a:latin typeface="Times New Roman"/>
                <a:cs typeface="Times New Roman"/>
              </a:rPr>
              <a:t> </a:t>
            </a:r>
            <a:r>
              <a:rPr sz="1600" cap="small" spc="-130" dirty="0">
                <a:solidFill>
                  <a:srgbClr val="FFFFFF"/>
                </a:solidFill>
                <a:latin typeface="Times New Roman"/>
                <a:cs typeface="Times New Roman"/>
              </a:rPr>
              <a:t>and</a:t>
            </a:r>
            <a:r>
              <a:rPr sz="1600" cap="small" spc="50" dirty="0">
                <a:solidFill>
                  <a:srgbClr val="FFFFFF"/>
                </a:solidFill>
                <a:latin typeface="Times New Roman"/>
                <a:cs typeface="Times New Roman"/>
              </a:rPr>
              <a:t> </a:t>
            </a:r>
            <a:r>
              <a:rPr sz="1600" cap="small" spc="-110" dirty="0">
                <a:solidFill>
                  <a:srgbClr val="FFFFFF"/>
                </a:solidFill>
                <a:latin typeface="Times New Roman"/>
                <a:cs typeface="Times New Roman"/>
              </a:rPr>
              <a:t>Engineering</a:t>
            </a:r>
            <a:r>
              <a:rPr sz="1600" cap="small" spc="50" dirty="0">
                <a:solidFill>
                  <a:srgbClr val="FFFFFF"/>
                </a:solidFill>
                <a:latin typeface="Times New Roman"/>
                <a:cs typeface="Times New Roman"/>
              </a:rPr>
              <a:t> </a:t>
            </a:r>
            <a:r>
              <a:rPr sz="1600" cap="small" spc="-60" dirty="0">
                <a:solidFill>
                  <a:srgbClr val="FFFFFF"/>
                </a:solidFill>
                <a:latin typeface="Times New Roman"/>
                <a:cs typeface="Times New Roman"/>
              </a:rPr>
              <a:t>(AI&amp;ml)</a:t>
            </a:r>
            <a:endParaRPr sz="1600" dirty="0">
              <a:latin typeface="Times New Roman"/>
              <a:cs typeface="Times New Roman"/>
            </a:endParaRPr>
          </a:p>
        </p:txBody>
      </p:sp>
      <p:sp>
        <p:nvSpPr>
          <p:cNvPr id="23" name="object 23"/>
          <p:cNvSpPr txBox="1"/>
          <p:nvPr/>
        </p:nvSpPr>
        <p:spPr>
          <a:xfrm>
            <a:off x="6536303" y="6561825"/>
            <a:ext cx="4932489" cy="289823"/>
          </a:xfrm>
          <a:prstGeom prst="rect">
            <a:avLst/>
          </a:prstGeom>
        </p:spPr>
        <p:txBody>
          <a:bodyPr vert="horz" wrap="square" lIns="0" tIns="12700" rIns="0" bIns="0" rtlCol="0">
            <a:spAutoFit/>
          </a:bodyPr>
          <a:lstStyle/>
          <a:p>
            <a:pPr marL="12700">
              <a:lnSpc>
                <a:spcPct val="100000"/>
              </a:lnSpc>
              <a:spcBef>
                <a:spcPts val="100"/>
              </a:spcBef>
            </a:pPr>
            <a:r>
              <a:rPr lang="en-US" sz="1800" cap="small" spc="-130" dirty="0">
                <a:solidFill>
                  <a:srgbClr val="FFFFFF"/>
                </a:solidFill>
                <a:latin typeface="Times New Roman"/>
                <a:cs typeface="Times New Roman"/>
              </a:rPr>
              <a:t>Srinivasa Ramanujan Institute of Technology</a:t>
            </a:r>
            <a:endParaRPr sz="1800" dirty="0">
              <a:latin typeface="Times New Roman"/>
              <a:cs typeface="Times New Roman"/>
            </a:endParaRPr>
          </a:p>
        </p:txBody>
      </p:sp>
      <p:sp>
        <p:nvSpPr>
          <p:cNvPr id="26" name="Footer Placeholder 25">
            <a:extLst>
              <a:ext uri="{FF2B5EF4-FFF2-40B4-BE49-F238E27FC236}">
                <a16:creationId xmlns:a16="http://schemas.microsoft.com/office/drawing/2014/main" id="{8CA57925-3D33-B83D-3666-4356EF233E3E}"/>
              </a:ext>
            </a:extLst>
          </p:cNvPr>
          <p:cNvSpPr>
            <a:spLocks noGrp="1"/>
          </p:cNvSpPr>
          <p:nvPr>
            <p:ph type="ftr" sz="quarter" idx="5"/>
          </p:nvPr>
        </p:nvSpPr>
        <p:spPr>
          <a:xfrm>
            <a:off x="141783" y="6631089"/>
            <a:ext cx="533400" cy="230832"/>
          </a:xfrm>
        </p:spPr>
        <p:txBody>
          <a:bodyPr/>
          <a:lstStyle/>
          <a:p>
            <a:pPr marL="12700">
              <a:lnSpc>
                <a:spcPts val="1845"/>
              </a:lnSpc>
            </a:pPr>
            <a:r>
              <a:rPr lang="en-US" dirty="0"/>
              <a:t>B - 15</a:t>
            </a:r>
            <a:endParaRPr lang="en-US" spc="-25" dirty="0"/>
          </a:p>
        </p:txBody>
      </p:sp>
      <p:sp>
        <p:nvSpPr>
          <p:cNvPr id="29" name="Slide Number Placeholder 28">
            <a:extLst>
              <a:ext uri="{FF2B5EF4-FFF2-40B4-BE49-F238E27FC236}">
                <a16:creationId xmlns:a16="http://schemas.microsoft.com/office/drawing/2014/main" id="{BEFA85D1-CAC0-FBC5-723E-D1E3C0ED9958}"/>
              </a:ext>
            </a:extLst>
          </p:cNvPr>
          <p:cNvSpPr>
            <a:spLocks noGrp="1"/>
          </p:cNvSpPr>
          <p:nvPr>
            <p:ph type="sldNum" sz="quarter" idx="7"/>
          </p:nvPr>
        </p:nvSpPr>
        <p:spPr/>
        <p:txBody>
          <a:bodyPr/>
          <a:lstStyle/>
          <a:p>
            <a:pPr marL="38100">
              <a:lnSpc>
                <a:spcPts val="1845"/>
              </a:lnSpc>
            </a:pPr>
            <a:fld id="{81D60167-4931-47E6-BA6A-407CBD079E47}" type="slidenum">
              <a:rPr lang="en-US" spc="-25" smtClean="0"/>
              <a:t>1</a:t>
            </a:fld>
            <a:endParaRPr lang="en-US"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7124" y="-39737"/>
            <a:ext cx="12191998" cy="243656"/>
          </a:xfrm>
          <a:prstGeom prst="rect">
            <a:avLst/>
          </a:prstGeom>
        </p:spPr>
        <p:txBody>
          <a:bodyPr vert="horz" wrap="square" lIns="0" tIns="12700" rIns="0" bIns="0" rtlCol="0">
            <a:spAutoFit/>
          </a:bodyPr>
          <a:lstStyle/>
          <a:p>
            <a:pPr marL="12700" algn="ctr">
              <a:lnSpc>
                <a:spcPct val="100000"/>
              </a:lnSpc>
              <a:spcBef>
                <a:spcPts val="100"/>
              </a:spcBef>
            </a:pPr>
            <a:r>
              <a:rPr lang="en-US" sz="1500" b="1" i="1" dirty="0">
                <a:solidFill>
                  <a:srgbClr val="FFFFFF"/>
                </a:solidFill>
                <a:latin typeface="Times New Roman"/>
                <a:cs typeface="Times New Roman"/>
              </a:rPr>
              <a:t>Smart Doorbell with Camera and Ultrasonic Sensor</a:t>
            </a:r>
            <a:endParaRPr sz="1500" b="1" i="1" dirty="0">
              <a:solidFill>
                <a:srgbClr val="FFFFFF"/>
              </a:solidFill>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1999" cy="803791"/>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03919"/>
            <a:ext cx="3946525" cy="695960"/>
          </a:xfrm>
          <a:prstGeom prst="rect">
            <a:avLst/>
          </a:prstGeom>
        </p:spPr>
        <p:txBody>
          <a:bodyPr vert="horz" wrap="square" lIns="0" tIns="12700" rIns="0" bIns="0" rtlCol="0">
            <a:spAutoFit/>
          </a:bodyPr>
          <a:lstStyle/>
          <a:p>
            <a:pPr marL="12700" algn="l">
              <a:lnSpc>
                <a:spcPct val="100000"/>
              </a:lnSpc>
              <a:spcBef>
                <a:spcPts val="100"/>
              </a:spcBef>
            </a:pPr>
            <a:r>
              <a:rPr lang="en-US" b="1" spc="-10" dirty="0"/>
              <a:t>Contents</a:t>
            </a:r>
            <a:endParaRPr b="1" spc="-10" dirty="0"/>
          </a:p>
        </p:txBody>
      </p:sp>
      <p:sp>
        <p:nvSpPr>
          <p:cNvPr id="14" name="Text Placeholder 13">
            <a:extLst>
              <a:ext uri="{FF2B5EF4-FFF2-40B4-BE49-F238E27FC236}">
                <a16:creationId xmlns:a16="http://schemas.microsoft.com/office/drawing/2014/main" id="{505E98E4-D823-0721-1F58-511E73C59286}"/>
              </a:ext>
            </a:extLst>
          </p:cNvPr>
          <p:cNvSpPr>
            <a:spLocks noGrp="1"/>
          </p:cNvSpPr>
          <p:nvPr>
            <p:ph type="body" idx="1"/>
          </p:nvPr>
        </p:nvSpPr>
        <p:spPr>
          <a:xfrm>
            <a:off x="141783" y="1071014"/>
            <a:ext cx="12050213" cy="4308872"/>
          </a:xfrm>
        </p:spPr>
        <p:txBody>
          <a:bodyPr/>
          <a:lstStyle/>
          <a:p>
            <a:r>
              <a:rPr lang="en-US" dirty="0"/>
              <a:t>• Abstract </a:t>
            </a:r>
          </a:p>
          <a:p>
            <a:r>
              <a:rPr lang="en-US" dirty="0"/>
              <a:t>• Problem statement</a:t>
            </a:r>
          </a:p>
          <a:p>
            <a:r>
              <a:rPr lang="en-US" dirty="0"/>
              <a:t>• Objectives of Project</a:t>
            </a:r>
          </a:p>
          <a:p>
            <a:r>
              <a:rPr lang="en-US" dirty="0"/>
              <a:t>• Literature survey for objectives</a:t>
            </a:r>
          </a:p>
          <a:p>
            <a:r>
              <a:rPr lang="en-US" dirty="0"/>
              <a:t>• Existing System</a:t>
            </a:r>
          </a:p>
          <a:p>
            <a:r>
              <a:rPr lang="en-US" dirty="0"/>
              <a:t>• Proposed System</a:t>
            </a:r>
          </a:p>
          <a:p>
            <a:r>
              <a:rPr lang="en-US" dirty="0"/>
              <a:t>• References</a:t>
            </a:r>
          </a:p>
          <a:p>
            <a:r>
              <a:rPr lang="en-US" dirty="0"/>
              <a:t>• GitHub Link</a:t>
            </a:r>
          </a:p>
          <a:p>
            <a:r>
              <a:rPr lang="en-US" dirty="0"/>
              <a:t>• Queries</a:t>
            </a:r>
          </a:p>
          <a:p>
            <a:endParaRPr lang="en-US" dirty="0"/>
          </a:p>
        </p:txBody>
      </p:sp>
      <p:sp>
        <p:nvSpPr>
          <p:cNvPr id="8" name="object 8"/>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p:cNvSpPr txBox="1">
            <a:spLocks noGrp="1"/>
          </p:cNvSpPr>
          <p:nvPr>
            <p:ph type="dt" sz="half" idx="6"/>
          </p:nvPr>
        </p:nvSpPr>
        <p:spPr>
          <a:xfrm>
            <a:off x="1122363" y="6630698"/>
            <a:ext cx="4668837" cy="230832"/>
          </a:xfrm>
          <a:prstGeom prst="rect">
            <a:avLst/>
          </a:prstGeom>
        </p:spPr>
        <p:txBody>
          <a:bodyPr vert="horz" wrap="square" lIns="0" tIns="0" rIns="0" bIns="0" rtlCol="0">
            <a:spAutoFit/>
          </a:bodyPr>
          <a:lstStyle/>
          <a:p>
            <a:pPr marL="13335">
              <a:lnSpc>
                <a:spcPts val="1845"/>
              </a:lnSpc>
            </a:pPr>
            <a:r>
              <a:rPr lang="en-US" cap="small" spc="-75" dirty="0"/>
              <a:t>Dept. of Computer Science and Engineering (AI&amp;ML)</a:t>
            </a:r>
            <a:endParaRPr cap="small" spc="-60" dirty="0"/>
          </a:p>
        </p:txBody>
      </p:sp>
      <p:sp>
        <p:nvSpPr>
          <p:cNvPr id="11" name="object 11"/>
          <p:cNvSpPr txBox="1"/>
          <p:nvPr/>
        </p:nvSpPr>
        <p:spPr>
          <a:xfrm>
            <a:off x="6809328" y="6652741"/>
            <a:ext cx="4392071"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17" name="Slide Number Placeholder 16">
            <a:extLst>
              <a:ext uri="{FF2B5EF4-FFF2-40B4-BE49-F238E27FC236}">
                <a16:creationId xmlns:a16="http://schemas.microsoft.com/office/drawing/2014/main" id="{9ECE81A6-CF6E-ACF4-E051-7F1836B6D295}"/>
              </a:ext>
            </a:extLst>
          </p:cNvPr>
          <p:cNvSpPr>
            <a:spLocks noGrp="1"/>
          </p:cNvSpPr>
          <p:nvPr>
            <p:ph type="sldNum" sz="quarter" idx="7"/>
          </p:nvPr>
        </p:nvSpPr>
        <p:spPr/>
        <p:txBody>
          <a:bodyPr/>
          <a:lstStyle/>
          <a:p>
            <a:pPr marL="38100">
              <a:lnSpc>
                <a:spcPts val="1845"/>
              </a:lnSpc>
            </a:pPr>
            <a:fld id="{81D60167-4931-47E6-BA6A-407CBD079E47}" type="slidenum">
              <a:rPr lang="en-US" spc="-25" smtClean="0"/>
              <a:t>2</a:t>
            </a:fld>
            <a:endParaRPr lang="en-US"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4479" y="6609073"/>
            <a:ext cx="11491311" cy="258936"/>
            <a:chOff x="777237" y="6634571"/>
            <a:chExt cx="11415108" cy="223427"/>
          </a:xfrm>
        </p:grpSpPr>
        <p:sp>
          <p:nvSpPr>
            <p:cNvPr id="3" name="object 3"/>
            <p:cNvSpPr/>
            <p:nvPr/>
          </p:nvSpPr>
          <p:spPr>
            <a:xfrm>
              <a:off x="777237" y="6634571"/>
              <a:ext cx="5782310" cy="220979"/>
            </a:xfrm>
            <a:custGeom>
              <a:avLst/>
              <a:gdLst/>
              <a:ahLst/>
              <a:cxnLst/>
              <a:rect l="l" t="t" r="r" b="b"/>
              <a:pathLst>
                <a:path w="5782309" h="220979">
                  <a:moveTo>
                    <a:pt x="5781821" y="220978"/>
                  </a:moveTo>
                  <a:lnTo>
                    <a:pt x="0" y="220978"/>
                  </a:lnTo>
                  <a:lnTo>
                    <a:pt x="0" y="0"/>
                  </a:lnTo>
                  <a:lnTo>
                    <a:pt x="5781821" y="0"/>
                  </a:lnTo>
                  <a:lnTo>
                    <a:pt x="5781821" y="220978"/>
                  </a:lnTo>
                  <a:close/>
                </a:path>
              </a:pathLst>
            </a:custGeom>
            <a:solidFill>
              <a:srgbClr val="002060"/>
            </a:solidFill>
          </p:spPr>
          <p:txBody>
            <a:bodyPr wrap="square" lIns="0" tIns="0" rIns="0" bIns="0" rtlCol="0"/>
            <a:lstStyle/>
            <a:p>
              <a:endParaRPr/>
            </a:p>
          </p:txBody>
        </p:sp>
        <p:sp>
          <p:nvSpPr>
            <p:cNvPr id="4" name="object 4"/>
            <p:cNvSpPr/>
            <p:nvPr/>
          </p:nvSpPr>
          <p:spPr>
            <a:xfrm>
              <a:off x="6559061" y="6634571"/>
              <a:ext cx="5195570" cy="220979"/>
            </a:xfrm>
            <a:custGeom>
              <a:avLst/>
              <a:gdLst/>
              <a:ahLst/>
              <a:cxnLst/>
              <a:rect l="l" t="t" r="r" b="b"/>
              <a:pathLst>
                <a:path w="5195570" h="220979">
                  <a:moveTo>
                    <a:pt x="5195132" y="220978"/>
                  </a:moveTo>
                  <a:lnTo>
                    <a:pt x="0" y="220978"/>
                  </a:lnTo>
                  <a:lnTo>
                    <a:pt x="0" y="0"/>
                  </a:lnTo>
                  <a:lnTo>
                    <a:pt x="5195132" y="0"/>
                  </a:lnTo>
                  <a:lnTo>
                    <a:pt x="5195132" y="220978"/>
                  </a:lnTo>
                  <a:close/>
                </a:path>
              </a:pathLst>
            </a:custGeom>
            <a:solidFill>
              <a:srgbClr val="008080"/>
            </a:solidFill>
          </p:spPr>
          <p:txBody>
            <a:bodyPr wrap="square" lIns="0" tIns="0" rIns="0" bIns="0" rtlCol="0"/>
            <a:lstStyle/>
            <a:p>
              <a:endParaRPr/>
            </a:p>
          </p:txBody>
        </p:sp>
        <p:sp>
          <p:nvSpPr>
            <p:cNvPr id="5" name="object 5"/>
            <p:cNvSpPr/>
            <p:nvPr/>
          </p:nvSpPr>
          <p:spPr>
            <a:xfrm>
              <a:off x="11754195" y="6637019"/>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r>
                <a:rPr lang="en-US" dirty="0"/>
                <a:t>  </a:t>
              </a:r>
              <a:endParaRPr dirty="0"/>
            </a:p>
          </p:txBody>
        </p:sp>
      </p:grpSp>
      <p:sp>
        <p:nvSpPr>
          <p:cNvPr id="6" name="object 6"/>
          <p:cNvSpPr/>
          <p:nvPr/>
        </p:nvSpPr>
        <p:spPr>
          <a:xfrm>
            <a:off x="-2" y="0"/>
            <a:ext cx="12192001" cy="242059"/>
          </a:xfrm>
          <a:custGeom>
            <a:avLst/>
            <a:gdLst/>
            <a:ahLst/>
            <a:cxnLst/>
            <a:rect l="l" t="t" r="r" b="b"/>
            <a:pathLst>
              <a:path w="12192000" h="233045">
                <a:moveTo>
                  <a:pt x="12191997" y="232757"/>
                </a:moveTo>
                <a:lnTo>
                  <a:pt x="0" y="232757"/>
                </a:lnTo>
                <a:lnTo>
                  <a:pt x="0" y="0"/>
                </a:lnTo>
                <a:lnTo>
                  <a:pt x="12191997" y="0"/>
                </a:lnTo>
                <a:lnTo>
                  <a:pt x="12191997" y="232757"/>
                </a:lnTo>
                <a:close/>
              </a:path>
            </a:pathLst>
          </a:custGeom>
          <a:solidFill>
            <a:srgbClr val="006666"/>
          </a:solidFill>
        </p:spPr>
        <p:txBody>
          <a:bodyPr wrap="square" lIns="0" tIns="0" rIns="0" bIns="0" rtlCol="0"/>
          <a:lstStyle/>
          <a:p>
            <a:pPr marL="12700" algn="ctr">
              <a:lnSpc>
                <a:spcPct val="100000"/>
              </a:lnSpc>
              <a:spcBef>
                <a:spcPts val="100"/>
              </a:spcBef>
            </a:pPr>
            <a:r>
              <a:rPr lang="en-US" sz="1500" b="1" i="1" dirty="0">
                <a:solidFill>
                  <a:srgbClr val="FFFFFF"/>
                </a:solidFill>
                <a:latin typeface="Times New Roman"/>
                <a:cs typeface="Times New Roman"/>
              </a:rPr>
              <a:t>Smart Doorbell with Camera and Ultrasonic Sensor</a:t>
            </a:r>
          </a:p>
        </p:txBody>
      </p:sp>
      <p:sp>
        <p:nvSpPr>
          <p:cNvPr id="7" name="object 7"/>
          <p:cNvSpPr/>
          <p:nvPr/>
        </p:nvSpPr>
        <p:spPr>
          <a:xfrm>
            <a:off x="0" y="6634571"/>
            <a:ext cx="777240" cy="221615"/>
          </a:xfrm>
          <a:custGeom>
            <a:avLst/>
            <a:gdLst/>
            <a:ahLst/>
            <a:cxnLst/>
            <a:rect l="l" t="t" r="r" b="b"/>
            <a:pathLst>
              <a:path w="777240" h="221615">
                <a:moveTo>
                  <a:pt x="777237" y="221521"/>
                </a:moveTo>
                <a:lnTo>
                  <a:pt x="0" y="221521"/>
                </a:lnTo>
                <a:lnTo>
                  <a:pt x="0" y="0"/>
                </a:lnTo>
                <a:lnTo>
                  <a:pt x="777237" y="0"/>
                </a:lnTo>
                <a:lnTo>
                  <a:pt x="777237" y="221521"/>
                </a:lnTo>
                <a:close/>
              </a:path>
            </a:pathLst>
          </a:custGeom>
          <a:solidFill>
            <a:srgbClr val="C55A11"/>
          </a:solidFill>
        </p:spPr>
        <p:txBody>
          <a:bodyPr wrap="square" lIns="0" tIns="0" rIns="0" bIns="0" rtlCol="0"/>
          <a:lstStyle/>
          <a:p>
            <a:r>
              <a:rPr lang="en-US" dirty="0"/>
              <a:t>   </a:t>
            </a:r>
            <a:r>
              <a:rPr lang="en-US" sz="1600" b="1" dirty="0">
                <a:solidFill>
                  <a:schemeClr val="bg1"/>
                </a:solidFill>
              </a:rPr>
              <a:t>B-15</a:t>
            </a:r>
            <a:endParaRPr sz="1600" b="1" dirty="0">
              <a:solidFill>
                <a:schemeClr val="bg1"/>
              </a:solidFill>
            </a:endParaRPr>
          </a:p>
        </p:txBody>
      </p:sp>
      <p:sp>
        <p:nvSpPr>
          <p:cNvPr id="9" name="object 9"/>
          <p:cNvSpPr txBox="1"/>
          <p:nvPr/>
        </p:nvSpPr>
        <p:spPr>
          <a:xfrm>
            <a:off x="-304800" y="1052802"/>
            <a:ext cx="14325600" cy="5563382"/>
          </a:xfrm>
          <a:prstGeom prst="rect">
            <a:avLst/>
          </a:prstGeom>
        </p:spPr>
        <p:txBody>
          <a:bodyPr vert="horz" wrap="square" lIns="0" tIns="12700" rIns="0" bIns="0" rtlCol="0">
            <a:spAutoFit/>
          </a:bodyPr>
          <a:lstStyle/>
          <a:p>
            <a:pPr marL="469900" marR="2089785" algn="just">
              <a:lnSpc>
                <a:spcPct val="150000"/>
              </a:lnSpc>
              <a:spcBef>
                <a:spcPts val="100"/>
              </a:spcBef>
            </a:pPr>
            <a:r>
              <a:rPr lang="en-US" sz="2200" dirty="0">
                <a:latin typeface="Times New Roman" panose="02020603050405020304" pitchFamily="18" charset="0"/>
                <a:cs typeface="Times New Roman" panose="02020603050405020304" pitchFamily="18" charset="0"/>
              </a:rPr>
              <a:t>Smart doorbells often fail to detect visitors in real time and lack automated control, resulting in security delays. Manual verification and limited communication reduce overall safety and efficiency.</a:t>
            </a:r>
            <a:r>
              <a:rPr lang="en-US" sz="2200" b="1" dirty="0">
                <a:latin typeface="Times New Roman" panose="02020603050405020304" pitchFamily="18" charset="0"/>
                <a:cs typeface="Times New Roman" panose="02020603050405020304" pitchFamily="18" charset="0"/>
              </a:rPr>
              <a:t>.</a:t>
            </a:r>
          </a:p>
          <a:p>
            <a:pPr marL="469900" marR="2089785" algn="just">
              <a:lnSpc>
                <a:spcPct val="150000"/>
              </a:lnSpc>
              <a:spcBef>
                <a:spcPts val="100"/>
              </a:spcBef>
            </a:pPr>
            <a:r>
              <a:rPr lang="en-US" sz="2200" dirty="0">
                <a:latin typeface="Times New Roman" panose="02020603050405020304" pitchFamily="18" charset="0"/>
                <a:cs typeface="Times New Roman" panose="02020603050405020304" pitchFamily="18" charset="0"/>
              </a:rPr>
              <a:t>To build a smart, automated doorbell system using sensors and camera-based detection.</a:t>
            </a:r>
          </a:p>
          <a:p>
            <a:pPr marL="469900" marR="2089785" algn="just">
              <a:lnSpc>
                <a:spcPct val="150000"/>
              </a:lnSpc>
              <a:spcBef>
                <a:spcPts val="100"/>
              </a:spcBef>
            </a:pPr>
            <a:r>
              <a:rPr lang="en-US" sz="2200" dirty="0">
                <a:latin typeface="Times New Roman" panose="02020603050405020304" pitchFamily="18" charset="0"/>
                <a:cs typeface="Times New Roman" panose="02020603050405020304" pitchFamily="18" charset="0"/>
              </a:rPr>
              <a:t>To capture visitor images, send them instantly to the homeowner via Telegram, and allow remote door control.</a:t>
            </a:r>
          </a:p>
          <a:p>
            <a:pPr marL="469900" marR="2089785" algn="just">
              <a:lnSpc>
                <a:spcPct val="150000"/>
              </a:lnSpc>
              <a:spcBef>
                <a:spcPts val="100"/>
              </a:spcBef>
            </a:pPr>
            <a:r>
              <a:rPr lang="en-US" sz="2200" dirty="0">
                <a:latin typeface="Times New Roman" panose="02020603050405020304" pitchFamily="18" charset="0"/>
                <a:cs typeface="Times New Roman" panose="02020603050405020304" pitchFamily="18" charset="0"/>
              </a:rPr>
              <a:t>The system uses Arduino, ultrasonic sensor, USB camera, GSM alerts, and motor control to provide secure, automated, and reliable home entry management.</a:t>
            </a:r>
            <a:endParaRPr lang="en-IN" sz="2200" b="1" dirty="0">
              <a:latin typeface="Times New Roman"/>
              <a:cs typeface="Times New Roman"/>
            </a:endParaRPr>
          </a:p>
          <a:p>
            <a:pPr marL="469900" marR="2089785" algn="just">
              <a:lnSpc>
                <a:spcPct val="150000"/>
              </a:lnSpc>
              <a:spcBef>
                <a:spcPts val="100"/>
              </a:spcBef>
            </a:pPr>
            <a:r>
              <a:rPr lang="en-IN" sz="2200" b="1" dirty="0">
                <a:latin typeface="Times New Roman"/>
                <a:cs typeface="Times New Roman"/>
              </a:rPr>
              <a:t>Keywords:</a:t>
            </a:r>
          </a:p>
          <a:p>
            <a:pPr marL="812800" marR="2089785" indent="-342900" algn="just">
              <a:lnSpc>
                <a:spcPct val="150000"/>
              </a:lnSpc>
              <a:spcBef>
                <a:spcPts val="1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Smart Doorbell, Home Security, Ultrasonic Sensor, Camera Monitoring, Remote Access, Telegram Automation, Image Transmission, Door Automation, GSM Alerts, IoT System, Real-time Monitoring</a:t>
            </a:r>
            <a:endParaRPr lang="en-US" sz="2000" dirty="0">
              <a:latin typeface="Times New Roman" panose="02020603050405020304" pitchFamily="18" charset="0"/>
              <a:cs typeface="Times New Roman" panose="02020603050405020304" pitchFamily="18" charset="0"/>
            </a:endParaRPr>
          </a:p>
          <a:p>
            <a:pPr marL="812800" marR="2089785" indent="-342900" algn="just">
              <a:lnSpc>
                <a:spcPct val="150000"/>
              </a:lnSpc>
              <a:spcBef>
                <a:spcPts val="100"/>
              </a:spcBef>
              <a:buFont typeface="Arial" panose="020B0604020202020204" pitchFamily="34" charset="0"/>
              <a:buChar char="•"/>
            </a:pPr>
            <a:endParaRPr lang="en-US" sz="2400" dirty="0">
              <a:latin typeface="Times New Roman"/>
              <a:cs typeface="Times New Roman"/>
            </a:endParaRPr>
          </a:p>
        </p:txBody>
      </p:sp>
      <p:sp>
        <p:nvSpPr>
          <p:cNvPr id="10" name="object 10"/>
          <p:cNvSpPr txBox="1"/>
          <p:nvPr/>
        </p:nvSpPr>
        <p:spPr>
          <a:xfrm>
            <a:off x="1123124" y="6608964"/>
            <a:ext cx="4677112" cy="259045"/>
          </a:xfrm>
          <a:prstGeom prst="rect">
            <a:avLst/>
          </a:prstGeom>
        </p:spPr>
        <p:txBody>
          <a:bodyPr vert="horz" wrap="square" lIns="0" tIns="12700" rIns="0" bIns="0" rtlCol="0">
            <a:spAutoFit/>
          </a:bodyPr>
          <a:lstStyle/>
          <a:p>
            <a:pPr marL="12700">
              <a:lnSpc>
                <a:spcPct val="100000"/>
              </a:lnSpc>
              <a:spcBef>
                <a:spcPts val="100"/>
              </a:spcBef>
            </a:pPr>
            <a:r>
              <a:rPr sz="1600" cap="small" spc="-75" dirty="0">
                <a:solidFill>
                  <a:srgbClr val="FFFFFF"/>
                </a:solidFill>
                <a:latin typeface="Times New Roman"/>
                <a:cs typeface="Times New Roman"/>
              </a:rPr>
              <a:t>Dept.</a:t>
            </a:r>
            <a:r>
              <a:rPr sz="1600" cap="small" spc="-10"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40" dirty="0">
                <a:solidFill>
                  <a:srgbClr val="FFFFFF"/>
                </a:solidFill>
                <a:latin typeface="Times New Roman"/>
                <a:cs typeface="Times New Roman"/>
              </a:rPr>
              <a:t> </a:t>
            </a:r>
            <a:r>
              <a:rPr sz="1600" cap="small" spc="-114" dirty="0">
                <a:solidFill>
                  <a:srgbClr val="FFFFFF"/>
                </a:solidFill>
                <a:latin typeface="Times New Roman"/>
                <a:cs typeface="Times New Roman"/>
              </a:rPr>
              <a:t>Computer</a:t>
            </a:r>
            <a:r>
              <a:rPr sz="1600" cap="small" spc="60" dirty="0">
                <a:solidFill>
                  <a:srgbClr val="FFFFFF"/>
                </a:solidFill>
                <a:latin typeface="Times New Roman"/>
                <a:cs typeface="Times New Roman"/>
              </a:rPr>
              <a:t> </a:t>
            </a:r>
            <a:r>
              <a:rPr sz="1600" cap="small" spc="-95" dirty="0">
                <a:solidFill>
                  <a:srgbClr val="FFFFFF"/>
                </a:solidFill>
                <a:latin typeface="Times New Roman"/>
                <a:cs typeface="Times New Roman"/>
              </a:rPr>
              <a:t>Science</a:t>
            </a:r>
            <a:r>
              <a:rPr sz="1600" cap="small" spc="55" dirty="0">
                <a:solidFill>
                  <a:srgbClr val="FFFFFF"/>
                </a:solidFill>
                <a:latin typeface="Times New Roman"/>
                <a:cs typeface="Times New Roman"/>
              </a:rPr>
              <a:t> </a:t>
            </a:r>
            <a:r>
              <a:rPr sz="1600" cap="small" spc="-130" dirty="0">
                <a:solidFill>
                  <a:srgbClr val="FFFFFF"/>
                </a:solidFill>
                <a:latin typeface="Times New Roman"/>
                <a:cs typeface="Times New Roman"/>
              </a:rPr>
              <a:t>and</a:t>
            </a:r>
            <a:r>
              <a:rPr sz="1600" cap="small" spc="50" dirty="0">
                <a:solidFill>
                  <a:srgbClr val="FFFFFF"/>
                </a:solidFill>
                <a:latin typeface="Times New Roman"/>
                <a:cs typeface="Times New Roman"/>
              </a:rPr>
              <a:t> </a:t>
            </a:r>
            <a:r>
              <a:rPr sz="1600" cap="small" spc="-110" dirty="0">
                <a:solidFill>
                  <a:srgbClr val="FFFFFF"/>
                </a:solidFill>
                <a:latin typeface="Times New Roman"/>
                <a:cs typeface="Times New Roman"/>
              </a:rPr>
              <a:t>Engineering</a:t>
            </a:r>
            <a:r>
              <a:rPr sz="1600" cap="small" spc="50" dirty="0">
                <a:solidFill>
                  <a:srgbClr val="FFFFFF"/>
                </a:solidFill>
                <a:latin typeface="Times New Roman"/>
                <a:cs typeface="Times New Roman"/>
              </a:rPr>
              <a:t> </a:t>
            </a:r>
            <a:r>
              <a:rPr sz="1600" cap="small" spc="-60" dirty="0">
                <a:solidFill>
                  <a:srgbClr val="FFFFFF"/>
                </a:solidFill>
                <a:latin typeface="Times New Roman"/>
                <a:cs typeface="Times New Roman"/>
              </a:rPr>
              <a:t>(AI&amp;ml)</a:t>
            </a:r>
            <a:endParaRPr sz="1600" dirty="0">
              <a:latin typeface="Times New Roman"/>
              <a:cs typeface="Times New Roman"/>
            </a:endParaRPr>
          </a:p>
        </p:txBody>
      </p:sp>
      <p:sp>
        <p:nvSpPr>
          <p:cNvPr id="11" name="object 11"/>
          <p:cNvSpPr txBox="1"/>
          <p:nvPr/>
        </p:nvSpPr>
        <p:spPr>
          <a:xfrm>
            <a:off x="6597661" y="6566363"/>
            <a:ext cx="4671695" cy="289823"/>
          </a:xfrm>
          <a:prstGeom prst="rect">
            <a:avLst/>
          </a:prstGeom>
        </p:spPr>
        <p:txBody>
          <a:bodyPr vert="horz" wrap="square" lIns="0" tIns="12700" rIns="0" bIns="0" rtlCol="0">
            <a:spAutoFit/>
          </a:bodyPr>
          <a:lstStyle/>
          <a:p>
            <a:pPr marL="12700">
              <a:lnSpc>
                <a:spcPct val="100000"/>
              </a:lnSpc>
              <a:spcBef>
                <a:spcPts val="100"/>
              </a:spcBef>
            </a:pPr>
            <a:r>
              <a:rPr lang="en-US" sz="1800" cap="small" spc="-130" dirty="0">
                <a:solidFill>
                  <a:srgbClr val="FFFFFF"/>
                </a:solidFill>
                <a:latin typeface="Times New Roman"/>
                <a:cs typeface="Times New Roman"/>
              </a:rPr>
              <a:t>Srinivasa Ramanujan Institute of Technology</a:t>
            </a:r>
            <a:endParaRPr sz="1800" dirty="0">
              <a:latin typeface="Times New Roman"/>
              <a:cs typeface="Times New Roman"/>
            </a:endParaRPr>
          </a:p>
        </p:txBody>
      </p:sp>
      <p:grpSp>
        <p:nvGrpSpPr>
          <p:cNvPr id="12" name="object 3">
            <a:extLst>
              <a:ext uri="{FF2B5EF4-FFF2-40B4-BE49-F238E27FC236}">
                <a16:creationId xmlns:a16="http://schemas.microsoft.com/office/drawing/2014/main" id="{A9E791AE-6CE9-E19D-5F10-DF7F3126F258}"/>
              </a:ext>
            </a:extLst>
          </p:cNvPr>
          <p:cNvGrpSpPr/>
          <p:nvPr/>
        </p:nvGrpSpPr>
        <p:grpSpPr>
          <a:xfrm>
            <a:off x="-10888" y="242059"/>
            <a:ext cx="12192001" cy="810743"/>
            <a:chOff x="-2" y="216249"/>
            <a:chExt cx="12192001" cy="803791"/>
          </a:xfrm>
        </p:grpSpPr>
        <p:pic>
          <p:nvPicPr>
            <p:cNvPr id="13" name="object 4">
              <a:extLst>
                <a:ext uri="{FF2B5EF4-FFF2-40B4-BE49-F238E27FC236}">
                  <a16:creationId xmlns:a16="http://schemas.microsoft.com/office/drawing/2014/main" id="{84A41316-86E3-FD2F-6FFD-4B40BC3ED331}"/>
                </a:ext>
              </a:extLst>
            </p:cNvPr>
            <p:cNvPicPr/>
            <p:nvPr/>
          </p:nvPicPr>
          <p:blipFill>
            <a:blip r:embed="rId3" cstate="print"/>
            <a:stretch>
              <a:fillRect/>
            </a:stretch>
          </p:blipFill>
          <p:spPr>
            <a:xfrm>
              <a:off x="0" y="216249"/>
              <a:ext cx="12191999" cy="803791"/>
            </a:xfrm>
            <a:prstGeom prst="rect">
              <a:avLst/>
            </a:prstGeom>
          </p:spPr>
        </p:pic>
        <p:sp>
          <p:nvSpPr>
            <p:cNvPr id="14" name="object 5">
              <a:extLst>
                <a:ext uri="{FF2B5EF4-FFF2-40B4-BE49-F238E27FC236}">
                  <a16:creationId xmlns:a16="http://schemas.microsoft.com/office/drawing/2014/main" id="{47FDE810-9E4A-1B27-6D50-E80178229FC6}"/>
                </a:ext>
              </a:extLst>
            </p:cNvPr>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dirty="0"/>
            </a:p>
          </p:txBody>
        </p:sp>
      </p:grpSp>
      <p:sp>
        <p:nvSpPr>
          <p:cNvPr id="18" name="Title 17">
            <a:extLst>
              <a:ext uri="{FF2B5EF4-FFF2-40B4-BE49-F238E27FC236}">
                <a16:creationId xmlns:a16="http://schemas.microsoft.com/office/drawing/2014/main" id="{F41AA270-9C4F-98DF-54DA-34885CA3334B}"/>
              </a:ext>
            </a:extLst>
          </p:cNvPr>
          <p:cNvSpPr>
            <a:spLocks noGrp="1"/>
          </p:cNvSpPr>
          <p:nvPr>
            <p:ph type="title"/>
          </p:nvPr>
        </p:nvSpPr>
        <p:spPr>
          <a:xfrm>
            <a:off x="73024" y="283946"/>
            <a:ext cx="3946525" cy="695960"/>
          </a:xfrm>
        </p:spPr>
        <p:txBody>
          <a:bodyPr/>
          <a:lstStyle/>
          <a:p>
            <a:r>
              <a:rPr lang="en-US" b="1" dirty="0"/>
              <a:t>Abstract</a:t>
            </a:r>
          </a:p>
        </p:txBody>
      </p:sp>
      <p:sp>
        <p:nvSpPr>
          <p:cNvPr id="24" name="Slide Number Placeholder 23">
            <a:extLst>
              <a:ext uri="{FF2B5EF4-FFF2-40B4-BE49-F238E27FC236}">
                <a16:creationId xmlns:a16="http://schemas.microsoft.com/office/drawing/2014/main" id="{83D75130-D8E9-415A-13D3-B80D9CA4EE63}"/>
              </a:ext>
            </a:extLst>
          </p:cNvPr>
          <p:cNvSpPr>
            <a:spLocks noGrp="1"/>
          </p:cNvSpPr>
          <p:nvPr>
            <p:ph type="sldNum" sz="quarter" idx="7"/>
          </p:nvPr>
        </p:nvSpPr>
        <p:spPr/>
        <p:txBody>
          <a:bodyPr/>
          <a:lstStyle/>
          <a:p>
            <a:pPr marL="38100">
              <a:lnSpc>
                <a:spcPts val="1845"/>
              </a:lnSpc>
            </a:pPr>
            <a:fld id="{81D60167-4931-47E6-BA6A-407CBD079E47}" type="slidenum">
              <a:rPr lang="en-US" spc="-25" smtClean="0"/>
              <a:t>3</a:t>
            </a:fld>
            <a:endParaRPr lang="en-US"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9EE0F-2C12-4E22-5CA3-E8C0555260D5}"/>
              </a:ext>
            </a:extLst>
          </p:cNvPr>
          <p:cNvSpPr>
            <a:spLocks noGrp="1"/>
          </p:cNvSpPr>
          <p:nvPr>
            <p:ph type="title"/>
          </p:nvPr>
        </p:nvSpPr>
        <p:spPr>
          <a:xfrm>
            <a:off x="-1" y="228600"/>
            <a:ext cx="12192001" cy="677108"/>
          </a:xfrm>
          <a:solidFill>
            <a:schemeClr val="accent6">
              <a:lumMod val="75000"/>
            </a:schemeClr>
          </a:solidFill>
        </p:spPr>
        <p:txBody>
          <a:bodyPr/>
          <a:lstStyle/>
          <a:p>
            <a:r>
              <a:rPr lang="en-US" dirty="0"/>
              <a:t>Problem Statement:</a:t>
            </a:r>
            <a:endParaRPr lang="en-IN" dirty="0"/>
          </a:p>
        </p:txBody>
      </p:sp>
      <p:sp>
        <p:nvSpPr>
          <p:cNvPr id="3" name="Text Placeholder 2">
            <a:extLst>
              <a:ext uri="{FF2B5EF4-FFF2-40B4-BE49-F238E27FC236}">
                <a16:creationId xmlns:a16="http://schemas.microsoft.com/office/drawing/2014/main" id="{75D343EA-9D99-1BFA-6E81-1960F16C6BA3}"/>
              </a:ext>
            </a:extLst>
          </p:cNvPr>
          <p:cNvSpPr>
            <a:spLocks noGrp="1"/>
          </p:cNvSpPr>
          <p:nvPr>
            <p:ph type="body" idx="1"/>
          </p:nvPr>
        </p:nvSpPr>
        <p:spPr>
          <a:xfrm>
            <a:off x="272529" y="1071014"/>
            <a:ext cx="11450955" cy="4491585"/>
          </a:xfrm>
        </p:spPr>
        <p:txBody>
          <a:bodyPr/>
          <a:lstStyle/>
          <a:p>
            <a:r>
              <a:rPr lang="en-US" dirty="0"/>
              <a:t>Traditional doorbell systems depend on manual button operation and provide only basic alerts, offering limited security and no remote verification. Existing smart doorbells are often expensive, require proprietary hardware, lack sensor-based automatic detection, and do not support flexible user control or backup alert mechanisms. There is a need for a cost-effective, automated, and secure doorbell system that can detect visitors automatically, capture real-time images, enable remote approval for door access, and provide reliable alerts during unauthorized access or emergency situations.</a:t>
            </a:r>
            <a:endParaRPr lang="en-IN" dirty="0"/>
          </a:p>
        </p:txBody>
      </p:sp>
      <p:sp>
        <p:nvSpPr>
          <p:cNvPr id="4" name="Footer Placeholder 3">
            <a:extLst>
              <a:ext uri="{FF2B5EF4-FFF2-40B4-BE49-F238E27FC236}">
                <a16:creationId xmlns:a16="http://schemas.microsoft.com/office/drawing/2014/main" id="{5FE3F97A-CBDC-7640-E474-B1F403286934}"/>
              </a:ext>
            </a:extLst>
          </p:cNvPr>
          <p:cNvSpPr>
            <a:spLocks noGrp="1"/>
          </p:cNvSpPr>
          <p:nvPr>
            <p:ph type="ftr" sz="quarter" idx="5"/>
          </p:nvPr>
        </p:nvSpPr>
        <p:spPr>
          <a:xfrm>
            <a:off x="141783" y="6631089"/>
            <a:ext cx="533400" cy="230832"/>
          </a:xfrm>
        </p:spPr>
        <p:txBody>
          <a:bodyPr/>
          <a:lstStyle/>
          <a:p>
            <a:pPr marL="12700">
              <a:lnSpc>
                <a:spcPts val="1845"/>
              </a:lnSpc>
            </a:pPr>
            <a:r>
              <a:rPr lang="en-US" dirty="0"/>
              <a:t>B - 15</a:t>
            </a:r>
            <a:endParaRPr lang="en-US" spc="-25" dirty="0"/>
          </a:p>
        </p:txBody>
      </p:sp>
      <p:sp>
        <p:nvSpPr>
          <p:cNvPr id="5" name="Date Placeholder 4">
            <a:extLst>
              <a:ext uri="{FF2B5EF4-FFF2-40B4-BE49-F238E27FC236}">
                <a16:creationId xmlns:a16="http://schemas.microsoft.com/office/drawing/2014/main" id="{2E7F72EA-AA8F-3887-45A1-757ABEC5EFEF}"/>
              </a:ext>
            </a:extLst>
          </p:cNvPr>
          <p:cNvSpPr>
            <a:spLocks noGrp="1"/>
          </p:cNvSpPr>
          <p:nvPr>
            <p:ph type="dt" sz="half" idx="6"/>
          </p:nvPr>
        </p:nvSpPr>
        <p:spPr>
          <a:xfrm>
            <a:off x="1122363" y="6630698"/>
            <a:ext cx="4897437" cy="461665"/>
          </a:xfrm>
        </p:spPr>
        <p:txBody>
          <a:bodyPr/>
          <a:lstStyle/>
          <a:p>
            <a:pPr marL="13335">
              <a:lnSpc>
                <a:spcPts val="1845"/>
              </a:lnSpc>
            </a:pPr>
            <a:r>
              <a:rPr lang="en-US" cap="small" spc="-75" dirty="0"/>
              <a:t>Dept. of Computer Science and Engineering (AI&amp;ML)</a:t>
            </a:r>
            <a:endParaRPr lang="en-US" cap="small" spc="-60" dirty="0"/>
          </a:p>
        </p:txBody>
      </p:sp>
      <p:sp>
        <p:nvSpPr>
          <p:cNvPr id="6" name="Slide Number Placeholder 5">
            <a:extLst>
              <a:ext uri="{FF2B5EF4-FFF2-40B4-BE49-F238E27FC236}">
                <a16:creationId xmlns:a16="http://schemas.microsoft.com/office/drawing/2014/main" id="{439D449F-D919-66D6-CB72-EF73C6B6317F}"/>
              </a:ext>
            </a:extLst>
          </p:cNvPr>
          <p:cNvSpPr>
            <a:spLocks noGrp="1"/>
          </p:cNvSpPr>
          <p:nvPr>
            <p:ph type="sldNum" sz="quarter" idx="7"/>
          </p:nvPr>
        </p:nvSpPr>
        <p:spPr/>
        <p:txBody>
          <a:bodyPr/>
          <a:lstStyle/>
          <a:p>
            <a:pPr marL="38100">
              <a:lnSpc>
                <a:spcPts val="1845"/>
              </a:lnSpc>
            </a:pPr>
            <a:fld id="{81D60167-4931-47E6-BA6A-407CBD079E47}" type="slidenum">
              <a:rPr lang="en-IN" spc="-25" smtClean="0"/>
              <a:t>4</a:t>
            </a:fld>
            <a:endParaRPr lang="en-IN" spc="-25" dirty="0"/>
          </a:p>
        </p:txBody>
      </p:sp>
    </p:spTree>
    <p:extLst>
      <p:ext uri="{BB962C8B-B14F-4D97-AF65-F5344CB8AC3E}">
        <p14:creationId xmlns:p14="http://schemas.microsoft.com/office/powerpoint/2010/main" val="817842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02F01-13EA-2182-FB4E-08F80EFAB57D}"/>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05A0A921-B68B-22F6-A1AA-71B2414FFC52}"/>
              </a:ext>
            </a:extLst>
          </p:cNvPr>
          <p:cNvGrpSpPr/>
          <p:nvPr/>
        </p:nvGrpSpPr>
        <p:grpSpPr>
          <a:xfrm>
            <a:off x="0" y="214620"/>
            <a:ext cx="12192001" cy="887398"/>
            <a:chOff x="-2" y="216249"/>
            <a:chExt cx="12192001" cy="803791"/>
          </a:xfrm>
        </p:grpSpPr>
        <p:pic>
          <p:nvPicPr>
            <p:cNvPr id="4" name="object 4">
              <a:extLst>
                <a:ext uri="{FF2B5EF4-FFF2-40B4-BE49-F238E27FC236}">
                  <a16:creationId xmlns:a16="http://schemas.microsoft.com/office/drawing/2014/main" id="{1C4F4C40-9520-DE04-05F4-0977B571E145}"/>
                </a:ext>
              </a:extLst>
            </p:cNvPr>
            <p:cNvPicPr/>
            <p:nvPr/>
          </p:nvPicPr>
          <p:blipFill>
            <a:blip r:embed="rId3" cstate="print"/>
            <a:stretch>
              <a:fillRect/>
            </a:stretch>
          </p:blipFill>
          <p:spPr>
            <a:xfrm>
              <a:off x="0" y="216249"/>
              <a:ext cx="12191999" cy="803791"/>
            </a:xfrm>
            <a:prstGeom prst="rect">
              <a:avLst/>
            </a:prstGeom>
          </p:spPr>
        </p:pic>
        <p:sp>
          <p:nvSpPr>
            <p:cNvPr id="5" name="object 5">
              <a:extLst>
                <a:ext uri="{FF2B5EF4-FFF2-40B4-BE49-F238E27FC236}">
                  <a16:creationId xmlns:a16="http://schemas.microsoft.com/office/drawing/2014/main" id="{06DE7CA9-8180-ED98-89BA-B4ED35897D6D}"/>
                </a:ext>
              </a:extLst>
            </p:cNvPr>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AD18F8EE-AC01-D4E2-9AC0-A8E7A5F498FD}"/>
              </a:ext>
            </a:extLst>
          </p:cNvPr>
          <p:cNvSpPr txBox="1">
            <a:spLocks noGrp="1"/>
          </p:cNvSpPr>
          <p:nvPr>
            <p:ph type="title"/>
          </p:nvPr>
        </p:nvSpPr>
        <p:spPr>
          <a:xfrm>
            <a:off x="152669" y="247256"/>
            <a:ext cx="3804742" cy="695960"/>
          </a:xfrm>
          <a:prstGeom prst="rect">
            <a:avLst/>
          </a:prstGeom>
        </p:spPr>
        <p:txBody>
          <a:bodyPr vert="horz" wrap="square" lIns="0" tIns="12700" rIns="0" bIns="0" rtlCol="0">
            <a:spAutoFit/>
          </a:bodyPr>
          <a:lstStyle/>
          <a:p>
            <a:pPr marL="12700" algn="l">
              <a:lnSpc>
                <a:spcPct val="100000"/>
              </a:lnSpc>
              <a:spcBef>
                <a:spcPts val="100"/>
              </a:spcBef>
            </a:pPr>
            <a:r>
              <a:rPr lang="en-US" b="1" spc="-10" dirty="0"/>
              <a:t>Objectives</a:t>
            </a:r>
            <a:endParaRPr b="1" spc="-10" dirty="0"/>
          </a:p>
        </p:txBody>
      </p:sp>
      <p:sp>
        <p:nvSpPr>
          <p:cNvPr id="8" name="object 8">
            <a:extLst>
              <a:ext uri="{FF2B5EF4-FFF2-40B4-BE49-F238E27FC236}">
                <a16:creationId xmlns:a16="http://schemas.microsoft.com/office/drawing/2014/main" id="{FFFA0491-63AB-4BEB-3656-AD9F86E68C7D}"/>
              </a:ext>
            </a:extLst>
          </p:cNvPr>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9F1FF909-7D89-3714-5903-8198E32E6A76}"/>
              </a:ext>
            </a:extLst>
          </p:cNvPr>
          <p:cNvSpPr txBox="1">
            <a:spLocks noGrp="1"/>
          </p:cNvSpPr>
          <p:nvPr>
            <p:ph type="dt" sz="half" idx="6"/>
          </p:nvPr>
        </p:nvSpPr>
        <p:spPr>
          <a:xfrm>
            <a:off x="1122363" y="6630698"/>
            <a:ext cx="46688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0" name="object 10">
            <a:extLst>
              <a:ext uri="{FF2B5EF4-FFF2-40B4-BE49-F238E27FC236}">
                <a16:creationId xmlns:a16="http://schemas.microsoft.com/office/drawing/2014/main" id="{550E0226-C96D-8133-3533-EE2131AF4C57}"/>
              </a:ext>
            </a:extLst>
          </p:cNvPr>
          <p:cNvSpPr txBox="1"/>
          <p:nvPr/>
        </p:nvSpPr>
        <p:spPr>
          <a:xfrm>
            <a:off x="7147576" y="6630609"/>
            <a:ext cx="40538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7" name="object 7">
            <a:extLst>
              <a:ext uri="{FF2B5EF4-FFF2-40B4-BE49-F238E27FC236}">
                <a16:creationId xmlns:a16="http://schemas.microsoft.com/office/drawing/2014/main" id="{6E333B95-A523-067F-AB04-D6C37226B946}"/>
              </a:ext>
            </a:extLst>
          </p:cNvPr>
          <p:cNvSpPr txBox="1"/>
          <p:nvPr/>
        </p:nvSpPr>
        <p:spPr>
          <a:xfrm>
            <a:off x="200010" y="1022780"/>
            <a:ext cx="1570990" cy="443711"/>
          </a:xfrm>
          <a:prstGeom prst="rect">
            <a:avLst/>
          </a:prstGeom>
        </p:spPr>
        <p:txBody>
          <a:bodyPr vert="horz" wrap="square" lIns="0" tIns="12700" rIns="0" bIns="0" rtlCol="0">
            <a:spAutoFit/>
          </a:bodyPr>
          <a:lstStyle/>
          <a:p>
            <a:pPr marL="12700">
              <a:lnSpc>
                <a:spcPct val="100000"/>
              </a:lnSpc>
              <a:spcBef>
                <a:spcPts val="100"/>
              </a:spcBef>
              <a:tabLst>
                <a:tab pos="541655" algn="l"/>
              </a:tabLst>
            </a:pPr>
            <a:endParaRPr sz="2800" dirty="0">
              <a:latin typeface="Times New Roman"/>
              <a:cs typeface="Times New Roman"/>
            </a:endParaRPr>
          </a:p>
        </p:txBody>
      </p:sp>
      <p:sp>
        <p:nvSpPr>
          <p:cNvPr id="13" name="object 2">
            <a:extLst>
              <a:ext uri="{FF2B5EF4-FFF2-40B4-BE49-F238E27FC236}">
                <a16:creationId xmlns:a16="http://schemas.microsoft.com/office/drawing/2014/main" id="{30A8DE38-FE41-90A6-D606-63D157DD0D3B}"/>
              </a:ext>
            </a:extLst>
          </p:cNvPr>
          <p:cNvSpPr txBox="1"/>
          <p:nvPr/>
        </p:nvSpPr>
        <p:spPr>
          <a:xfrm>
            <a:off x="1" y="-29036"/>
            <a:ext cx="12192000" cy="243656"/>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sz="1500" b="1" i="1" dirty="0">
              <a:solidFill>
                <a:srgbClr val="FFFFFF"/>
              </a:solidFill>
              <a:latin typeface="Times New Roman"/>
              <a:cs typeface="Times New Roman"/>
            </a:endParaRPr>
          </a:p>
        </p:txBody>
      </p:sp>
      <p:sp>
        <p:nvSpPr>
          <p:cNvPr id="14" name="TextBox 13">
            <a:extLst>
              <a:ext uri="{FF2B5EF4-FFF2-40B4-BE49-F238E27FC236}">
                <a16:creationId xmlns:a16="http://schemas.microsoft.com/office/drawing/2014/main" id="{35240A63-ED0E-050C-AE52-9312DDE391B9}"/>
              </a:ext>
            </a:extLst>
          </p:cNvPr>
          <p:cNvSpPr txBox="1"/>
          <p:nvPr/>
        </p:nvSpPr>
        <p:spPr>
          <a:xfrm>
            <a:off x="0" y="1181582"/>
            <a:ext cx="13411200" cy="5460469"/>
          </a:xfrm>
          <a:prstGeom prst="rect">
            <a:avLst/>
          </a:prstGeom>
          <a:noFill/>
        </p:spPr>
        <p:txBody>
          <a:bodyPr wrap="square" rtlCol="0">
            <a:spAutoFit/>
          </a:bodyPr>
          <a:lstStyle/>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Automatic Visitor Detection </a:t>
            </a:r>
            <a:r>
              <a:rPr lang="en-US" sz="2200" b="1" dirty="0">
                <a:latin typeface="Times New Roman"/>
                <a:cs typeface="Times New Roman"/>
              </a:rPr>
              <a:t>: </a:t>
            </a:r>
            <a:r>
              <a:rPr lang="en-US" sz="2400" dirty="0">
                <a:latin typeface="Times New Roman" panose="02020603050405020304" pitchFamily="18" charset="0"/>
                <a:cs typeface="Times New Roman" panose="02020603050405020304" pitchFamily="18" charset="0"/>
              </a:rPr>
              <a:t>Identify the presence of visitors instantly using an ultrasonic sensor without requiring manual action. </a:t>
            </a:r>
          </a:p>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Image Capture</a:t>
            </a:r>
            <a:r>
              <a:rPr lang="en-IN" sz="24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Captures real-time visitor images through a USB camera.</a:t>
            </a:r>
            <a:endParaRPr lang="en-US" sz="2200" b="1" dirty="0">
              <a:latin typeface="Times New Roman" panose="02020603050405020304" pitchFamily="18" charset="0"/>
              <a:cs typeface="Times New Roman" panose="02020603050405020304" pitchFamily="18" charset="0"/>
            </a:endParaRPr>
          </a:p>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Remote Verification </a:t>
            </a:r>
            <a:r>
              <a:rPr lang="en-US" sz="22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Sends captured images to the homeowner via Telegram.</a:t>
            </a:r>
            <a:endParaRPr lang="en-US" sz="2200" dirty="0">
              <a:latin typeface="Times New Roman" panose="02020603050405020304" pitchFamily="18" charset="0"/>
              <a:cs typeface="Times New Roman" panose="02020603050405020304" pitchFamily="18" charset="0"/>
            </a:endParaRPr>
          </a:p>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Access Control </a:t>
            </a:r>
            <a:r>
              <a:rPr lang="en-US" sz="22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Opens the door automatically after user approval.</a:t>
            </a:r>
            <a:endParaRPr lang="en-US" sz="2200" b="1" dirty="0">
              <a:latin typeface="Times New Roman" panose="02020603050405020304" pitchFamily="18" charset="0"/>
              <a:cs typeface="Times New Roman" panose="02020603050405020304" pitchFamily="18" charset="0"/>
            </a:endParaRPr>
          </a:p>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Security Alerts </a:t>
            </a:r>
            <a:r>
              <a:rPr lang="en-US" sz="22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Provides alerts using GSM, buzzer, and LED indicators</a:t>
            </a:r>
            <a:r>
              <a:rPr lang="en-US" sz="2200" dirty="0">
                <a:latin typeface="Times New Roman" panose="02020603050405020304" pitchFamily="18" charset="0"/>
                <a:cs typeface="Times New Roman" panose="02020603050405020304" pitchFamily="18" charset="0"/>
              </a:rPr>
              <a:t>.</a:t>
            </a:r>
          </a:p>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Voice Interaction </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Uses a voice module to provide confirmation or guidance to visitors.</a:t>
            </a:r>
          </a:p>
          <a:p>
            <a:pPr marL="342900" marR="2089785" indent="-342900" algn="just">
              <a:lnSpc>
                <a:spcPct val="150000"/>
              </a:lnSpc>
              <a:spcBef>
                <a:spcPts val="100"/>
              </a:spcBef>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Scalability : </a:t>
            </a:r>
            <a:r>
              <a:rPr lang="en-US" sz="2400" dirty="0">
                <a:latin typeface="Times New Roman" panose="02020603050405020304" pitchFamily="18" charset="0"/>
                <a:cs typeface="Times New Roman" panose="02020603050405020304" pitchFamily="18" charset="0"/>
              </a:rPr>
              <a:t>Allows future upgrades such as mobile app or cloud integration.</a:t>
            </a:r>
            <a:endParaRPr lang="en-US" sz="2200" dirty="0">
              <a:latin typeface="Times New Roman" panose="02020603050405020304" pitchFamily="18" charset="0"/>
              <a:cs typeface="Times New Roman" panose="02020603050405020304" pitchFamily="18" charset="0"/>
            </a:endParaRPr>
          </a:p>
          <a:p>
            <a:pPr marL="812800" marR="2089785" indent="-342900" algn="just">
              <a:spcBef>
                <a:spcPts val="100"/>
              </a:spcBef>
              <a:buFont typeface="Arial" panose="020B0604020202020204" pitchFamily="34" charset="0"/>
              <a:buChar char="•"/>
            </a:pPr>
            <a:endParaRPr lang="en-US" sz="2200" dirty="0">
              <a:latin typeface="Times New Roman"/>
              <a:cs typeface="Times New Roman"/>
            </a:endParaRPr>
          </a:p>
        </p:txBody>
      </p:sp>
      <p:sp>
        <p:nvSpPr>
          <p:cNvPr id="12" name="Slide Number Placeholder 11">
            <a:extLst>
              <a:ext uri="{FF2B5EF4-FFF2-40B4-BE49-F238E27FC236}">
                <a16:creationId xmlns:a16="http://schemas.microsoft.com/office/drawing/2014/main" id="{84C894B4-AAF8-E277-029A-7873892A9C20}"/>
              </a:ext>
            </a:extLst>
          </p:cNvPr>
          <p:cNvSpPr>
            <a:spLocks noGrp="1"/>
          </p:cNvSpPr>
          <p:nvPr>
            <p:ph type="sldNum" sz="quarter" idx="7"/>
          </p:nvPr>
        </p:nvSpPr>
        <p:spPr/>
        <p:txBody>
          <a:bodyPr/>
          <a:lstStyle/>
          <a:p>
            <a:pPr marL="38100">
              <a:lnSpc>
                <a:spcPts val="1845"/>
              </a:lnSpc>
            </a:pPr>
            <a:fld id="{81D60167-4931-47E6-BA6A-407CBD079E47}" type="slidenum">
              <a:rPr lang="en-US" spc="-25" smtClean="0"/>
              <a:t>5</a:t>
            </a:fld>
            <a:endParaRPr lang="en-US" spc="-25" dirty="0"/>
          </a:p>
        </p:txBody>
      </p:sp>
    </p:spTree>
    <p:extLst>
      <p:ext uri="{BB962C8B-B14F-4D97-AF65-F5344CB8AC3E}">
        <p14:creationId xmlns:p14="http://schemas.microsoft.com/office/powerpoint/2010/main" val="1730153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 y="-29036"/>
            <a:ext cx="12192000" cy="243656"/>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sz="1500" b="1" i="1" dirty="0">
              <a:solidFill>
                <a:srgbClr val="FFFFFF"/>
              </a:solidFill>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1999" cy="803791"/>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0" y="226514"/>
            <a:ext cx="7696200" cy="628377"/>
          </a:xfrm>
          <a:prstGeom prst="rect">
            <a:avLst/>
          </a:prstGeom>
        </p:spPr>
        <p:txBody>
          <a:bodyPr vert="horz" wrap="square" lIns="0" tIns="12700" rIns="0" bIns="0" rtlCol="0">
            <a:spAutoFit/>
          </a:bodyPr>
          <a:lstStyle/>
          <a:p>
            <a:pPr marL="12700">
              <a:lnSpc>
                <a:spcPct val="100000"/>
              </a:lnSpc>
              <a:spcBef>
                <a:spcPts val="100"/>
              </a:spcBef>
            </a:pPr>
            <a:r>
              <a:rPr sz="4000" b="1" dirty="0"/>
              <a:t>Literature</a:t>
            </a:r>
            <a:r>
              <a:rPr sz="4000" b="1" spc="-50" dirty="0"/>
              <a:t> </a:t>
            </a:r>
            <a:r>
              <a:rPr sz="4000" b="1" spc="-10" dirty="0"/>
              <a:t>Survey</a:t>
            </a:r>
            <a:r>
              <a:rPr lang="en-US" sz="4000" b="1" spc="-10" dirty="0"/>
              <a:t> for objectives</a:t>
            </a:r>
            <a:endParaRPr sz="4000" b="1" spc="-10" dirty="0"/>
          </a:p>
        </p:txBody>
      </p:sp>
      <p:sp>
        <p:nvSpPr>
          <p:cNvPr id="8" name="object 8"/>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p:cNvSpPr txBox="1">
            <a:spLocks noGrp="1"/>
          </p:cNvSpPr>
          <p:nvPr>
            <p:ph type="dt" sz="half" idx="6"/>
          </p:nvPr>
        </p:nvSpPr>
        <p:spPr>
          <a:xfrm>
            <a:off x="1122363" y="6630698"/>
            <a:ext cx="48212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0" name="object 10"/>
          <p:cNvSpPr txBox="1"/>
          <p:nvPr/>
        </p:nvSpPr>
        <p:spPr>
          <a:xfrm>
            <a:off x="7147576" y="6630609"/>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graphicFrame>
        <p:nvGraphicFramePr>
          <p:cNvPr id="7" name="object 7"/>
          <p:cNvGraphicFramePr>
            <a:graphicFrameLocks noGrp="1"/>
          </p:cNvGraphicFramePr>
          <p:nvPr>
            <p:extLst>
              <p:ext uri="{D42A27DB-BD31-4B8C-83A1-F6EECF244321}">
                <p14:modId xmlns:p14="http://schemas.microsoft.com/office/powerpoint/2010/main" val="2164694236"/>
              </p:ext>
            </p:extLst>
          </p:nvPr>
        </p:nvGraphicFramePr>
        <p:xfrm>
          <a:off x="0" y="964279"/>
          <a:ext cx="11833421" cy="6066300"/>
        </p:xfrm>
        <a:graphic>
          <a:graphicData uri="http://schemas.openxmlformats.org/drawingml/2006/table">
            <a:tbl>
              <a:tblPr firstRow="1" bandRow="1">
                <a:tableStyleId>{2D5ABB26-0587-4C30-8999-92F81FD0307C}</a:tableStyleId>
              </a:tblPr>
              <a:tblGrid>
                <a:gridCol w="513686">
                  <a:extLst>
                    <a:ext uri="{9D8B030D-6E8A-4147-A177-3AD203B41FA5}">
                      <a16:colId xmlns:a16="http://schemas.microsoft.com/office/drawing/2014/main" val="20000"/>
                    </a:ext>
                  </a:extLst>
                </a:gridCol>
                <a:gridCol w="2045974">
                  <a:extLst>
                    <a:ext uri="{9D8B030D-6E8A-4147-A177-3AD203B41FA5}">
                      <a16:colId xmlns:a16="http://schemas.microsoft.com/office/drawing/2014/main" val="20001"/>
                    </a:ext>
                  </a:extLst>
                </a:gridCol>
                <a:gridCol w="1863226">
                  <a:extLst>
                    <a:ext uri="{9D8B030D-6E8A-4147-A177-3AD203B41FA5}">
                      <a16:colId xmlns:a16="http://schemas.microsoft.com/office/drawing/2014/main" val="20002"/>
                    </a:ext>
                  </a:extLst>
                </a:gridCol>
                <a:gridCol w="1319784">
                  <a:extLst>
                    <a:ext uri="{9D8B030D-6E8A-4147-A177-3AD203B41FA5}">
                      <a16:colId xmlns:a16="http://schemas.microsoft.com/office/drawing/2014/main" val="20003"/>
                    </a:ext>
                  </a:extLst>
                </a:gridCol>
                <a:gridCol w="2053150">
                  <a:extLst>
                    <a:ext uri="{9D8B030D-6E8A-4147-A177-3AD203B41FA5}">
                      <a16:colId xmlns:a16="http://schemas.microsoft.com/office/drawing/2014/main" val="20004"/>
                    </a:ext>
                  </a:extLst>
                </a:gridCol>
                <a:gridCol w="2051455">
                  <a:extLst>
                    <a:ext uri="{9D8B030D-6E8A-4147-A177-3AD203B41FA5}">
                      <a16:colId xmlns:a16="http://schemas.microsoft.com/office/drawing/2014/main" val="20005"/>
                    </a:ext>
                  </a:extLst>
                </a:gridCol>
                <a:gridCol w="1986146">
                  <a:extLst>
                    <a:ext uri="{9D8B030D-6E8A-4147-A177-3AD203B41FA5}">
                      <a16:colId xmlns:a16="http://schemas.microsoft.com/office/drawing/2014/main" val="20006"/>
                    </a:ext>
                  </a:extLst>
                </a:gridCol>
              </a:tblGrid>
              <a:tr h="862351">
                <a:tc>
                  <a:txBody>
                    <a:bodyPr/>
                    <a:lstStyle/>
                    <a:p>
                      <a:pPr marL="85725" algn="l">
                        <a:lnSpc>
                          <a:spcPct val="100000"/>
                        </a:lnSpc>
                        <a:spcBef>
                          <a:spcPts val="150"/>
                        </a:spcBef>
                      </a:pPr>
                      <a:r>
                        <a:rPr sz="1800" b="1" spc="-25" dirty="0">
                          <a:solidFill>
                            <a:srgbClr val="FFFFFF"/>
                          </a:solidFill>
                          <a:latin typeface="Calibri"/>
                          <a:cs typeface="Calibri"/>
                        </a:rPr>
                        <a:t>No</a:t>
                      </a: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gn="l">
                        <a:lnSpc>
                          <a:spcPct val="100000"/>
                        </a:lnSpc>
                        <a:spcBef>
                          <a:spcPts val="150"/>
                        </a:spcBef>
                      </a:pPr>
                      <a:r>
                        <a:rPr sz="1800" b="1" spc="-10" dirty="0">
                          <a:solidFill>
                            <a:srgbClr val="FFFFFF"/>
                          </a:solidFill>
                          <a:latin typeface="Calibri"/>
                          <a:cs typeface="Calibri"/>
                        </a:rPr>
                        <a:t>Title</a:t>
                      </a: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gn="l">
                        <a:lnSpc>
                          <a:spcPct val="100000"/>
                        </a:lnSpc>
                        <a:spcBef>
                          <a:spcPts val="150"/>
                        </a:spcBef>
                      </a:pPr>
                      <a:r>
                        <a:rPr sz="1800" b="1" spc="-10" dirty="0">
                          <a:solidFill>
                            <a:srgbClr val="FFFFFF"/>
                          </a:solidFill>
                          <a:latin typeface="Calibri"/>
                          <a:cs typeface="Calibri"/>
                        </a:rPr>
                        <a:t>Author</a:t>
                      </a:r>
                      <a:endParaRPr sz="180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marR="136525" algn="l">
                        <a:lnSpc>
                          <a:spcPct val="100000"/>
                        </a:lnSpc>
                        <a:spcBef>
                          <a:spcPts val="150"/>
                        </a:spcBef>
                      </a:pPr>
                      <a:r>
                        <a:rPr sz="1800" b="1" dirty="0">
                          <a:solidFill>
                            <a:srgbClr val="FFFFFF"/>
                          </a:solidFill>
                          <a:latin typeface="Calibri"/>
                          <a:cs typeface="Calibri"/>
                        </a:rPr>
                        <a:t>Journal</a:t>
                      </a:r>
                      <a:r>
                        <a:rPr sz="1800" b="1" spc="-35" dirty="0">
                          <a:solidFill>
                            <a:srgbClr val="FFFFFF"/>
                          </a:solidFill>
                          <a:latin typeface="Calibri"/>
                          <a:cs typeface="Calibri"/>
                        </a:rPr>
                        <a:t> </a:t>
                      </a:r>
                      <a:r>
                        <a:rPr sz="1800" b="1" spc="-20" dirty="0">
                          <a:solidFill>
                            <a:srgbClr val="FFFFFF"/>
                          </a:solidFill>
                          <a:latin typeface="Calibri"/>
                          <a:cs typeface="Calibri"/>
                        </a:rPr>
                        <a:t>Name </a:t>
                      </a:r>
                      <a:r>
                        <a:rPr sz="1800" b="1" dirty="0">
                          <a:solidFill>
                            <a:srgbClr val="FFFFFF"/>
                          </a:solidFill>
                          <a:latin typeface="Calibri"/>
                          <a:cs typeface="Calibri"/>
                        </a:rPr>
                        <a:t>&amp;</a:t>
                      </a:r>
                      <a:r>
                        <a:rPr sz="1800" b="1" spc="-5" dirty="0">
                          <a:solidFill>
                            <a:srgbClr val="FFFFFF"/>
                          </a:solidFill>
                          <a:latin typeface="Calibri"/>
                          <a:cs typeface="Calibri"/>
                        </a:rPr>
                        <a:t> </a:t>
                      </a:r>
                      <a:r>
                        <a:rPr sz="1800" b="1" spc="-20" dirty="0">
                          <a:solidFill>
                            <a:srgbClr val="FFFFFF"/>
                          </a:solidFill>
                          <a:latin typeface="Calibri"/>
                          <a:cs typeface="Calibri"/>
                        </a:rPr>
                        <a:t>Year</a:t>
                      </a:r>
                      <a:endParaRPr sz="180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090" marR="522605" algn="l">
                        <a:lnSpc>
                          <a:spcPct val="100000"/>
                        </a:lnSpc>
                        <a:spcBef>
                          <a:spcPts val="150"/>
                        </a:spcBef>
                      </a:pPr>
                      <a:r>
                        <a:rPr sz="1800" b="1" spc="-10" dirty="0">
                          <a:solidFill>
                            <a:srgbClr val="FFFFFF"/>
                          </a:solidFill>
                          <a:latin typeface="Calibri"/>
                          <a:cs typeface="Calibri"/>
                        </a:rPr>
                        <a:t>Methodology Adapted</a:t>
                      </a: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gn="l">
                        <a:lnSpc>
                          <a:spcPct val="100000"/>
                        </a:lnSpc>
                        <a:spcBef>
                          <a:spcPts val="150"/>
                        </a:spcBef>
                      </a:pPr>
                      <a:r>
                        <a:rPr sz="1800" b="1" dirty="0">
                          <a:solidFill>
                            <a:srgbClr val="FFFFFF"/>
                          </a:solidFill>
                          <a:latin typeface="Calibri"/>
                          <a:cs typeface="Calibri"/>
                        </a:rPr>
                        <a:t>Key</a:t>
                      </a:r>
                      <a:r>
                        <a:rPr sz="1800" b="1" spc="-70" dirty="0">
                          <a:solidFill>
                            <a:srgbClr val="FFFFFF"/>
                          </a:solidFill>
                          <a:latin typeface="Calibri"/>
                          <a:cs typeface="Calibri"/>
                        </a:rPr>
                        <a:t> </a:t>
                      </a:r>
                      <a:r>
                        <a:rPr sz="1800" b="1" spc="-10" dirty="0">
                          <a:solidFill>
                            <a:srgbClr val="FFFFFF"/>
                          </a:solidFill>
                          <a:latin typeface="Calibri"/>
                          <a:cs typeface="Calibri"/>
                        </a:rPr>
                        <a:t>Findings</a:t>
                      </a:r>
                      <a:endParaRPr sz="180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85725" algn="l">
                        <a:lnSpc>
                          <a:spcPct val="100000"/>
                        </a:lnSpc>
                        <a:spcBef>
                          <a:spcPts val="150"/>
                        </a:spcBef>
                      </a:pPr>
                      <a:r>
                        <a:rPr sz="1800" b="1" spc="-20" dirty="0">
                          <a:solidFill>
                            <a:srgbClr val="FFFFFF"/>
                          </a:solidFill>
                          <a:latin typeface="Calibri"/>
                          <a:cs typeface="Calibri"/>
                        </a:rPr>
                        <a:t>Gaps</a:t>
                      </a: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1754770">
                <a:tc>
                  <a:txBody>
                    <a:bodyPr/>
                    <a:lstStyle/>
                    <a:p>
                      <a:pPr marL="85725" algn="l">
                        <a:lnSpc>
                          <a:spcPct val="100000"/>
                        </a:lnSpc>
                        <a:spcBef>
                          <a:spcPts val="150"/>
                        </a:spcBef>
                      </a:pPr>
                      <a:r>
                        <a:rPr sz="1800" spc="-25" dirty="0">
                          <a:latin typeface="Calibri"/>
                          <a:cs typeface="Calibri"/>
                        </a:rPr>
                        <a:t>1.</a:t>
                      </a: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IoT-Enabled Smart Doorbell with Real-Time Alerts</a:t>
                      </a:r>
                      <a:endParaRPr sz="1800" dirty="0">
                        <a:latin typeface="Times New Roman" panose="02020603050405020304" pitchFamily="18" charset="0"/>
                        <a:cs typeface="Times New Roman" panose="02020603050405020304" pitchFamily="18" charset="0"/>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tc>
                  <a:txBody>
                    <a:bodyPr/>
                    <a:lstStyle/>
                    <a:p>
                      <a:pPr marL="85725" marR="177165" algn="l">
                        <a:lnSpc>
                          <a:spcPct val="100000"/>
                        </a:lnSpc>
                        <a:spcBef>
                          <a:spcPts val="150"/>
                        </a:spcBef>
                      </a:pPr>
                      <a:r>
                        <a:rPr lang="en-IN" dirty="0">
                          <a:latin typeface="Times New Roman" panose="02020603050405020304" pitchFamily="18" charset="0"/>
                          <a:cs typeface="Times New Roman" panose="02020603050405020304" pitchFamily="18" charset="0"/>
                        </a:rPr>
                        <a:t>J. Lee, S. Kumar</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tc>
                  <a:txBody>
                    <a:bodyPr/>
                    <a:lstStyle/>
                    <a:p>
                      <a:pPr marL="85725" marR="177165" algn="l">
                        <a:lnSpc>
                          <a:spcPct val="100000"/>
                        </a:lnSpc>
                        <a:spcBef>
                          <a:spcPts val="150"/>
                        </a:spcBef>
                      </a:pPr>
                      <a:r>
                        <a:rPr lang="en-IN" dirty="0">
                          <a:latin typeface="Times New Roman" panose="02020603050405020304" pitchFamily="18" charset="0"/>
                          <a:cs typeface="Times New Roman" panose="02020603050405020304" pitchFamily="18" charset="0"/>
                        </a:rPr>
                        <a:t>IEEE Access, 2154</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Combined ultrasonic sensor and camera with IoT notification</a:t>
                      </a:r>
                      <a:endParaRPr lang="en-US" dirty="0">
                        <a:solidFill>
                          <a:schemeClr val="tx1"/>
                        </a:solidFill>
                        <a:latin typeface="Times New Roman" panose="02020603050405020304" pitchFamily="18" charset="0"/>
                        <a:ea typeface="+mn-ea"/>
                        <a:cs typeface="Times New Roman" panose="02020603050405020304" pitchFamily="18" charset="0"/>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tc>
                  <a:txBody>
                    <a:bodyPr/>
                    <a:lstStyle/>
                    <a:p>
                      <a:pPr marL="85725" marR="177165" algn="l">
                        <a:lnSpc>
                          <a:spcPct val="100000"/>
                        </a:lnSpc>
                        <a:spcBef>
                          <a:spcPts val="150"/>
                        </a:spcBef>
                      </a:pPr>
                      <a:r>
                        <a:rPr lang="en-IN" dirty="0">
                          <a:latin typeface="Times New Roman" panose="02020603050405020304" pitchFamily="18" charset="0"/>
                          <a:cs typeface="Times New Roman" panose="02020603050405020304" pitchFamily="18" charset="0"/>
                        </a:rPr>
                        <a:t>Automatic visitor detection + image capture + app/notification</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Lacks integrated motor control for door opening</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19050" marB="0">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E"/>
                    </a:solidFill>
                  </a:tcPr>
                </a:tc>
                <a:extLst>
                  <a:ext uri="{0D108BD9-81ED-4DB2-BD59-A6C34878D82A}">
                    <a16:rowId xmlns:a16="http://schemas.microsoft.com/office/drawing/2014/main" val="10001"/>
                  </a:ext>
                </a:extLst>
              </a:tr>
              <a:tr h="1123788">
                <a:tc>
                  <a:txBody>
                    <a:bodyPr/>
                    <a:lstStyle/>
                    <a:p>
                      <a:pPr marL="85725" algn="l">
                        <a:lnSpc>
                          <a:spcPct val="100000"/>
                        </a:lnSpc>
                        <a:spcBef>
                          <a:spcPts val="150"/>
                        </a:spcBef>
                      </a:pPr>
                      <a:r>
                        <a:rPr lang="en-US" sz="1800" dirty="0">
                          <a:latin typeface="Calibri"/>
                          <a:cs typeface="Calibri"/>
                        </a:rPr>
                        <a:t>2.</a:t>
                      </a: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GSM Integrated Smart Security Framework</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IN" dirty="0">
                          <a:latin typeface="Times New Roman" panose="02020603050405020304" pitchFamily="18" charset="0"/>
                          <a:cs typeface="Times New Roman" panose="02020603050405020304" pitchFamily="18" charset="0"/>
                        </a:rPr>
                        <a:t>L. Chen, Y. Wang</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IN" dirty="0">
                          <a:latin typeface="Times New Roman" panose="02020603050405020304" pitchFamily="18" charset="0"/>
                          <a:cs typeface="Times New Roman" panose="02020603050405020304" pitchFamily="18" charset="0"/>
                        </a:rPr>
                        <a:t>Springer Nature, 2153</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GSM module for alert messaging during unauthorized events</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Effective emergency alert via GSM + buzzer + LED</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EF6"/>
                    </a:solidFill>
                  </a:tcPr>
                </a:tc>
                <a:tc>
                  <a:txBody>
                    <a:bodyPr/>
                    <a:lstStyle/>
                    <a:p>
                      <a:pPr>
                        <a:buNone/>
                      </a:pPr>
                      <a:r>
                        <a:rPr lang="en-US" dirty="0">
                          <a:latin typeface="Times New Roman" panose="02020603050405020304" pitchFamily="18" charset="0"/>
                          <a:cs typeface="Times New Roman" panose="02020603050405020304" pitchFamily="18" charset="0"/>
                        </a:rPr>
                        <a:t>Does not incorporate visitor presence detection or real-time capture</a:t>
                      </a:r>
                      <a:endParaRPr lang="da-DK" dirty="0">
                        <a:latin typeface="Times New Roman" panose="02020603050405020304" pitchFamily="18" charset="0"/>
                        <a:cs typeface="Times New Roman" panose="02020603050405020304" pitchFamily="18" charset="0"/>
                      </a:endParaRPr>
                    </a:p>
                  </a:txBody>
                  <a:tcPr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EF6"/>
                    </a:solidFill>
                  </a:tcPr>
                </a:tc>
                <a:extLst>
                  <a:ext uri="{0D108BD9-81ED-4DB2-BD59-A6C34878D82A}">
                    <a16:rowId xmlns:a16="http://schemas.microsoft.com/office/drawing/2014/main" val="10002"/>
                  </a:ext>
                </a:extLst>
              </a:tr>
              <a:tr h="1685682">
                <a:tc>
                  <a:txBody>
                    <a:bodyPr/>
                    <a:lstStyle/>
                    <a:p>
                      <a:pPr marL="85725" algn="l">
                        <a:lnSpc>
                          <a:spcPct val="100000"/>
                        </a:lnSpc>
                        <a:spcBef>
                          <a:spcPts val="150"/>
                        </a:spcBef>
                      </a:pPr>
                      <a:r>
                        <a:rPr lang="en-US" sz="1800" dirty="0">
                          <a:latin typeface="Calibri"/>
                          <a:cs typeface="Calibri"/>
                        </a:rPr>
                        <a:t>3.</a:t>
                      </a:r>
                      <a:endParaRPr sz="1800" dirty="0">
                        <a:latin typeface="Calibri"/>
                        <a:cs typeface="Calibri"/>
                      </a:endParaRPr>
                    </a:p>
                  </a:txBody>
                  <a:tcPr marL="0" marR="0" marT="19050"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Automated Door Access Control Using Arduino</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IN" dirty="0">
                          <a:latin typeface="Times New Roman" panose="02020603050405020304" pitchFamily="18" charset="0"/>
                          <a:cs typeface="Times New Roman" panose="02020603050405020304" pitchFamily="18" charset="0"/>
                        </a:rPr>
                        <a:t>S. Reddy, V. Naresh</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solidFill>
                            <a:schemeClr val="tx1"/>
                          </a:solidFill>
                          <a:latin typeface="Times New Roman" panose="02020603050405020304" pitchFamily="18" charset="0"/>
                          <a:ea typeface="+mn-ea"/>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RJET, 2150</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Motor driver controlled door automation using Arduino</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Motor driver controlled door automation using Arduino</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tc>
                  <a:txBody>
                    <a:bodyPr/>
                    <a:lstStyle/>
                    <a:p>
                      <a:pPr marL="85725" marR="177165" algn="l">
                        <a:lnSpc>
                          <a:spcPct val="100000"/>
                        </a:lnSpc>
                        <a:spcBef>
                          <a:spcPts val="150"/>
                        </a:spcBef>
                      </a:pPr>
                      <a:r>
                        <a:rPr lang="en-US" dirty="0">
                          <a:latin typeface="Times New Roman" panose="02020603050405020304" pitchFamily="18" charset="0"/>
                          <a:cs typeface="Times New Roman" panose="02020603050405020304" pitchFamily="18" charset="0"/>
                        </a:rPr>
                        <a:t>No visitor verification or security alert features</a:t>
                      </a:r>
                      <a:endParaRPr dirty="0">
                        <a:solidFill>
                          <a:schemeClr val="tx1"/>
                        </a:solidFill>
                        <a:latin typeface="Times New Roman" panose="02020603050405020304" pitchFamily="18" charset="0"/>
                        <a:ea typeface="+mn-ea"/>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EF6"/>
                    </a:solidFill>
                  </a:tcPr>
                </a:tc>
                <a:extLst>
                  <a:ext uri="{0D108BD9-81ED-4DB2-BD59-A6C34878D82A}">
                    <a16:rowId xmlns:a16="http://schemas.microsoft.com/office/drawing/2014/main" val="10004"/>
                  </a:ext>
                </a:extLst>
              </a:tr>
              <a:tr h="300457">
                <a:tc>
                  <a:txBody>
                    <a:bodyPr/>
                    <a:lstStyle/>
                    <a:p>
                      <a:pPr marL="85725" algn="l">
                        <a:lnSpc>
                          <a:spcPct val="100000"/>
                        </a:lnSpc>
                        <a:spcBef>
                          <a:spcPts val="150"/>
                        </a:spcBef>
                      </a:pPr>
                      <a:endParaRPr sz="1800" dirty="0">
                        <a:latin typeface="Calibri"/>
                        <a:cs typeface="Calibri"/>
                      </a:endParaRPr>
                    </a:p>
                  </a:txBody>
                  <a:tcPr marL="0" marR="0" marT="190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gn="l">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gn="l">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gn="l">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gn="l">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gn="l">
                        <a:lnSpc>
                          <a:spcPct val="100000"/>
                        </a:lnSpc>
                      </a:pPr>
                      <a:endParaRPr sz="17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tc>
                  <a:txBody>
                    <a:bodyPr/>
                    <a:lstStyle/>
                    <a:p>
                      <a:pPr algn="l">
                        <a:lnSpc>
                          <a:spcPct val="100000"/>
                        </a:lnSpc>
                      </a:pPr>
                      <a:endParaRPr sz="17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E"/>
                    </a:solidFill>
                  </a:tcPr>
                </a:tc>
                <a:extLst>
                  <a:ext uri="{0D108BD9-81ED-4DB2-BD59-A6C34878D82A}">
                    <a16:rowId xmlns:a16="http://schemas.microsoft.com/office/drawing/2014/main" val="10005"/>
                  </a:ext>
                </a:extLst>
              </a:tr>
            </a:tbl>
          </a:graphicData>
        </a:graphic>
      </p:graphicFrame>
      <p:sp>
        <p:nvSpPr>
          <p:cNvPr id="13" name="Slide Number Placeholder 12">
            <a:extLst>
              <a:ext uri="{FF2B5EF4-FFF2-40B4-BE49-F238E27FC236}">
                <a16:creationId xmlns:a16="http://schemas.microsoft.com/office/drawing/2014/main" id="{3ADF48BF-B942-FD7D-E03E-7D2FFB18BCA4}"/>
              </a:ext>
            </a:extLst>
          </p:cNvPr>
          <p:cNvSpPr>
            <a:spLocks noGrp="1"/>
          </p:cNvSpPr>
          <p:nvPr>
            <p:ph type="sldNum" sz="quarter" idx="7"/>
          </p:nvPr>
        </p:nvSpPr>
        <p:spPr/>
        <p:txBody>
          <a:bodyPr/>
          <a:lstStyle/>
          <a:p>
            <a:pPr marL="38100">
              <a:lnSpc>
                <a:spcPts val="1845"/>
              </a:lnSpc>
            </a:pPr>
            <a:fld id="{81D60167-4931-47E6-BA6A-407CBD079E47}" type="slidenum">
              <a:rPr lang="en-US" spc="-25" smtClean="0"/>
              <a:t>6</a:t>
            </a:fld>
            <a:endParaRPr lang="en-US"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07FCB-2346-E0EA-0739-C252BE8E5A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9BA5A9-BFDA-087A-DD85-E4270530BD32}"/>
              </a:ext>
            </a:extLst>
          </p:cNvPr>
          <p:cNvSpPr txBox="1"/>
          <p:nvPr/>
        </p:nvSpPr>
        <p:spPr>
          <a:xfrm>
            <a:off x="1" y="-29036"/>
            <a:ext cx="12192000" cy="243656"/>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sz="1500" b="1" i="1" dirty="0">
              <a:solidFill>
                <a:srgbClr val="FFFFFF"/>
              </a:solidFill>
              <a:latin typeface="Times New Roman"/>
              <a:cs typeface="Times New Roman"/>
            </a:endParaRPr>
          </a:p>
        </p:txBody>
      </p:sp>
      <p:grpSp>
        <p:nvGrpSpPr>
          <p:cNvPr id="3" name="object 3">
            <a:extLst>
              <a:ext uri="{FF2B5EF4-FFF2-40B4-BE49-F238E27FC236}">
                <a16:creationId xmlns:a16="http://schemas.microsoft.com/office/drawing/2014/main" id="{7CF77665-13B4-64D1-54A8-8042A9A460B5}"/>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C7C98154-6545-1634-3F60-344BDC7093DF}"/>
                </a:ext>
              </a:extLst>
            </p:cNvPr>
            <p:cNvPicPr/>
            <p:nvPr/>
          </p:nvPicPr>
          <p:blipFill>
            <a:blip r:embed="rId3" cstate="print"/>
            <a:stretch>
              <a:fillRect/>
            </a:stretch>
          </p:blipFill>
          <p:spPr>
            <a:xfrm>
              <a:off x="0" y="216249"/>
              <a:ext cx="12191999" cy="803791"/>
            </a:xfrm>
            <a:prstGeom prst="rect">
              <a:avLst/>
            </a:prstGeom>
          </p:spPr>
        </p:pic>
        <p:sp>
          <p:nvSpPr>
            <p:cNvPr id="5" name="object 5">
              <a:extLst>
                <a:ext uri="{FF2B5EF4-FFF2-40B4-BE49-F238E27FC236}">
                  <a16:creationId xmlns:a16="http://schemas.microsoft.com/office/drawing/2014/main" id="{BF4740A8-60C7-5EA6-4AF4-8197FCE14934}"/>
                </a:ext>
              </a:extLst>
            </p:cNvPr>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53E7E079-9B8B-9A78-DFCE-4CF1AB97C78B}"/>
              </a:ext>
            </a:extLst>
          </p:cNvPr>
          <p:cNvSpPr txBox="1">
            <a:spLocks noGrp="1"/>
          </p:cNvSpPr>
          <p:nvPr>
            <p:ph type="title"/>
          </p:nvPr>
        </p:nvSpPr>
        <p:spPr>
          <a:xfrm>
            <a:off x="141783" y="220244"/>
            <a:ext cx="3946525" cy="695960"/>
          </a:xfrm>
          <a:prstGeom prst="rect">
            <a:avLst/>
          </a:prstGeom>
        </p:spPr>
        <p:txBody>
          <a:bodyPr vert="horz" wrap="square" lIns="0" tIns="12700" rIns="0" bIns="0" rtlCol="0">
            <a:spAutoFit/>
          </a:bodyPr>
          <a:lstStyle/>
          <a:p>
            <a:pPr marL="12700">
              <a:lnSpc>
                <a:spcPct val="100000"/>
              </a:lnSpc>
              <a:spcBef>
                <a:spcPts val="100"/>
              </a:spcBef>
            </a:pPr>
            <a:r>
              <a:rPr lang="en-US" b="1" spc="-10" dirty="0"/>
              <a:t>Existing System</a:t>
            </a:r>
            <a:endParaRPr b="1" spc="-10" dirty="0"/>
          </a:p>
        </p:txBody>
      </p:sp>
      <p:sp>
        <p:nvSpPr>
          <p:cNvPr id="13" name="Text Placeholder 12">
            <a:extLst>
              <a:ext uri="{FF2B5EF4-FFF2-40B4-BE49-F238E27FC236}">
                <a16:creationId xmlns:a16="http://schemas.microsoft.com/office/drawing/2014/main" id="{69E4AC6D-8403-203E-D12C-730E3CD9C2FB}"/>
              </a:ext>
            </a:extLst>
          </p:cNvPr>
          <p:cNvSpPr>
            <a:spLocks noGrp="1"/>
          </p:cNvSpPr>
          <p:nvPr>
            <p:ph type="body" idx="1"/>
          </p:nvPr>
        </p:nvSpPr>
        <p:spPr>
          <a:xfrm>
            <a:off x="148169" y="924779"/>
            <a:ext cx="11685254" cy="5940857"/>
          </a:xfrm>
        </p:spPr>
        <p:txBody>
          <a:bodyPr/>
          <a:lstStyle/>
          <a:p>
            <a:pPr algn="just">
              <a:lnSpc>
                <a:spcPct val="150000"/>
              </a:lnSpc>
            </a:pPr>
            <a:r>
              <a:rPr lang="en-US" sz="2400" dirty="0"/>
              <a:t>In most current doorbell and home entry security systems, visitor handling is managed using basic manual alert mechanisms such as button-based ringing. These systems have several limitations:</a:t>
            </a:r>
            <a:endParaRPr lang="en-US" sz="2400" b="1" dirty="0"/>
          </a:p>
          <a:p>
            <a:pPr marL="457200" indent="-457200" algn="just">
              <a:lnSpc>
                <a:spcPct val="150000"/>
              </a:lnSpc>
              <a:buFont typeface="+mj-lt"/>
              <a:buAutoNum type="arabicPeriod"/>
            </a:pPr>
            <a:r>
              <a:rPr lang="en-IN" sz="2400" b="1" dirty="0"/>
              <a:t>Manual Operation</a:t>
            </a:r>
            <a:r>
              <a:rPr lang="en-US" sz="2400" b="1" dirty="0"/>
              <a:t>: </a:t>
            </a:r>
            <a:r>
              <a:rPr lang="en-US" sz="2400" dirty="0"/>
              <a:t>Visitors are required to physically press a doorbell button to notify the homeowner about their arrival.</a:t>
            </a:r>
          </a:p>
          <a:p>
            <a:pPr marL="457200" indent="-457200" algn="just">
              <a:lnSpc>
                <a:spcPct val="150000"/>
              </a:lnSpc>
              <a:buFont typeface="+mj-lt"/>
              <a:buAutoNum type="arabicPeriod"/>
            </a:pPr>
            <a:r>
              <a:rPr lang="en-IN" sz="2400" b="1" dirty="0"/>
              <a:t>Limited Alert Mechanism</a:t>
            </a:r>
            <a:r>
              <a:rPr lang="en-US" sz="2400" b="1" dirty="0"/>
              <a:t>: </a:t>
            </a:r>
            <a:r>
              <a:rPr lang="en-US" sz="2400" dirty="0"/>
              <a:t>The system provides only a basic ringing or chime sound, without smart notifications, logs, or any advanced alert features.</a:t>
            </a:r>
          </a:p>
          <a:p>
            <a:pPr marL="457200" indent="-457200" algn="just">
              <a:lnSpc>
                <a:spcPct val="150000"/>
              </a:lnSpc>
              <a:buFont typeface="+mj-lt"/>
              <a:buAutoNum type="arabicPeriod"/>
            </a:pPr>
            <a:r>
              <a:rPr lang="en-IN" sz="2400" b="1" dirty="0"/>
              <a:t>No Visitor Verification</a:t>
            </a:r>
            <a:r>
              <a:rPr lang="en-US" sz="2400" b="1" dirty="0"/>
              <a:t>: </a:t>
            </a:r>
            <a:r>
              <a:rPr lang="en-US" sz="2400" dirty="0"/>
              <a:t>There is no facility to capture images or visually verify the identity of visitors before opening the door.</a:t>
            </a:r>
          </a:p>
          <a:p>
            <a:pPr algn="just">
              <a:lnSpc>
                <a:spcPct val="150000"/>
              </a:lnSpc>
            </a:pPr>
            <a:endParaRPr lang="en-US" sz="2200" dirty="0"/>
          </a:p>
          <a:p>
            <a:pPr algn="just">
              <a:lnSpc>
                <a:spcPct val="150000"/>
              </a:lnSpc>
            </a:pPr>
            <a:endParaRPr lang="en-US" sz="2200" dirty="0"/>
          </a:p>
        </p:txBody>
      </p:sp>
      <p:sp>
        <p:nvSpPr>
          <p:cNvPr id="8" name="object 8">
            <a:extLst>
              <a:ext uri="{FF2B5EF4-FFF2-40B4-BE49-F238E27FC236}">
                <a16:creationId xmlns:a16="http://schemas.microsoft.com/office/drawing/2014/main" id="{D830367F-46CA-E8FA-AED0-87D2291EEA02}"/>
              </a:ext>
            </a:extLst>
          </p:cNvPr>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3BFF3AE3-D423-3068-0BB7-3B6752951AB5}"/>
              </a:ext>
            </a:extLst>
          </p:cNvPr>
          <p:cNvSpPr txBox="1">
            <a:spLocks noGrp="1"/>
          </p:cNvSpPr>
          <p:nvPr>
            <p:ph type="dt" sz="half" idx="6"/>
          </p:nvPr>
        </p:nvSpPr>
        <p:spPr>
          <a:xfrm>
            <a:off x="1122363" y="6630698"/>
            <a:ext cx="4668837" cy="230832"/>
          </a:xfrm>
          <a:prstGeom prst="rect">
            <a:avLst/>
          </a:prstGeom>
        </p:spPr>
        <p:txBody>
          <a:bodyPr vert="horz" wrap="square" lIns="0" tIns="0" rIns="0" bIns="0" rtlCol="0">
            <a:spAutoFit/>
          </a:bodyPr>
          <a:lstStyle/>
          <a:p>
            <a:pPr marL="12700">
              <a:lnSpc>
                <a:spcPts val="1845"/>
              </a:lnSpc>
            </a:pPr>
            <a:r>
              <a:rPr lang="en-US" cap="small" spc="-75" dirty="0"/>
              <a:t>Dept. of Computer Science and Engineering (AI&amp;ML)</a:t>
            </a:r>
            <a:endParaRPr cap="small" spc="-60" dirty="0"/>
          </a:p>
        </p:txBody>
      </p:sp>
      <p:sp>
        <p:nvSpPr>
          <p:cNvPr id="10" name="object 10">
            <a:extLst>
              <a:ext uri="{FF2B5EF4-FFF2-40B4-BE49-F238E27FC236}">
                <a16:creationId xmlns:a16="http://schemas.microsoft.com/office/drawing/2014/main" id="{9EECF2D6-9345-16F6-47D6-CD098AA4B1C8}"/>
              </a:ext>
            </a:extLst>
          </p:cNvPr>
          <p:cNvSpPr txBox="1"/>
          <p:nvPr/>
        </p:nvSpPr>
        <p:spPr>
          <a:xfrm>
            <a:off x="7147576" y="6630609"/>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15" name="Slide Number Placeholder 14">
            <a:extLst>
              <a:ext uri="{FF2B5EF4-FFF2-40B4-BE49-F238E27FC236}">
                <a16:creationId xmlns:a16="http://schemas.microsoft.com/office/drawing/2014/main" id="{15E21B0F-EB8D-E3EE-95A5-EFA0042E6964}"/>
              </a:ext>
            </a:extLst>
          </p:cNvPr>
          <p:cNvSpPr>
            <a:spLocks noGrp="1"/>
          </p:cNvSpPr>
          <p:nvPr>
            <p:ph type="sldNum" sz="quarter" idx="7"/>
          </p:nvPr>
        </p:nvSpPr>
        <p:spPr/>
        <p:txBody>
          <a:bodyPr/>
          <a:lstStyle/>
          <a:p>
            <a:pPr marL="38100">
              <a:lnSpc>
                <a:spcPts val="1845"/>
              </a:lnSpc>
            </a:pPr>
            <a:fld id="{81D60167-4931-47E6-BA6A-407CBD079E47}" type="slidenum">
              <a:rPr lang="en-US" spc="-25" smtClean="0"/>
              <a:t>7</a:t>
            </a:fld>
            <a:endParaRPr lang="en-US" spc="-25" dirty="0"/>
          </a:p>
        </p:txBody>
      </p:sp>
    </p:spTree>
    <p:extLst>
      <p:ext uri="{BB962C8B-B14F-4D97-AF65-F5344CB8AC3E}">
        <p14:creationId xmlns:p14="http://schemas.microsoft.com/office/powerpoint/2010/main" val="354603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E5C39-E73D-A55E-2ADB-191DFBA9F9E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1D6304-59CC-A9F9-186E-8AD9E5335021}"/>
              </a:ext>
            </a:extLst>
          </p:cNvPr>
          <p:cNvSpPr txBox="1"/>
          <p:nvPr/>
        </p:nvSpPr>
        <p:spPr>
          <a:xfrm>
            <a:off x="1" y="-29036"/>
            <a:ext cx="12192000" cy="243656"/>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sz="1500" b="1" i="1" dirty="0">
              <a:solidFill>
                <a:srgbClr val="FFFFFF"/>
              </a:solidFill>
              <a:latin typeface="Times New Roman"/>
              <a:cs typeface="Times New Roman"/>
            </a:endParaRPr>
          </a:p>
        </p:txBody>
      </p:sp>
      <p:grpSp>
        <p:nvGrpSpPr>
          <p:cNvPr id="3" name="object 3">
            <a:extLst>
              <a:ext uri="{FF2B5EF4-FFF2-40B4-BE49-F238E27FC236}">
                <a16:creationId xmlns:a16="http://schemas.microsoft.com/office/drawing/2014/main" id="{2D92DFD6-4E35-9C55-F098-A707BA46DDC8}"/>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62D9F407-C781-E140-07C6-FC30972223BF}"/>
                </a:ext>
              </a:extLst>
            </p:cNvPr>
            <p:cNvPicPr/>
            <p:nvPr/>
          </p:nvPicPr>
          <p:blipFill>
            <a:blip r:embed="rId2" cstate="print"/>
            <a:stretch>
              <a:fillRect/>
            </a:stretch>
          </p:blipFill>
          <p:spPr>
            <a:xfrm>
              <a:off x="0" y="216249"/>
              <a:ext cx="12191999" cy="803791"/>
            </a:xfrm>
            <a:prstGeom prst="rect">
              <a:avLst/>
            </a:prstGeom>
          </p:spPr>
        </p:pic>
        <p:sp>
          <p:nvSpPr>
            <p:cNvPr id="5" name="object 5">
              <a:extLst>
                <a:ext uri="{FF2B5EF4-FFF2-40B4-BE49-F238E27FC236}">
                  <a16:creationId xmlns:a16="http://schemas.microsoft.com/office/drawing/2014/main" id="{9C7823D0-F5F3-ACF7-429C-23B90F4E9C90}"/>
                </a:ext>
              </a:extLst>
            </p:cNvPr>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9C0EA5D7-E6CA-9556-3B98-695F0A27A7D2}"/>
              </a:ext>
            </a:extLst>
          </p:cNvPr>
          <p:cNvSpPr txBox="1">
            <a:spLocks noGrp="1"/>
          </p:cNvSpPr>
          <p:nvPr>
            <p:ph type="title"/>
          </p:nvPr>
        </p:nvSpPr>
        <p:spPr>
          <a:xfrm>
            <a:off x="141783" y="220244"/>
            <a:ext cx="3946525" cy="695960"/>
          </a:xfrm>
          <a:prstGeom prst="rect">
            <a:avLst/>
          </a:prstGeom>
        </p:spPr>
        <p:txBody>
          <a:bodyPr vert="horz" wrap="square" lIns="0" tIns="12700" rIns="0" bIns="0" rtlCol="0">
            <a:spAutoFit/>
          </a:bodyPr>
          <a:lstStyle/>
          <a:p>
            <a:pPr marL="12700">
              <a:lnSpc>
                <a:spcPct val="100000"/>
              </a:lnSpc>
              <a:spcBef>
                <a:spcPts val="100"/>
              </a:spcBef>
            </a:pPr>
            <a:r>
              <a:rPr lang="en-US" b="1" spc="-10" dirty="0"/>
              <a:t>Existing System</a:t>
            </a:r>
            <a:endParaRPr b="1" spc="-10" dirty="0"/>
          </a:p>
        </p:txBody>
      </p:sp>
      <p:sp>
        <p:nvSpPr>
          <p:cNvPr id="13" name="Text Placeholder 12">
            <a:extLst>
              <a:ext uri="{FF2B5EF4-FFF2-40B4-BE49-F238E27FC236}">
                <a16:creationId xmlns:a16="http://schemas.microsoft.com/office/drawing/2014/main" id="{C1EBBC6D-0DB2-485E-A1CC-DAF3620B0352}"/>
              </a:ext>
            </a:extLst>
          </p:cNvPr>
          <p:cNvSpPr>
            <a:spLocks noGrp="1"/>
          </p:cNvSpPr>
          <p:nvPr>
            <p:ph type="body" idx="1"/>
          </p:nvPr>
        </p:nvSpPr>
        <p:spPr>
          <a:xfrm>
            <a:off x="125948" y="1295400"/>
            <a:ext cx="11707475" cy="4539191"/>
          </a:xfrm>
        </p:spPr>
        <p:txBody>
          <a:bodyPr/>
          <a:lstStyle/>
          <a:p>
            <a:pPr algn="just">
              <a:lnSpc>
                <a:spcPct val="150000"/>
              </a:lnSpc>
            </a:pPr>
            <a:r>
              <a:rPr lang="en-US" sz="2200" b="1" dirty="0"/>
              <a:t>4. </a:t>
            </a:r>
            <a:r>
              <a:rPr lang="en-IN" sz="2400" b="1" dirty="0"/>
              <a:t>Lack of Remote Access</a:t>
            </a:r>
            <a:r>
              <a:rPr lang="en-US" sz="2200" b="1" dirty="0"/>
              <a:t>: </a:t>
            </a:r>
            <a:r>
              <a:rPr lang="en-US" sz="2400" dirty="0"/>
              <a:t>Homeowners cannot monitor visitor activity or respond to door alerts when they are away from home or outside the premises.</a:t>
            </a:r>
          </a:p>
          <a:p>
            <a:pPr algn="just">
              <a:lnSpc>
                <a:spcPct val="150000"/>
              </a:lnSpc>
            </a:pPr>
            <a:r>
              <a:rPr lang="en-US" sz="2200" b="1" dirty="0"/>
              <a:t>5. </a:t>
            </a:r>
            <a:r>
              <a:rPr lang="en-IN" sz="2400" b="1" dirty="0"/>
              <a:t>No Automation</a:t>
            </a:r>
            <a:r>
              <a:rPr lang="en-US" sz="2200" b="1" dirty="0"/>
              <a:t>: </a:t>
            </a:r>
            <a:r>
              <a:rPr lang="en-US" sz="2400" dirty="0"/>
              <a:t>Door locking and unlocking operations are carried out manually, without any form of intelligent or automated control</a:t>
            </a:r>
            <a:r>
              <a:rPr lang="en-US" sz="2200" dirty="0"/>
              <a:t>.</a:t>
            </a:r>
          </a:p>
          <a:p>
            <a:pPr algn="just">
              <a:lnSpc>
                <a:spcPct val="150000"/>
              </a:lnSpc>
            </a:pPr>
            <a:r>
              <a:rPr lang="en-US" sz="2200" b="1" dirty="0"/>
              <a:t>6. </a:t>
            </a:r>
            <a:r>
              <a:rPr lang="en-IN" sz="2400" b="1" dirty="0"/>
              <a:t>Poor Security Features</a:t>
            </a:r>
            <a:r>
              <a:rPr lang="en-US" sz="2200" b="1" dirty="0"/>
              <a:t>: </a:t>
            </a:r>
            <a:r>
              <a:rPr lang="en-US" sz="2400" dirty="0"/>
              <a:t>The system does not include GSM alerts, buzzers, or LED indicators to warn about unauthorized access or emergency situations.</a:t>
            </a:r>
          </a:p>
          <a:p>
            <a:pPr algn="just">
              <a:lnSpc>
                <a:spcPct val="150000"/>
              </a:lnSpc>
            </a:pPr>
            <a:r>
              <a:rPr lang="en-US" sz="2400" dirty="0"/>
              <a:t>7. </a:t>
            </a:r>
            <a:r>
              <a:rPr lang="en-IN" sz="2400" b="1" dirty="0"/>
              <a:t>Dependency on Physical Presence</a:t>
            </a:r>
            <a:r>
              <a:rPr lang="en-IN" sz="2400" dirty="0"/>
              <a:t>: </a:t>
            </a:r>
            <a:r>
              <a:rPr lang="en-US" sz="2400" dirty="0"/>
              <a:t>The homeowner must be physically present at the location to manage visitors, which reduces convenience and security.</a:t>
            </a:r>
            <a:endParaRPr lang="en-US" sz="2200" dirty="0"/>
          </a:p>
        </p:txBody>
      </p:sp>
      <p:sp>
        <p:nvSpPr>
          <p:cNvPr id="8" name="object 8">
            <a:extLst>
              <a:ext uri="{FF2B5EF4-FFF2-40B4-BE49-F238E27FC236}">
                <a16:creationId xmlns:a16="http://schemas.microsoft.com/office/drawing/2014/main" id="{20735B95-2E1D-B145-24BC-DFFD66072E85}"/>
              </a:ext>
            </a:extLst>
          </p:cNvPr>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18A48371-5538-E3F8-6BE4-A8F2AB465DB2}"/>
              </a:ext>
            </a:extLst>
          </p:cNvPr>
          <p:cNvSpPr txBox="1">
            <a:spLocks noGrp="1"/>
          </p:cNvSpPr>
          <p:nvPr>
            <p:ph type="dt" sz="half" idx="6"/>
          </p:nvPr>
        </p:nvSpPr>
        <p:spPr>
          <a:xfrm>
            <a:off x="1122363" y="6630698"/>
            <a:ext cx="4668837" cy="230832"/>
          </a:xfrm>
          <a:prstGeom prst="rect">
            <a:avLst/>
          </a:prstGeom>
        </p:spPr>
        <p:txBody>
          <a:bodyPr vert="horz" wrap="square" lIns="0" tIns="0" rIns="0" bIns="0" rtlCol="0">
            <a:spAutoFit/>
          </a:bodyPr>
          <a:lstStyle/>
          <a:p>
            <a:pPr marL="12700">
              <a:lnSpc>
                <a:spcPts val="1845"/>
              </a:lnSpc>
            </a:pPr>
            <a:r>
              <a:rPr lang="en-US" cap="small" spc="-75" dirty="0"/>
              <a:t>Dept. of Computer Science and Engineering (AI&amp;ML)</a:t>
            </a:r>
            <a:endParaRPr cap="small" spc="-60" dirty="0"/>
          </a:p>
        </p:txBody>
      </p:sp>
      <p:sp>
        <p:nvSpPr>
          <p:cNvPr id="10" name="object 10">
            <a:extLst>
              <a:ext uri="{FF2B5EF4-FFF2-40B4-BE49-F238E27FC236}">
                <a16:creationId xmlns:a16="http://schemas.microsoft.com/office/drawing/2014/main" id="{C66A9078-F93F-C747-EA40-5CA466A3FEF6}"/>
              </a:ext>
            </a:extLst>
          </p:cNvPr>
          <p:cNvSpPr txBox="1"/>
          <p:nvPr/>
        </p:nvSpPr>
        <p:spPr>
          <a:xfrm>
            <a:off x="7147576" y="6630609"/>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15" name="Slide Number Placeholder 14">
            <a:extLst>
              <a:ext uri="{FF2B5EF4-FFF2-40B4-BE49-F238E27FC236}">
                <a16:creationId xmlns:a16="http://schemas.microsoft.com/office/drawing/2014/main" id="{E04A1F6C-26B9-0681-4571-BDA959D0E9B8}"/>
              </a:ext>
            </a:extLst>
          </p:cNvPr>
          <p:cNvSpPr>
            <a:spLocks noGrp="1"/>
          </p:cNvSpPr>
          <p:nvPr>
            <p:ph type="sldNum" sz="quarter" idx="7"/>
          </p:nvPr>
        </p:nvSpPr>
        <p:spPr/>
        <p:txBody>
          <a:bodyPr/>
          <a:lstStyle/>
          <a:p>
            <a:pPr marL="38100">
              <a:lnSpc>
                <a:spcPts val="1845"/>
              </a:lnSpc>
            </a:pPr>
            <a:fld id="{81D60167-4931-47E6-BA6A-407CBD079E47}" type="slidenum">
              <a:rPr lang="en-US" spc="-25" smtClean="0"/>
              <a:t>8</a:t>
            </a:fld>
            <a:endParaRPr lang="en-US" spc="-25" dirty="0"/>
          </a:p>
        </p:txBody>
      </p:sp>
    </p:spTree>
    <p:extLst>
      <p:ext uri="{BB962C8B-B14F-4D97-AF65-F5344CB8AC3E}">
        <p14:creationId xmlns:p14="http://schemas.microsoft.com/office/powerpoint/2010/main" val="2392109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 y="-29034"/>
            <a:ext cx="12238514" cy="487313"/>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p>
          <a:p>
            <a:pPr marL="12700" algn="ctr">
              <a:lnSpc>
                <a:spcPct val="100000"/>
              </a:lnSpc>
              <a:spcBef>
                <a:spcPts val="100"/>
              </a:spcBef>
            </a:pPr>
            <a:r>
              <a:rPr lang="en-IN" sz="1500" b="1" i="1" spc="-10" dirty="0">
                <a:solidFill>
                  <a:srgbClr val="FFFFFF"/>
                </a:solidFill>
                <a:latin typeface="Times New Roman"/>
                <a:cs typeface="Times New Roman"/>
              </a:rPr>
              <a:t>t</a:t>
            </a:r>
            <a:endParaRPr lang="en-IN" sz="1500" dirty="0">
              <a:latin typeface="Times New Roman"/>
              <a:cs typeface="Times New Roman"/>
            </a:endParaRPr>
          </a:p>
        </p:txBody>
      </p:sp>
      <p:grpSp>
        <p:nvGrpSpPr>
          <p:cNvPr id="3" name="object 3"/>
          <p:cNvGrpSpPr/>
          <p:nvPr/>
        </p:nvGrpSpPr>
        <p:grpSpPr>
          <a:xfrm>
            <a:off x="0" y="192309"/>
            <a:ext cx="12344400" cy="941426"/>
            <a:chOff x="-2" y="216249"/>
            <a:chExt cx="12192001" cy="1255490"/>
          </a:xfrm>
        </p:grpSpPr>
        <p:pic>
          <p:nvPicPr>
            <p:cNvPr id="4" name="object 4"/>
            <p:cNvPicPr/>
            <p:nvPr/>
          </p:nvPicPr>
          <p:blipFill>
            <a:blip r:embed="rId3" cstate="print"/>
            <a:stretch>
              <a:fillRect/>
            </a:stretch>
          </p:blipFill>
          <p:spPr>
            <a:xfrm>
              <a:off x="0" y="216249"/>
              <a:ext cx="12191999" cy="803791"/>
            </a:xfrm>
            <a:prstGeom prst="rect">
              <a:avLst/>
            </a:prstGeom>
          </p:spPr>
        </p:pic>
        <p:sp>
          <p:nvSpPr>
            <p:cNvPr id="5" name="object 5"/>
            <p:cNvSpPr/>
            <p:nvPr/>
          </p:nvSpPr>
          <p:spPr>
            <a:xfrm>
              <a:off x="-2" y="232758"/>
              <a:ext cx="12087423" cy="1238981"/>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1771" y="237345"/>
            <a:ext cx="6784975" cy="689932"/>
          </a:xfrm>
          <a:prstGeom prst="rect">
            <a:avLst/>
          </a:prstGeom>
        </p:spPr>
        <p:txBody>
          <a:bodyPr vert="horz" wrap="square" lIns="0" tIns="12700" rIns="0" bIns="0" rtlCol="0">
            <a:spAutoFit/>
          </a:bodyPr>
          <a:lstStyle/>
          <a:p>
            <a:pPr marL="12700">
              <a:lnSpc>
                <a:spcPct val="100000"/>
              </a:lnSpc>
              <a:spcBef>
                <a:spcPts val="100"/>
              </a:spcBef>
            </a:pPr>
            <a:r>
              <a:rPr spc="-10" dirty="0"/>
              <a:t>Proposed</a:t>
            </a:r>
            <a:r>
              <a:rPr lang="en-IN" spc="-10" dirty="0"/>
              <a:t> System</a:t>
            </a:r>
            <a:endParaRPr spc="-10" dirty="0"/>
          </a:p>
        </p:txBody>
      </p:sp>
      <p:sp>
        <p:nvSpPr>
          <p:cNvPr id="8" name="object 8"/>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p:cNvSpPr txBox="1">
            <a:spLocks noGrp="1"/>
          </p:cNvSpPr>
          <p:nvPr>
            <p:ph type="dt" sz="half" idx="6"/>
          </p:nvPr>
        </p:nvSpPr>
        <p:spPr>
          <a:xfrm>
            <a:off x="1122363" y="6630698"/>
            <a:ext cx="48212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0" name="object 10"/>
          <p:cNvSpPr txBox="1"/>
          <p:nvPr/>
        </p:nvSpPr>
        <p:spPr>
          <a:xfrm>
            <a:off x="7147576" y="6630609"/>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7" name="object 7"/>
          <p:cNvSpPr txBox="1"/>
          <p:nvPr/>
        </p:nvSpPr>
        <p:spPr>
          <a:xfrm>
            <a:off x="-105886" y="395553"/>
            <a:ext cx="12297885" cy="7061677"/>
          </a:xfrm>
          <a:prstGeom prst="rect">
            <a:avLst/>
          </a:prstGeom>
        </p:spPr>
        <p:txBody>
          <a:bodyPr vert="horz" wrap="square" lIns="0" tIns="12700" rIns="0" bIns="0" rtlCol="0">
            <a:spAutoFit/>
          </a:bodyPr>
          <a:lstStyle/>
          <a:p>
            <a:pPr marL="227965" algn="l">
              <a:lnSpc>
                <a:spcPct val="150000"/>
              </a:lnSpc>
              <a:tabLst>
                <a:tab pos="757555" algn="l"/>
              </a:tabLst>
            </a:pPr>
            <a:endParaRPr lang="en-US" sz="2800" dirty="0">
              <a:latin typeface="Times New Roman"/>
              <a:cs typeface="Times New Roman"/>
            </a:endParaRPr>
          </a:p>
          <a:p>
            <a:pPr marL="227965" algn="l">
              <a:lnSpc>
                <a:spcPct val="150000"/>
              </a:lnSpc>
              <a:tabLst>
                <a:tab pos="757555" algn="l"/>
              </a:tabLst>
            </a:pPr>
            <a:r>
              <a:rPr lang="en-US" b="1" dirty="0">
                <a:latin typeface="Times New Roman" panose="02020603050405020304" pitchFamily="18" charset="0"/>
                <a:cs typeface="Times New Roman" panose="02020603050405020304" pitchFamily="18" charset="0"/>
              </a:rPr>
              <a:t>Step 1 – </a:t>
            </a:r>
            <a:r>
              <a:rPr lang="en-IN" b="1" dirty="0"/>
              <a:t>Automatic Visitor Detection</a:t>
            </a:r>
            <a:r>
              <a:rPr lang="en-US" b="1" dirty="0">
                <a:latin typeface="Times New Roman" panose="02020603050405020304" pitchFamily="18" charset="0"/>
                <a:cs typeface="Times New Roman" panose="02020603050405020304" pitchFamily="18" charset="0"/>
              </a:rPr>
              <a:t>: </a:t>
            </a:r>
          </a:p>
          <a:p>
            <a:pPr marL="227965" algn="l">
              <a:lnSpc>
                <a:spcPct val="150000"/>
              </a:lnSpc>
              <a:tabLst>
                <a:tab pos="757555" algn="l"/>
              </a:tabLst>
            </a:pPr>
            <a:r>
              <a:rPr lang="en-IN" dirty="0"/>
              <a:t>Ultrasonic sensor detects visitor presence automatically.</a:t>
            </a:r>
          </a:p>
          <a:p>
            <a:pPr marL="227965" algn="l">
              <a:lnSpc>
                <a:spcPct val="150000"/>
              </a:lnSpc>
              <a:tabLst>
                <a:tab pos="757555" algn="l"/>
              </a:tabLst>
            </a:pPr>
            <a:r>
              <a:rPr lang="en-US" b="1" dirty="0">
                <a:latin typeface="Times New Roman" panose="02020603050405020304" pitchFamily="18" charset="0"/>
                <a:cs typeface="Times New Roman" panose="02020603050405020304" pitchFamily="18" charset="0"/>
              </a:rPr>
              <a:t>Step 2 – </a:t>
            </a:r>
            <a:r>
              <a:rPr lang="en-IN" b="1" dirty="0"/>
              <a:t>Real-Time Image Capture</a:t>
            </a:r>
            <a:r>
              <a:rPr lang="en-US" b="1" dirty="0">
                <a:latin typeface="Times New Roman" panose="02020603050405020304" pitchFamily="18" charset="0"/>
                <a:cs typeface="Times New Roman" panose="02020603050405020304" pitchFamily="18" charset="0"/>
              </a:rPr>
              <a:t>:</a:t>
            </a:r>
          </a:p>
          <a:p>
            <a:pPr marL="227965" algn="l">
              <a:lnSpc>
                <a:spcPct val="150000"/>
              </a:lnSpc>
              <a:tabLst>
                <a:tab pos="757555" algn="l"/>
              </a:tabLst>
            </a:pPr>
            <a:r>
              <a:rPr lang="en-IN" dirty="0"/>
              <a:t>USB camera captures visitor image instantly.</a:t>
            </a:r>
            <a:endParaRPr lang="en-US" dirty="0">
              <a:latin typeface="Times New Roman" panose="02020603050405020304" pitchFamily="18" charset="0"/>
              <a:cs typeface="Times New Roman" panose="02020603050405020304" pitchFamily="18" charset="0"/>
            </a:endParaRPr>
          </a:p>
          <a:p>
            <a:pPr marL="227965" algn="l">
              <a:lnSpc>
                <a:spcPct val="150000"/>
              </a:lnSpc>
              <a:tabLst>
                <a:tab pos="757555" algn="l"/>
              </a:tabLst>
            </a:pPr>
            <a:r>
              <a:rPr lang="en-US" b="1" dirty="0">
                <a:latin typeface="Times New Roman" panose="02020603050405020304" pitchFamily="18" charset="0"/>
                <a:cs typeface="Times New Roman" panose="02020603050405020304" pitchFamily="18" charset="0"/>
              </a:rPr>
              <a:t>Step 3 – </a:t>
            </a:r>
            <a:r>
              <a:rPr lang="en-IN" b="1" dirty="0"/>
              <a:t>Remote Verification </a:t>
            </a:r>
            <a:r>
              <a:rPr lang="en-US" b="1" dirty="0">
                <a:latin typeface="Times New Roman" panose="02020603050405020304" pitchFamily="18" charset="0"/>
                <a:cs typeface="Times New Roman" panose="02020603050405020304" pitchFamily="18" charset="0"/>
              </a:rPr>
              <a:t>:</a:t>
            </a:r>
          </a:p>
          <a:p>
            <a:pPr marL="227965" algn="l">
              <a:lnSpc>
                <a:spcPct val="150000"/>
              </a:lnSpc>
              <a:tabLst>
                <a:tab pos="757555" algn="l"/>
              </a:tabLst>
            </a:pPr>
            <a:r>
              <a:rPr lang="en-IN" dirty="0"/>
              <a:t>Visitor image sent to homeowner via Telegram.</a:t>
            </a:r>
          </a:p>
          <a:p>
            <a:pPr marL="227965" algn="l">
              <a:lnSpc>
                <a:spcPct val="150000"/>
              </a:lnSpc>
              <a:tabLst>
                <a:tab pos="757555" algn="l"/>
              </a:tabLst>
            </a:pPr>
            <a:r>
              <a:rPr lang="en-US" b="1" dirty="0">
                <a:latin typeface="Times New Roman" panose="02020603050405020304" pitchFamily="18" charset="0"/>
                <a:cs typeface="Times New Roman" panose="02020603050405020304" pitchFamily="18" charset="0"/>
              </a:rPr>
              <a:t>Step 4 – </a:t>
            </a:r>
            <a:r>
              <a:rPr lang="en-IN" b="1" dirty="0"/>
              <a:t>Automated Door Access Control</a:t>
            </a:r>
            <a:r>
              <a:rPr lang="en-US" b="1" dirty="0">
                <a:latin typeface="Times New Roman" panose="02020603050405020304" pitchFamily="18" charset="0"/>
                <a:cs typeface="Times New Roman" panose="02020603050405020304" pitchFamily="18" charset="0"/>
              </a:rPr>
              <a:t>:</a:t>
            </a:r>
          </a:p>
          <a:p>
            <a:pPr marL="227965" algn="l">
              <a:lnSpc>
                <a:spcPct val="150000"/>
              </a:lnSpc>
              <a:tabLst>
                <a:tab pos="757555" algn="l"/>
              </a:tabLst>
            </a:pPr>
            <a:r>
              <a:rPr lang="en-IN" dirty="0"/>
              <a:t>Motor driver opens door after user approval.</a:t>
            </a:r>
          </a:p>
          <a:p>
            <a:pPr marL="227965" algn="l">
              <a:lnSpc>
                <a:spcPct val="150000"/>
              </a:lnSpc>
              <a:tabLst>
                <a:tab pos="757555" algn="l"/>
              </a:tabLst>
            </a:pPr>
            <a:r>
              <a:rPr lang="en-US" b="1" dirty="0">
                <a:latin typeface="Times New Roman" panose="02020603050405020304" pitchFamily="18" charset="0"/>
                <a:cs typeface="Times New Roman" panose="02020603050405020304" pitchFamily="18" charset="0"/>
              </a:rPr>
              <a:t>Step 5 – </a:t>
            </a:r>
            <a:r>
              <a:rPr lang="en-IN" b="1" dirty="0"/>
              <a:t>Voice Interaction System</a:t>
            </a:r>
            <a:r>
              <a:rPr lang="en-US" b="1" dirty="0">
                <a:latin typeface="Times New Roman" panose="02020603050405020304" pitchFamily="18" charset="0"/>
                <a:cs typeface="Times New Roman" panose="02020603050405020304" pitchFamily="18" charset="0"/>
              </a:rPr>
              <a:t>:</a:t>
            </a:r>
          </a:p>
          <a:p>
            <a:pPr marL="227965" algn="l">
              <a:lnSpc>
                <a:spcPct val="150000"/>
              </a:lnSpc>
              <a:tabLst>
                <a:tab pos="757555" algn="l"/>
              </a:tabLst>
            </a:pPr>
            <a:r>
              <a:rPr lang="en-US" dirty="0"/>
              <a:t>Voice module gives audio confirmation to visitors.</a:t>
            </a:r>
          </a:p>
          <a:p>
            <a:pPr marL="227965" algn="l">
              <a:lnSpc>
                <a:spcPct val="150000"/>
              </a:lnSpc>
              <a:tabLst>
                <a:tab pos="757555" algn="l"/>
              </a:tabLst>
            </a:pPr>
            <a:r>
              <a:rPr lang="en-US" b="1" dirty="0">
                <a:latin typeface="Times New Roman" panose="02020603050405020304" pitchFamily="18" charset="0"/>
                <a:cs typeface="Times New Roman" panose="02020603050405020304" pitchFamily="18" charset="0"/>
              </a:rPr>
              <a:t>Step 6 – </a:t>
            </a:r>
            <a:r>
              <a:rPr lang="en-IN" b="1" dirty="0"/>
              <a:t>Security Alerts</a:t>
            </a:r>
            <a:r>
              <a:rPr lang="en-US" b="1" dirty="0">
                <a:latin typeface="Times New Roman" panose="02020603050405020304" pitchFamily="18" charset="0"/>
                <a:cs typeface="Times New Roman" panose="02020603050405020304" pitchFamily="18" charset="0"/>
              </a:rPr>
              <a:t>: </a:t>
            </a:r>
          </a:p>
          <a:p>
            <a:pPr marL="227965" algn="l">
              <a:lnSpc>
                <a:spcPct val="150000"/>
              </a:lnSpc>
              <a:tabLst>
                <a:tab pos="757555" algn="l"/>
              </a:tabLst>
            </a:pPr>
            <a:r>
              <a:rPr lang="en-US" dirty="0"/>
              <a:t>GSM, buzzer, and LED alert unauthorized access.</a:t>
            </a:r>
          </a:p>
          <a:p>
            <a:pPr marL="227965" algn="l">
              <a:lnSpc>
                <a:spcPct val="150000"/>
              </a:lnSpc>
              <a:tabLst>
                <a:tab pos="757555" algn="l"/>
              </a:tabLst>
            </a:pPr>
            <a:r>
              <a:rPr lang="en-US" sz="2000" b="1" dirty="0">
                <a:latin typeface="Times New Roman" panose="02020603050405020304" pitchFamily="18" charset="0"/>
                <a:cs typeface="Times New Roman" panose="02020603050405020304" pitchFamily="18" charset="0"/>
              </a:rPr>
              <a:t>Output: </a:t>
            </a:r>
            <a:r>
              <a:rPr lang="en-US" sz="2000" dirty="0">
                <a:latin typeface="Times New Roman" panose="02020603050405020304" pitchFamily="18" charset="0"/>
                <a:cs typeface="Times New Roman" panose="02020603050405020304" pitchFamily="18" charset="0"/>
              </a:rPr>
              <a:t>Real-time visitor detection, remote verification, instant alerts, and automated door operation</a:t>
            </a:r>
            <a:r>
              <a:rPr lang="en-US" sz="2000" dirty="0"/>
              <a:t>.</a:t>
            </a:r>
            <a:br>
              <a:rPr lang="en-US" sz="2000" dirty="0">
                <a:latin typeface="Times New Roman" panose="02020603050405020304" pitchFamily="18" charset="0"/>
                <a:cs typeface="Times New Roman" panose="02020603050405020304" pitchFamily="18" charset="0"/>
              </a:rPr>
            </a:br>
            <a:br>
              <a:rPr lang="en-US" sz="2200" dirty="0">
                <a:latin typeface="Times New Roman" panose="02020603050405020304" pitchFamily="18" charset="0"/>
                <a:cs typeface="Times New Roman" panose="02020603050405020304" pitchFamily="18" charset="0"/>
              </a:rPr>
            </a:br>
            <a:endParaRPr sz="2200" dirty="0">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a16="http://schemas.microsoft.com/office/drawing/2014/main" id="{BF819046-8B48-51FA-C39B-38D3069C2643}"/>
              </a:ext>
            </a:extLst>
          </p:cNvPr>
          <p:cNvSpPr>
            <a:spLocks noGrp="1"/>
          </p:cNvSpPr>
          <p:nvPr>
            <p:ph type="sldNum" sz="quarter" idx="7"/>
          </p:nvPr>
        </p:nvSpPr>
        <p:spPr/>
        <p:txBody>
          <a:bodyPr/>
          <a:lstStyle/>
          <a:p>
            <a:pPr marL="38100">
              <a:lnSpc>
                <a:spcPts val="1845"/>
              </a:lnSpc>
            </a:pPr>
            <a:fld id="{81D60167-4931-47E6-BA6A-407CBD079E47}" type="slidenum">
              <a:rPr lang="en-US" spc="-25" smtClean="0"/>
              <a:t>9</a:t>
            </a:fld>
            <a:endParaRPr lang="en-US"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4BB5-E1E6-88A3-F409-D1EE805901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702A43-E1E8-4291-AB43-FFE48A96CC62}"/>
              </a:ext>
            </a:extLst>
          </p:cNvPr>
          <p:cNvSpPr txBox="1"/>
          <p:nvPr/>
        </p:nvSpPr>
        <p:spPr>
          <a:xfrm>
            <a:off x="1" y="-29034"/>
            <a:ext cx="12238514" cy="487313"/>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p>
          <a:p>
            <a:pPr marL="12700" algn="ctr">
              <a:lnSpc>
                <a:spcPct val="100000"/>
              </a:lnSpc>
              <a:spcBef>
                <a:spcPts val="100"/>
              </a:spcBef>
            </a:pPr>
            <a:r>
              <a:rPr lang="en-IN" sz="1500" b="1" i="1" spc="-10" dirty="0">
                <a:solidFill>
                  <a:srgbClr val="FFFFFF"/>
                </a:solidFill>
                <a:latin typeface="Times New Roman"/>
                <a:cs typeface="Times New Roman"/>
              </a:rPr>
              <a:t>t</a:t>
            </a:r>
            <a:endParaRPr lang="en-IN" sz="1500" dirty="0">
              <a:latin typeface="Times New Roman"/>
              <a:cs typeface="Times New Roman"/>
            </a:endParaRPr>
          </a:p>
        </p:txBody>
      </p:sp>
      <p:grpSp>
        <p:nvGrpSpPr>
          <p:cNvPr id="3" name="object 3">
            <a:extLst>
              <a:ext uri="{FF2B5EF4-FFF2-40B4-BE49-F238E27FC236}">
                <a16:creationId xmlns:a16="http://schemas.microsoft.com/office/drawing/2014/main" id="{FC1F1322-9EF1-693F-D44A-DD2B5CD51080}"/>
              </a:ext>
            </a:extLst>
          </p:cNvPr>
          <p:cNvGrpSpPr/>
          <p:nvPr/>
        </p:nvGrpSpPr>
        <p:grpSpPr>
          <a:xfrm>
            <a:off x="0" y="192309"/>
            <a:ext cx="12344400" cy="941426"/>
            <a:chOff x="-2" y="216249"/>
            <a:chExt cx="12192001" cy="1255490"/>
          </a:xfrm>
        </p:grpSpPr>
        <p:pic>
          <p:nvPicPr>
            <p:cNvPr id="4" name="object 4">
              <a:extLst>
                <a:ext uri="{FF2B5EF4-FFF2-40B4-BE49-F238E27FC236}">
                  <a16:creationId xmlns:a16="http://schemas.microsoft.com/office/drawing/2014/main" id="{44626D13-BEA6-A347-983F-1381C2018F7A}"/>
                </a:ext>
              </a:extLst>
            </p:cNvPr>
            <p:cNvPicPr/>
            <p:nvPr/>
          </p:nvPicPr>
          <p:blipFill>
            <a:blip r:embed="rId3" cstate="print"/>
            <a:stretch>
              <a:fillRect/>
            </a:stretch>
          </p:blipFill>
          <p:spPr>
            <a:xfrm>
              <a:off x="0" y="216249"/>
              <a:ext cx="12191999" cy="803791"/>
            </a:xfrm>
            <a:prstGeom prst="rect">
              <a:avLst/>
            </a:prstGeom>
          </p:spPr>
        </p:pic>
        <p:sp>
          <p:nvSpPr>
            <p:cNvPr id="5" name="object 5">
              <a:extLst>
                <a:ext uri="{FF2B5EF4-FFF2-40B4-BE49-F238E27FC236}">
                  <a16:creationId xmlns:a16="http://schemas.microsoft.com/office/drawing/2014/main" id="{5F84B5F2-DE4D-349A-29A9-B5E1257E562D}"/>
                </a:ext>
              </a:extLst>
            </p:cNvPr>
            <p:cNvSpPr/>
            <p:nvPr/>
          </p:nvSpPr>
          <p:spPr>
            <a:xfrm>
              <a:off x="-2" y="232758"/>
              <a:ext cx="12087423" cy="1238981"/>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9204B535-C7DA-F18D-65FE-272ED51233B9}"/>
              </a:ext>
            </a:extLst>
          </p:cNvPr>
          <p:cNvSpPr txBox="1">
            <a:spLocks noGrp="1"/>
          </p:cNvSpPr>
          <p:nvPr>
            <p:ph type="title"/>
          </p:nvPr>
        </p:nvSpPr>
        <p:spPr>
          <a:xfrm>
            <a:off x="21771" y="237345"/>
            <a:ext cx="6784975" cy="689932"/>
          </a:xfrm>
          <a:prstGeom prst="rect">
            <a:avLst/>
          </a:prstGeom>
        </p:spPr>
        <p:txBody>
          <a:bodyPr vert="horz" wrap="square" lIns="0" tIns="12700" rIns="0" bIns="0" rtlCol="0">
            <a:spAutoFit/>
          </a:bodyPr>
          <a:lstStyle/>
          <a:p>
            <a:pPr marL="12700">
              <a:lnSpc>
                <a:spcPct val="100000"/>
              </a:lnSpc>
              <a:spcBef>
                <a:spcPts val="100"/>
              </a:spcBef>
            </a:pPr>
            <a:r>
              <a:rPr b="1" spc="-10" dirty="0"/>
              <a:t>Proposed</a:t>
            </a:r>
            <a:r>
              <a:rPr lang="en-IN" b="1" spc="-10" dirty="0"/>
              <a:t> System</a:t>
            </a:r>
            <a:endParaRPr b="1" spc="-10" dirty="0"/>
          </a:p>
        </p:txBody>
      </p:sp>
      <p:sp>
        <p:nvSpPr>
          <p:cNvPr id="8" name="object 8">
            <a:extLst>
              <a:ext uri="{FF2B5EF4-FFF2-40B4-BE49-F238E27FC236}">
                <a16:creationId xmlns:a16="http://schemas.microsoft.com/office/drawing/2014/main" id="{7756761B-F27F-9A84-95E5-24F00940965F}"/>
              </a:ext>
            </a:extLst>
          </p:cNvPr>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555F1A9F-22FF-1AA9-3FD2-69251FA36CD2}"/>
              </a:ext>
            </a:extLst>
          </p:cNvPr>
          <p:cNvSpPr txBox="1">
            <a:spLocks noGrp="1"/>
          </p:cNvSpPr>
          <p:nvPr>
            <p:ph type="dt" sz="half" idx="6"/>
          </p:nvPr>
        </p:nvSpPr>
        <p:spPr>
          <a:xfrm>
            <a:off x="1122363" y="6630698"/>
            <a:ext cx="48212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0" name="object 10">
            <a:extLst>
              <a:ext uri="{FF2B5EF4-FFF2-40B4-BE49-F238E27FC236}">
                <a16:creationId xmlns:a16="http://schemas.microsoft.com/office/drawing/2014/main" id="{630696CE-0E30-D96B-E4AF-5F0EC03D09AD}"/>
              </a:ext>
            </a:extLst>
          </p:cNvPr>
          <p:cNvSpPr txBox="1"/>
          <p:nvPr/>
        </p:nvSpPr>
        <p:spPr>
          <a:xfrm>
            <a:off x="7147576" y="6630609"/>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pic>
        <p:nvPicPr>
          <p:cNvPr id="2050" name="Picture 2" descr="Generated image">
            <a:extLst>
              <a:ext uri="{FF2B5EF4-FFF2-40B4-BE49-F238E27FC236}">
                <a16:creationId xmlns:a16="http://schemas.microsoft.com/office/drawing/2014/main" id="{0A98C881-4367-D9D6-0D00-AA4F0603C2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140687"/>
            <a:ext cx="5350859" cy="5372100"/>
          </a:xfrm>
          <a:prstGeom prst="rect">
            <a:avLst/>
          </a:prstGeom>
          <a:noFill/>
          <a:extLst>
            <a:ext uri="{909E8E84-426E-40DD-AFC4-6F175D3DCCD1}">
              <a14:hiddenFill xmlns:a14="http://schemas.microsoft.com/office/drawing/2010/main">
                <a:solidFill>
                  <a:srgbClr val="FFFFFF"/>
                </a:solidFill>
              </a14:hiddenFill>
            </a:ext>
          </a:extLst>
        </p:spPr>
      </p:pic>
      <p:sp>
        <p:nvSpPr>
          <p:cNvPr id="12" name="Slide Number Placeholder 11">
            <a:extLst>
              <a:ext uri="{FF2B5EF4-FFF2-40B4-BE49-F238E27FC236}">
                <a16:creationId xmlns:a16="http://schemas.microsoft.com/office/drawing/2014/main" id="{21B593D4-C3AC-ED92-1C8E-AF73F7B6F804}"/>
              </a:ext>
            </a:extLst>
          </p:cNvPr>
          <p:cNvSpPr>
            <a:spLocks noGrp="1"/>
          </p:cNvSpPr>
          <p:nvPr>
            <p:ph type="sldNum" sz="quarter" idx="7"/>
          </p:nvPr>
        </p:nvSpPr>
        <p:spPr/>
        <p:txBody>
          <a:bodyPr/>
          <a:lstStyle/>
          <a:p>
            <a:pPr marL="38100">
              <a:lnSpc>
                <a:spcPts val="1845"/>
              </a:lnSpc>
            </a:pPr>
            <a:fld id="{81D60167-4931-47E6-BA6A-407CBD079E47}" type="slidenum">
              <a:rPr lang="en-US" spc="-25" smtClean="0"/>
              <a:t>10</a:t>
            </a:fld>
            <a:endParaRPr lang="en-US" spc="-25" dirty="0"/>
          </a:p>
        </p:txBody>
      </p:sp>
      <p:pic>
        <p:nvPicPr>
          <p:cNvPr id="7" name="Picture 6">
            <a:extLst>
              <a:ext uri="{FF2B5EF4-FFF2-40B4-BE49-F238E27FC236}">
                <a16:creationId xmlns:a16="http://schemas.microsoft.com/office/drawing/2014/main" id="{D6E39E42-4119-1B15-1FBD-D84B09798F1A}"/>
              </a:ext>
            </a:extLst>
          </p:cNvPr>
          <p:cNvPicPr>
            <a:picLocks noChangeAspect="1"/>
          </p:cNvPicPr>
          <p:nvPr/>
        </p:nvPicPr>
        <p:blipFill>
          <a:blip r:embed="rId5"/>
          <a:stretch>
            <a:fillRect/>
          </a:stretch>
        </p:blipFill>
        <p:spPr>
          <a:xfrm>
            <a:off x="2286000" y="1166391"/>
            <a:ext cx="5696213" cy="5257760"/>
          </a:xfrm>
          <a:prstGeom prst="rect">
            <a:avLst/>
          </a:prstGeom>
        </p:spPr>
      </p:pic>
    </p:spTree>
    <p:extLst>
      <p:ext uri="{BB962C8B-B14F-4D97-AF65-F5344CB8AC3E}">
        <p14:creationId xmlns:p14="http://schemas.microsoft.com/office/powerpoint/2010/main" val="2470436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05875-18D1-6CF5-69D1-F9844366E4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994518-8261-39EB-4444-94AA551B3774}"/>
              </a:ext>
            </a:extLst>
          </p:cNvPr>
          <p:cNvSpPr txBox="1"/>
          <p:nvPr/>
        </p:nvSpPr>
        <p:spPr>
          <a:xfrm>
            <a:off x="1" y="-29034"/>
            <a:ext cx="12238514" cy="487313"/>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p>
          <a:p>
            <a:pPr marL="12700" algn="ctr">
              <a:lnSpc>
                <a:spcPct val="100000"/>
              </a:lnSpc>
              <a:spcBef>
                <a:spcPts val="100"/>
              </a:spcBef>
            </a:pPr>
            <a:r>
              <a:rPr lang="en-IN" sz="1500" b="1" i="1" spc="-10" dirty="0">
                <a:solidFill>
                  <a:srgbClr val="FFFFFF"/>
                </a:solidFill>
                <a:latin typeface="Times New Roman"/>
                <a:cs typeface="Times New Roman"/>
              </a:rPr>
              <a:t>t</a:t>
            </a:r>
            <a:endParaRPr lang="en-IN" sz="1500" dirty="0">
              <a:latin typeface="Times New Roman"/>
              <a:cs typeface="Times New Roman"/>
            </a:endParaRPr>
          </a:p>
        </p:txBody>
      </p:sp>
      <p:grpSp>
        <p:nvGrpSpPr>
          <p:cNvPr id="3" name="object 3">
            <a:extLst>
              <a:ext uri="{FF2B5EF4-FFF2-40B4-BE49-F238E27FC236}">
                <a16:creationId xmlns:a16="http://schemas.microsoft.com/office/drawing/2014/main" id="{4B19972C-0159-1D0C-7489-5DDBE2066CA2}"/>
              </a:ext>
            </a:extLst>
          </p:cNvPr>
          <p:cNvGrpSpPr/>
          <p:nvPr/>
        </p:nvGrpSpPr>
        <p:grpSpPr>
          <a:xfrm>
            <a:off x="0" y="192309"/>
            <a:ext cx="12344400" cy="941426"/>
            <a:chOff x="-2" y="216249"/>
            <a:chExt cx="12192001" cy="1255490"/>
          </a:xfrm>
        </p:grpSpPr>
        <p:pic>
          <p:nvPicPr>
            <p:cNvPr id="4" name="object 4">
              <a:extLst>
                <a:ext uri="{FF2B5EF4-FFF2-40B4-BE49-F238E27FC236}">
                  <a16:creationId xmlns:a16="http://schemas.microsoft.com/office/drawing/2014/main" id="{DA747418-8661-C131-941B-266747CC71C4}"/>
                </a:ext>
              </a:extLst>
            </p:cNvPr>
            <p:cNvPicPr/>
            <p:nvPr/>
          </p:nvPicPr>
          <p:blipFill>
            <a:blip r:embed="rId3" cstate="print"/>
            <a:stretch>
              <a:fillRect/>
            </a:stretch>
          </p:blipFill>
          <p:spPr>
            <a:xfrm>
              <a:off x="0" y="216249"/>
              <a:ext cx="12191999" cy="803791"/>
            </a:xfrm>
            <a:prstGeom prst="rect">
              <a:avLst/>
            </a:prstGeom>
          </p:spPr>
        </p:pic>
        <p:sp>
          <p:nvSpPr>
            <p:cNvPr id="5" name="object 5">
              <a:extLst>
                <a:ext uri="{FF2B5EF4-FFF2-40B4-BE49-F238E27FC236}">
                  <a16:creationId xmlns:a16="http://schemas.microsoft.com/office/drawing/2014/main" id="{3B43C3C3-03E8-A217-1C7A-7918A0F5FD46}"/>
                </a:ext>
              </a:extLst>
            </p:cNvPr>
            <p:cNvSpPr/>
            <p:nvPr/>
          </p:nvSpPr>
          <p:spPr>
            <a:xfrm>
              <a:off x="-2" y="232758"/>
              <a:ext cx="12087423" cy="1238981"/>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854A252C-6CC9-CD11-1B23-6B7D0C011335}"/>
              </a:ext>
            </a:extLst>
          </p:cNvPr>
          <p:cNvSpPr txBox="1">
            <a:spLocks noGrp="1"/>
          </p:cNvSpPr>
          <p:nvPr>
            <p:ph type="title"/>
          </p:nvPr>
        </p:nvSpPr>
        <p:spPr>
          <a:xfrm>
            <a:off x="73025" y="-76123"/>
            <a:ext cx="5184775" cy="689932"/>
          </a:xfrm>
          <a:prstGeom prst="rect">
            <a:avLst/>
          </a:prstGeom>
        </p:spPr>
        <p:txBody>
          <a:bodyPr vert="horz" wrap="square" lIns="0" tIns="12700" rIns="0" bIns="0" rtlCol="0">
            <a:spAutoFit/>
          </a:bodyPr>
          <a:lstStyle/>
          <a:p>
            <a:pPr marL="12700">
              <a:lnSpc>
                <a:spcPct val="100000"/>
              </a:lnSpc>
              <a:spcBef>
                <a:spcPts val="100"/>
              </a:spcBef>
            </a:pPr>
            <a:r>
              <a:rPr b="1" spc="-10" dirty="0"/>
              <a:t>Pr</a:t>
            </a:r>
            <a:r>
              <a:rPr lang="en-US" b="1" spc="-10" dirty="0"/>
              <a:t>oposed </a:t>
            </a:r>
            <a:r>
              <a:rPr lang="en-IN" b="1" spc="-10" dirty="0"/>
              <a:t>System</a:t>
            </a:r>
            <a:endParaRPr b="1" spc="-10" dirty="0"/>
          </a:p>
        </p:txBody>
      </p:sp>
      <p:sp>
        <p:nvSpPr>
          <p:cNvPr id="8" name="object 8">
            <a:extLst>
              <a:ext uri="{FF2B5EF4-FFF2-40B4-BE49-F238E27FC236}">
                <a16:creationId xmlns:a16="http://schemas.microsoft.com/office/drawing/2014/main" id="{5FAF4118-9BCB-2D8C-AD04-BB898B39BA76}"/>
              </a:ext>
            </a:extLst>
          </p:cNvPr>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9" name="object 9">
            <a:extLst>
              <a:ext uri="{FF2B5EF4-FFF2-40B4-BE49-F238E27FC236}">
                <a16:creationId xmlns:a16="http://schemas.microsoft.com/office/drawing/2014/main" id="{4B645B42-A67A-9FF5-20C1-83E3C126EF40}"/>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2" name="Slide Number Placeholder 11">
            <a:extLst>
              <a:ext uri="{FF2B5EF4-FFF2-40B4-BE49-F238E27FC236}">
                <a16:creationId xmlns:a16="http://schemas.microsoft.com/office/drawing/2014/main" id="{B3C01E30-9C6E-CEBB-9406-D0288E5A1CE3}"/>
              </a:ext>
            </a:extLst>
          </p:cNvPr>
          <p:cNvSpPr>
            <a:spLocks noGrp="1"/>
          </p:cNvSpPr>
          <p:nvPr>
            <p:ph type="sldNum" sz="quarter" idx="7"/>
          </p:nvPr>
        </p:nvSpPr>
        <p:spPr/>
        <p:txBody>
          <a:bodyPr/>
          <a:lstStyle/>
          <a:p>
            <a:pPr marL="38100">
              <a:lnSpc>
                <a:spcPts val="1845"/>
              </a:lnSpc>
            </a:pPr>
            <a:fld id="{81D60167-4931-47E6-BA6A-407CBD079E47}" type="slidenum">
              <a:rPr lang="en-US" spc="-25" smtClean="0"/>
              <a:t>11</a:t>
            </a:fld>
            <a:endParaRPr lang="en-US" spc="-25" dirty="0"/>
          </a:p>
        </p:txBody>
      </p:sp>
      <p:sp>
        <p:nvSpPr>
          <p:cNvPr id="10" name="object 10">
            <a:extLst>
              <a:ext uri="{FF2B5EF4-FFF2-40B4-BE49-F238E27FC236}">
                <a16:creationId xmlns:a16="http://schemas.microsoft.com/office/drawing/2014/main" id="{85F1C5A2-5C04-7A2F-3128-8562B38FB1E5}"/>
              </a:ext>
            </a:extLst>
          </p:cNvPr>
          <p:cNvSpPr txBox="1"/>
          <p:nvPr/>
        </p:nvSpPr>
        <p:spPr>
          <a:xfrm>
            <a:off x="7147576" y="6630609"/>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pic>
        <p:nvPicPr>
          <p:cNvPr id="1026" name="Picture 2" descr="Buy doorbell that alerts phone Deals">
            <a:extLst>
              <a:ext uri="{FF2B5EF4-FFF2-40B4-BE49-F238E27FC236}">
                <a16:creationId xmlns:a16="http://schemas.microsoft.com/office/drawing/2014/main" id="{66602160-B617-74B7-B69F-F4CC8247C92F}"/>
              </a:ext>
            </a:extLst>
          </p:cNvPr>
          <p:cNvPicPr>
            <a:picLocks noGrp="1" noChangeAspect="1" noChangeArrowheads="1"/>
          </p:cNvPicPr>
          <p:nvPr>
            <p:ph sz="half" idx="3"/>
          </p:nvPr>
        </p:nvPicPr>
        <p:blipFill>
          <a:blip r:embed="rId4">
            <a:extLst>
              <a:ext uri="{28A0092B-C50C-407E-A947-70E740481C1C}">
                <a14:useLocalDpi xmlns:a14="http://schemas.microsoft.com/office/drawing/2010/main" val="0"/>
              </a:ext>
            </a:extLst>
          </a:blip>
          <a:srcRect/>
          <a:stretch>
            <a:fillRect/>
          </a:stretch>
        </p:blipFill>
        <p:spPr bwMode="auto">
          <a:xfrm>
            <a:off x="4032250" y="1372356"/>
            <a:ext cx="4127500" cy="4127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art Doorbell with Telegram Notification for Multifamily ...">
            <a:extLst>
              <a:ext uri="{FF2B5EF4-FFF2-40B4-BE49-F238E27FC236}">
                <a16:creationId xmlns:a16="http://schemas.microsoft.com/office/drawing/2014/main" id="{244C2F2E-5876-97E4-6F95-DD9B461E7D0A}"/>
              </a:ext>
            </a:extLst>
          </p:cNvPr>
          <p:cNvPicPr>
            <a:picLocks noGrp="1" noChangeAspect="1" noChangeArrowheads="1"/>
          </p:cNvPicPr>
          <p:nvPr>
            <p:ph sz="half" idx="2"/>
          </p:nvPr>
        </p:nvPicPr>
        <p:blipFill>
          <a:blip r:embed="rId5" cstate="print">
            <a:extLst>
              <a:ext uri="{28A0092B-C50C-407E-A947-70E740481C1C}">
                <a14:useLocalDpi xmlns:a14="http://schemas.microsoft.com/office/drawing/2010/main" val="0"/>
              </a:ext>
            </a:extLst>
          </a:blip>
          <a:srcRect/>
          <a:stretch>
            <a:fillRect/>
          </a:stretch>
        </p:blipFill>
        <p:spPr bwMode="auto">
          <a:xfrm>
            <a:off x="8610600" y="1280484"/>
            <a:ext cx="2570716" cy="45259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mazon.com: ALPCAM USB Camera Module 8MP No Distortion 75 ...">
            <a:extLst>
              <a:ext uri="{FF2B5EF4-FFF2-40B4-BE49-F238E27FC236}">
                <a16:creationId xmlns:a16="http://schemas.microsoft.com/office/drawing/2014/main" id="{F935A6FB-8459-E066-6564-3F9E33B7098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4800" y="1943100"/>
            <a:ext cx="3581400"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388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29035"/>
            <a:ext cx="12191998" cy="243656"/>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1999" cy="803791"/>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64790"/>
            <a:ext cx="4049217" cy="695960"/>
          </a:xfrm>
          <a:prstGeom prst="rect">
            <a:avLst/>
          </a:prstGeom>
        </p:spPr>
        <p:txBody>
          <a:bodyPr vert="horz" wrap="square" lIns="0" tIns="12700" rIns="0" bIns="0" rtlCol="0">
            <a:spAutoFit/>
          </a:bodyPr>
          <a:lstStyle/>
          <a:p>
            <a:pPr marL="12700">
              <a:lnSpc>
                <a:spcPct val="100000"/>
              </a:lnSpc>
              <a:spcBef>
                <a:spcPts val="100"/>
              </a:spcBef>
            </a:pPr>
            <a:r>
              <a:rPr b="1" spc="-10" dirty="0"/>
              <a:t>Reference</a:t>
            </a:r>
            <a:r>
              <a:rPr lang="en-US" b="1" spc="-10" dirty="0"/>
              <a:t>s</a:t>
            </a:r>
            <a:endParaRPr b="1" spc="-10" dirty="0"/>
          </a:p>
        </p:txBody>
      </p:sp>
      <p:sp>
        <p:nvSpPr>
          <p:cNvPr id="8" name="object 8"/>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spc="-95" dirty="0"/>
              <a:t>B - 15</a:t>
            </a:r>
            <a:endParaRPr spc="-25" dirty="0"/>
          </a:p>
        </p:txBody>
      </p:sp>
      <p:sp>
        <p:nvSpPr>
          <p:cNvPr id="9" name="object 9"/>
          <p:cNvSpPr txBox="1">
            <a:spLocks noGrp="1"/>
          </p:cNvSpPr>
          <p:nvPr>
            <p:ph type="dt" sz="half" idx="6"/>
          </p:nvPr>
        </p:nvSpPr>
        <p:spPr>
          <a:xfrm>
            <a:off x="1122363" y="6630698"/>
            <a:ext cx="48212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0" name="object 10"/>
          <p:cNvSpPr txBox="1"/>
          <p:nvPr/>
        </p:nvSpPr>
        <p:spPr>
          <a:xfrm>
            <a:off x="7147576" y="6630609"/>
            <a:ext cx="41300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13" name="Text Placeholder 12">
            <a:extLst>
              <a:ext uri="{FF2B5EF4-FFF2-40B4-BE49-F238E27FC236}">
                <a16:creationId xmlns:a16="http://schemas.microsoft.com/office/drawing/2014/main" id="{9785D94F-DB0C-FE69-909A-4CC57AF41CC5}"/>
              </a:ext>
            </a:extLst>
          </p:cNvPr>
          <p:cNvSpPr>
            <a:spLocks noGrp="1"/>
          </p:cNvSpPr>
          <p:nvPr>
            <p:ph type="body" idx="1"/>
          </p:nvPr>
        </p:nvSpPr>
        <p:spPr>
          <a:xfrm>
            <a:off x="21770" y="1167135"/>
            <a:ext cx="11811653" cy="3295774"/>
          </a:xfrm>
        </p:spPr>
        <p:txBody>
          <a:bodyPr/>
          <a:lstStyle/>
          <a:p>
            <a:r>
              <a:rPr lang="en-IN" sz="2400" spc="-10" dirty="0"/>
              <a:t> </a:t>
            </a:r>
            <a:r>
              <a:rPr lang="en-IN" sz="2400" spc="-1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S. Singh, R. Kaur, “Smart Door Security System using IoT,” </a:t>
            </a:r>
            <a:r>
              <a:rPr lang="en-IN" sz="2400" i="1" dirty="0">
                <a:latin typeface="Times New Roman" panose="02020603050405020304" pitchFamily="18" charset="0"/>
                <a:cs typeface="Times New Roman" panose="02020603050405020304" pitchFamily="18" charset="0"/>
              </a:rPr>
              <a:t>International Journal of Engineering Research &amp; Technology (IJERT)</a:t>
            </a:r>
            <a:r>
              <a:rPr lang="en-IN" sz="2400" dirty="0">
                <a:latin typeface="Times New Roman" panose="02020603050405020304" pitchFamily="18" charset="0"/>
                <a:cs typeface="Times New Roman" panose="02020603050405020304" pitchFamily="18" charset="0"/>
              </a:rPr>
              <a:t>, 2019.</a:t>
            </a:r>
          </a:p>
          <a:p>
            <a:r>
              <a:rPr lang="en-IN" sz="2400" dirty="0">
                <a:latin typeface="Times New Roman" panose="02020603050405020304" pitchFamily="18" charset="0"/>
                <a:cs typeface="Times New Roman" panose="02020603050405020304" pitchFamily="18" charset="0"/>
              </a:rPr>
              <a:t>2. A. K. Sharma, P. K. Jain, “IoT Based Home Security System,” </a:t>
            </a:r>
            <a:r>
              <a:rPr lang="en-IN" sz="2400" i="1" dirty="0">
                <a:latin typeface="Times New Roman" panose="02020603050405020304" pitchFamily="18" charset="0"/>
                <a:cs typeface="Times New Roman" panose="02020603050405020304" pitchFamily="18" charset="0"/>
              </a:rPr>
              <a:t>International Journal of Advanced Research in Computer Science</a:t>
            </a:r>
            <a:r>
              <a:rPr lang="en-IN" sz="2400" dirty="0">
                <a:latin typeface="Times New Roman" panose="02020603050405020304" pitchFamily="18" charset="0"/>
                <a:cs typeface="Times New Roman" panose="02020603050405020304" pitchFamily="18" charset="0"/>
              </a:rPr>
              <a:t>, 2018.</a:t>
            </a:r>
          </a:p>
          <a:p>
            <a:r>
              <a:rPr lang="en-IN" sz="2400" dirty="0">
                <a:latin typeface="Times New Roman" panose="02020603050405020304" pitchFamily="18" charset="0"/>
                <a:cs typeface="Times New Roman" panose="02020603050405020304" pitchFamily="18" charset="0"/>
              </a:rPr>
              <a:t>3. R. S. Raj, K. M. Reddy, “Arduino Based Smart Door Lock System Using IoT,” </a:t>
            </a:r>
            <a:r>
              <a:rPr lang="en-IN" sz="2400" i="1" dirty="0">
                <a:latin typeface="Times New Roman" panose="02020603050405020304" pitchFamily="18" charset="0"/>
                <a:cs typeface="Times New Roman" panose="02020603050405020304" pitchFamily="18" charset="0"/>
              </a:rPr>
              <a:t>Journal of Engineering Science and Technology</a:t>
            </a:r>
            <a:r>
              <a:rPr lang="en-IN" sz="2400" dirty="0">
                <a:latin typeface="Times New Roman" panose="02020603050405020304" pitchFamily="18" charset="0"/>
                <a:cs typeface="Times New Roman" panose="02020603050405020304" pitchFamily="18" charset="0"/>
              </a:rPr>
              <a:t>, 2017.</a:t>
            </a:r>
          </a:p>
          <a:p>
            <a:pPr marL="590550" marR="5080" indent="-577850" algn="just">
              <a:spcBef>
                <a:spcPts val="480"/>
              </a:spcBef>
            </a:pPr>
            <a:endParaRPr lang="en-US" sz="2200" spc="-10" dirty="0"/>
          </a:p>
          <a:p>
            <a:pPr algn="l"/>
            <a:endParaRPr lang="en-IN" sz="2200" dirty="0"/>
          </a:p>
          <a:p>
            <a:pPr algn="l"/>
            <a:endParaRPr lang="en-IN" sz="2200" dirty="0"/>
          </a:p>
        </p:txBody>
      </p:sp>
      <p:sp>
        <p:nvSpPr>
          <p:cNvPr id="12" name="Slide Number Placeholder 11">
            <a:extLst>
              <a:ext uri="{FF2B5EF4-FFF2-40B4-BE49-F238E27FC236}">
                <a16:creationId xmlns:a16="http://schemas.microsoft.com/office/drawing/2014/main" id="{B4A79E75-EC74-723C-12BA-E873377B5350}"/>
              </a:ext>
            </a:extLst>
          </p:cNvPr>
          <p:cNvSpPr>
            <a:spLocks noGrp="1"/>
          </p:cNvSpPr>
          <p:nvPr>
            <p:ph type="sldNum" sz="quarter" idx="7"/>
          </p:nvPr>
        </p:nvSpPr>
        <p:spPr/>
        <p:txBody>
          <a:bodyPr/>
          <a:lstStyle/>
          <a:p>
            <a:pPr marL="38100">
              <a:lnSpc>
                <a:spcPts val="1845"/>
              </a:lnSpc>
            </a:pPr>
            <a:fld id="{81D60167-4931-47E6-BA6A-407CBD079E47}" type="slidenum">
              <a:rPr lang="en-US" spc="-25" smtClean="0"/>
              <a:t>12</a:t>
            </a:fld>
            <a:endParaRPr lang="en-US"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26800"/>
            <a:ext cx="12192000" cy="1075748"/>
            <a:chOff x="-154183" y="96120"/>
            <a:chExt cx="12581227" cy="857251"/>
          </a:xfrm>
        </p:grpSpPr>
        <p:pic>
          <p:nvPicPr>
            <p:cNvPr id="3" name="object 3"/>
            <p:cNvPicPr/>
            <p:nvPr/>
          </p:nvPicPr>
          <p:blipFill>
            <a:blip r:embed="rId3" cstate="print"/>
            <a:stretch>
              <a:fillRect/>
            </a:stretch>
          </p:blipFill>
          <p:spPr>
            <a:xfrm>
              <a:off x="1" y="216250"/>
              <a:ext cx="11318767" cy="737121"/>
            </a:xfrm>
            <a:prstGeom prst="rect">
              <a:avLst/>
            </a:prstGeom>
          </p:spPr>
        </p:pic>
        <p:sp>
          <p:nvSpPr>
            <p:cNvPr id="4" name="object 4"/>
            <p:cNvSpPr/>
            <p:nvPr/>
          </p:nvSpPr>
          <p:spPr>
            <a:xfrm>
              <a:off x="-154183" y="96120"/>
              <a:ext cx="12581227" cy="803687"/>
            </a:xfrm>
            <a:custGeom>
              <a:avLst/>
              <a:gdLst/>
              <a:ahLst/>
              <a:cxnLst/>
              <a:rect l="l" t="t" r="r" b="b"/>
              <a:pathLst>
                <a:path w="12192000" h="715010">
                  <a:moveTo>
                    <a:pt x="12191998" y="714890"/>
                  </a:moveTo>
                  <a:lnTo>
                    <a:pt x="0" y="714890"/>
                  </a:lnTo>
                  <a:lnTo>
                    <a:pt x="0" y="0"/>
                  </a:lnTo>
                  <a:lnTo>
                    <a:pt x="12191998" y="0"/>
                  </a:lnTo>
                  <a:lnTo>
                    <a:pt x="12191998" y="714890"/>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0" y="-34457"/>
            <a:ext cx="12014399" cy="474489"/>
          </a:xfrm>
          <a:prstGeom prst="rect">
            <a:avLst/>
          </a:prstGeom>
        </p:spPr>
        <p:txBody>
          <a:bodyPr vert="horz" wrap="square" lIns="0" tIns="12700" rIns="0" bIns="0" rtlCol="0">
            <a:spAutoFit/>
          </a:bodyPr>
          <a:lstStyle/>
          <a:p>
            <a:pPr marL="38100" algn="ctr">
              <a:spcBef>
                <a:spcPts val="100"/>
              </a:spcBef>
            </a:pPr>
            <a:r>
              <a:rPr lang="en-US" sz="1500" b="1" i="1" dirty="0">
                <a:solidFill>
                  <a:srgbClr val="FFFFFF"/>
                </a:solidFill>
              </a:rPr>
              <a:t>Smart Doorbell with Camera and Ultrasonic Sensor</a:t>
            </a:r>
            <a:br>
              <a:rPr lang="en-US" sz="1500" dirty="0"/>
            </a:br>
            <a:endParaRPr sz="1500" dirty="0">
              <a:latin typeface="Times New Roman"/>
              <a:cs typeface="Times New Roman"/>
            </a:endParaRPr>
          </a:p>
        </p:txBody>
      </p:sp>
      <p:sp>
        <p:nvSpPr>
          <p:cNvPr id="7" name="object 7"/>
          <p:cNvSpPr txBox="1"/>
          <p:nvPr/>
        </p:nvSpPr>
        <p:spPr>
          <a:xfrm>
            <a:off x="-1219200" y="297987"/>
            <a:ext cx="9793572" cy="689932"/>
          </a:xfrm>
          <a:prstGeom prst="rect">
            <a:avLst/>
          </a:prstGeom>
        </p:spPr>
        <p:txBody>
          <a:bodyPr vert="horz" wrap="square" lIns="0" tIns="12700" rIns="0" bIns="0" rtlCol="0">
            <a:spAutoFit/>
          </a:bodyPr>
          <a:lstStyle/>
          <a:p>
            <a:pPr marL="12700" algn="ctr">
              <a:lnSpc>
                <a:spcPct val="100000"/>
              </a:lnSpc>
              <a:spcBef>
                <a:spcPts val="100"/>
              </a:spcBef>
            </a:pPr>
            <a:r>
              <a:rPr lang="en-IN" sz="4400" b="1" spc="-10" dirty="0">
                <a:solidFill>
                  <a:srgbClr val="FFFFFF"/>
                </a:solidFill>
                <a:latin typeface="Times New Roman"/>
                <a:cs typeface="Times New Roman"/>
              </a:rPr>
              <a:t>Git Hub Dashboard of Batch</a:t>
            </a:r>
            <a:endParaRPr sz="4400" b="1" dirty="0">
              <a:latin typeface="Times New Roman"/>
              <a:cs typeface="Times New Roman"/>
            </a:endParaRPr>
          </a:p>
        </p:txBody>
      </p:sp>
      <p:sp>
        <p:nvSpPr>
          <p:cNvPr id="14" name="object 14"/>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spc="-95" dirty="0"/>
              <a:t>B - 15</a:t>
            </a:r>
            <a:endParaRPr spc="-25" dirty="0"/>
          </a:p>
        </p:txBody>
      </p:sp>
      <p:sp>
        <p:nvSpPr>
          <p:cNvPr id="15" name="object 15"/>
          <p:cNvSpPr txBox="1">
            <a:spLocks noGrp="1"/>
          </p:cNvSpPr>
          <p:nvPr>
            <p:ph type="dt" sz="half" idx="6"/>
          </p:nvPr>
        </p:nvSpPr>
        <p:spPr>
          <a:xfrm>
            <a:off x="1122363" y="6630698"/>
            <a:ext cx="46688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16" name="object 16"/>
          <p:cNvSpPr txBox="1"/>
          <p:nvPr/>
        </p:nvSpPr>
        <p:spPr>
          <a:xfrm>
            <a:off x="7147576" y="6630609"/>
            <a:ext cx="41300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pic>
        <p:nvPicPr>
          <p:cNvPr id="18" name="Picture 17">
            <a:extLst>
              <a:ext uri="{FF2B5EF4-FFF2-40B4-BE49-F238E27FC236}">
                <a16:creationId xmlns:a16="http://schemas.microsoft.com/office/drawing/2014/main" id="{E76EAB48-D2BF-C44E-9E6F-954045D81F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11" y="1234853"/>
            <a:ext cx="10968598" cy="5001086"/>
          </a:xfrm>
          <a:prstGeom prst="rect">
            <a:avLst/>
          </a:prstGeom>
        </p:spPr>
      </p:pic>
      <p:sp>
        <p:nvSpPr>
          <p:cNvPr id="8" name="Slide Number Placeholder 7">
            <a:extLst>
              <a:ext uri="{FF2B5EF4-FFF2-40B4-BE49-F238E27FC236}">
                <a16:creationId xmlns:a16="http://schemas.microsoft.com/office/drawing/2014/main" id="{3DD322D4-BEB5-AEB4-5CB2-179C999D1A86}"/>
              </a:ext>
            </a:extLst>
          </p:cNvPr>
          <p:cNvSpPr>
            <a:spLocks noGrp="1"/>
          </p:cNvSpPr>
          <p:nvPr>
            <p:ph type="sldNum" sz="quarter" idx="7"/>
          </p:nvPr>
        </p:nvSpPr>
        <p:spPr/>
        <p:txBody>
          <a:bodyPr/>
          <a:lstStyle/>
          <a:p>
            <a:pPr marL="38100">
              <a:lnSpc>
                <a:spcPts val="1845"/>
              </a:lnSpc>
            </a:pPr>
            <a:fld id="{81D60167-4931-47E6-BA6A-407CBD079E47}" type="slidenum">
              <a:rPr lang="en-US" spc="-25" smtClean="0"/>
              <a:t>13</a:t>
            </a:fld>
            <a:endParaRPr lang="en-US" spc="-25" dirty="0"/>
          </a:p>
        </p:txBody>
      </p:sp>
      <p:pic>
        <p:nvPicPr>
          <p:cNvPr id="5" name="Picture 4">
            <a:extLst>
              <a:ext uri="{FF2B5EF4-FFF2-40B4-BE49-F238E27FC236}">
                <a16:creationId xmlns:a16="http://schemas.microsoft.com/office/drawing/2014/main" id="{D59F2898-2EFA-5270-A93C-3842905DA4E7}"/>
              </a:ext>
            </a:extLst>
          </p:cNvPr>
          <p:cNvPicPr>
            <a:picLocks noChangeAspect="1"/>
          </p:cNvPicPr>
          <p:nvPr/>
        </p:nvPicPr>
        <p:blipFill>
          <a:blip r:embed="rId5"/>
          <a:stretch>
            <a:fillRect/>
          </a:stretch>
        </p:blipFill>
        <p:spPr>
          <a:xfrm>
            <a:off x="304800" y="1234854"/>
            <a:ext cx="11248610" cy="50237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29034"/>
            <a:ext cx="12191999" cy="250825"/>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lang="en-US" sz="1500" dirty="0">
              <a:latin typeface="Times New Roman"/>
              <a:cs typeface="Times New Roman"/>
            </a:endParaRPr>
          </a:p>
        </p:txBody>
      </p:sp>
      <p:sp>
        <p:nvSpPr>
          <p:cNvPr id="4" name="object 4"/>
          <p:cNvSpPr txBox="1">
            <a:spLocks noGrp="1"/>
          </p:cNvSpPr>
          <p:nvPr>
            <p:ph type="ftr" sz="quarter" idx="5"/>
          </p:nvPr>
        </p:nvSpPr>
        <p:spPr>
          <a:xfrm>
            <a:off x="70787" y="6631089"/>
            <a:ext cx="604396" cy="230832"/>
          </a:xfrm>
          <a:prstGeom prst="rect">
            <a:avLst/>
          </a:prstGeom>
        </p:spPr>
        <p:txBody>
          <a:bodyPr vert="horz" wrap="square" lIns="0" tIns="0" rIns="0" bIns="0" rtlCol="0">
            <a:spAutoFit/>
          </a:bodyPr>
          <a:lstStyle/>
          <a:p>
            <a:pPr marL="12700">
              <a:lnSpc>
                <a:spcPts val="1845"/>
              </a:lnSpc>
            </a:pPr>
            <a:r>
              <a:rPr lang="en-IN" b="1" spc="-95" dirty="0"/>
              <a:t>B - 15</a:t>
            </a:r>
            <a:endParaRPr spc="-25" dirty="0"/>
          </a:p>
        </p:txBody>
      </p:sp>
      <p:sp>
        <p:nvSpPr>
          <p:cNvPr id="5" name="object 5"/>
          <p:cNvSpPr txBox="1">
            <a:spLocks noGrp="1"/>
          </p:cNvSpPr>
          <p:nvPr>
            <p:ph type="dt" sz="half" idx="6"/>
          </p:nvPr>
        </p:nvSpPr>
        <p:spPr>
          <a:xfrm>
            <a:off x="1122363" y="6630698"/>
            <a:ext cx="4973637"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6" name="object 6"/>
          <p:cNvSpPr txBox="1"/>
          <p:nvPr/>
        </p:nvSpPr>
        <p:spPr>
          <a:xfrm>
            <a:off x="7147576" y="6630610"/>
            <a:ext cx="42062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3" name="object 3"/>
          <p:cNvSpPr txBox="1">
            <a:spLocks noGrp="1"/>
          </p:cNvSpPr>
          <p:nvPr>
            <p:ph type="title"/>
          </p:nvPr>
        </p:nvSpPr>
        <p:spPr>
          <a:xfrm>
            <a:off x="2826638" y="2300359"/>
            <a:ext cx="7917562" cy="1490152"/>
          </a:xfrm>
          <a:prstGeom prst="rect">
            <a:avLst/>
          </a:prstGeom>
        </p:spPr>
        <p:txBody>
          <a:bodyPr vert="horz" wrap="square" lIns="0" tIns="12700" rIns="0" bIns="0" rtlCol="0">
            <a:spAutoFit/>
          </a:bodyPr>
          <a:lstStyle/>
          <a:p>
            <a:pPr marL="12700" algn="ctr">
              <a:lnSpc>
                <a:spcPct val="100000"/>
              </a:lnSpc>
              <a:spcBef>
                <a:spcPts val="100"/>
              </a:spcBef>
            </a:pPr>
            <a:r>
              <a:rPr sz="9600" b="1" i="1" dirty="0">
                <a:solidFill>
                  <a:srgbClr val="FF6600"/>
                </a:solidFill>
                <a:latin typeface="Times New Roman"/>
                <a:cs typeface="Times New Roman"/>
              </a:rPr>
              <a:t>Any</a:t>
            </a:r>
            <a:r>
              <a:rPr sz="9600" b="1" i="1" spc="-30" dirty="0">
                <a:solidFill>
                  <a:srgbClr val="FF6600"/>
                </a:solidFill>
                <a:latin typeface="Times New Roman"/>
                <a:cs typeface="Times New Roman"/>
              </a:rPr>
              <a:t> </a:t>
            </a:r>
            <a:r>
              <a:rPr sz="9600" b="1" i="1" spc="-10" dirty="0">
                <a:solidFill>
                  <a:srgbClr val="FF6600"/>
                </a:solidFill>
                <a:latin typeface="Times New Roman"/>
                <a:cs typeface="Times New Roman"/>
              </a:rPr>
              <a:t>Queries?</a:t>
            </a:r>
            <a:endParaRPr sz="9600" b="1" dirty="0">
              <a:latin typeface="Times New Roman"/>
              <a:cs typeface="Times New Roman"/>
            </a:endParaRPr>
          </a:p>
        </p:txBody>
      </p:sp>
      <p:sp>
        <p:nvSpPr>
          <p:cNvPr id="9" name="Slide Number Placeholder 8">
            <a:extLst>
              <a:ext uri="{FF2B5EF4-FFF2-40B4-BE49-F238E27FC236}">
                <a16:creationId xmlns:a16="http://schemas.microsoft.com/office/drawing/2014/main" id="{412DB541-A057-5A45-6886-0D6D5DE3A61D}"/>
              </a:ext>
            </a:extLst>
          </p:cNvPr>
          <p:cNvSpPr>
            <a:spLocks noGrp="1"/>
          </p:cNvSpPr>
          <p:nvPr>
            <p:ph type="sldNum" sz="quarter" idx="7"/>
          </p:nvPr>
        </p:nvSpPr>
        <p:spPr/>
        <p:txBody>
          <a:bodyPr/>
          <a:lstStyle/>
          <a:p>
            <a:pPr marL="38100">
              <a:lnSpc>
                <a:spcPts val="1845"/>
              </a:lnSpc>
            </a:pPr>
            <a:fld id="{81D60167-4931-47E6-BA6A-407CBD079E47}" type="slidenum">
              <a:rPr lang="en-US" spc="-25" smtClean="0"/>
              <a:t>14</a:t>
            </a:fld>
            <a:endParaRPr lang="en-US"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29033"/>
            <a:ext cx="12192000" cy="487313"/>
          </a:xfrm>
          <a:prstGeom prst="rect">
            <a:avLst/>
          </a:prstGeom>
        </p:spPr>
        <p:txBody>
          <a:bodyPr vert="horz" wrap="square" lIns="0" tIns="12700" rIns="0" bIns="0" rtlCol="0">
            <a:spAutoFit/>
          </a:bodyPr>
          <a:lstStyle/>
          <a:p>
            <a:pPr marL="12700" algn="ctr">
              <a:spcBef>
                <a:spcPts val="100"/>
              </a:spcBef>
            </a:pPr>
            <a:r>
              <a:rPr lang="en-US" sz="1500" b="1" i="1" dirty="0">
                <a:solidFill>
                  <a:srgbClr val="FFFFFF"/>
                </a:solidFill>
                <a:latin typeface="Times New Roman"/>
                <a:cs typeface="Times New Roman"/>
              </a:rPr>
              <a:t>Smart Doorbell with Camera and Ultrasonic Sensor</a:t>
            </a:r>
            <a:endParaRPr lang="en-US" sz="1500" dirty="0">
              <a:latin typeface="Times New Roman"/>
              <a:cs typeface="Times New Roman"/>
            </a:endParaRPr>
          </a:p>
          <a:p>
            <a:pPr marL="12700" algn="ctr">
              <a:lnSpc>
                <a:spcPct val="100000"/>
              </a:lnSpc>
              <a:spcBef>
                <a:spcPts val="100"/>
              </a:spcBef>
            </a:pPr>
            <a:endParaRPr sz="1500" dirty="0">
              <a:latin typeface="Times New Roman"/>
              <a:cs typeface="Times New Roman"/>
            </a:endParaRPr>
          </a:p>
        </p:txBody>
      </p:sp>
      <p:sp>
        <p:nvSpPr>
          <p:cNvPr id="4" name="object 4"/>
          <p:cNvSpPr txBox="1">
            <a:spLocks noGrp="1"/>
          </p:cNvSpPr>
          <p:nvPr>
            <p:ph type="ftr" sz="quarter" idx="5"/>
          </p:nvPr>
        </p:nvSpPr>
        <p:spPr>
          <a:xfrm>
            <a:off x="141783" y="6631089"/>
            <a:ext cx="533400" cy="230832"/>
          </a:xfrm>
          <a:prstGeom prst="rect">
            <a:avLst/>
          </a:prstGeom>
        </p:spPr>
        <p:txBody>
          <a:bodyPr vert="horz" wrap="square" lIns="0" tIns="0" rIns="0" bIns="0" rtlCol="0">
            <a:spAutoFit/>
          </a:bodyPr>
          <a:lstStyle/>
          <a:p>
            <a:pPr marL="12700">
              <a:lnSpc>
                <a:spcPts val="1845"/>
              </a:lnSpc>
            </a:pPr>
            <a:r>
              <a:rPr lang="en-IN" dirty="0"/>
              <a:t>B </a:t>
            </a:r>
            <a:r>
              <a:rPr dirty="0"/>
              <a:t>-</a:t>
            </a:r>
            <a:r>
              <a:rPr spc="-5" dirty="0"/>
              <a:t> </a:t>
            </a:r>
            <a:r>
              <a:rPr lang="en-IN" spc="-25" dirty="0"/>
              <a:t>15</a:t>
            </a:r>
            <a:endParaRPr spc="-25" dirty="0"/>
          </a:p>
        </p:txBody>
      </p:sp>
      <p:sp>
        <p:nvSpPr>
          <p:cNvPr id="5" name="object 5"/>
          <p:cNvSpPr txBox="1">
            <a:spLocks noGrp="1"/>
          </p:cNvSpPr>
          <p:nvPr>
            <p:ph type="dt" sz="half" idx="6"/>
          </p:nvPr>
        </p:nvSpPr>
        <p:spPr>
          <a:xfrm>
            <a:off x="1122363" y="6630698"/>
            <a:ext cx="4772595"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(AI&amp;ML)</a:t>
            </a:r>
            <a:endParaRPr cap="small" spc="-60" dirty="0"/>
          </a:p>
        </p:txBody>
      </p:sp>
      <p:sp>
        <p:nvSpPr>
          <p:cNvPr id="6" name="object 6"/>
          <p:cNvSpPr txBox="1"/>
          <p:nvPr/>
        </p:nvSpPr>
        <p:spPr>
          <a:xfrm>
            <a:off x="7147576" y="6630610"/>
            <a:ext cx="4053823" cy="230832"/>
          </a:xfrm>
          <a:prstGeom prst="rect">
            <a:avLst/>
          </a:prstGeom>
        </p:spPr>
        <p:txBody>
          <a:bodyPr vert="horz" wrap="square" lIns="0" tIns="0" rIns="0" bIns="0" rtlCol="0">
            <a:spAutoFit/>
          </a:bodyPr>
          <a:lstStyle/>
          <a:p>
            <a:pPr marL="12700">
              <a:lnSpc>
                <a:spcPts val="1845"/>
              </a:lnSpc>
            </a:pPr>
            <a:r>
              <a:rPr lang="en-US" sz="1600" cap="small" spc="-120" dirty="0">
                <a:solidFill>
                  <a:srgbClr val="FFFFFF"/>
                </a:solidFill>
                <a:latin typeface="Times New Roman"/>
                <a:cs typeface="Times New Roman"/>
              </a:rPr>
              <a:t>Srinivasa Ramanujan Institute of Technology</a:t>
            </a:r>
            <a:endParaRPr sz="1600" dirty="0">
              <a:latin typeface="Times New Roman"/>
              <a:cs typeface="Times New Roman"/>
            </a:endParaRPr>
          </a:p>
        </p:txBody>
      </p:sp>
      <p:sp>
        <p:nvSpPr>
          <p:cNvPr id="3" name="object 3"/>
          <p:cNvSpPr txBox="1">
            <a:spLocks noGrp="1"/>
          </p:cNvSpPr>
          <p:nvPr>
            <p:ph type="title"/>
          </p:nvPr>
        </p:nvSpPr>
        <p:spPr>
          <a:xfrm>
            <a:off x="2971800" y="2338020"/>
            <a:ext cx="7086600" cy="1486946"/>
          </a:xfrm>
          <a:prstGeom prst="rect">
            <a:avLst/>
          </a:prstGeom>
        </p:spPr>
        <p:txBody>
          <a:bodyPr vert="horz" wrap="square" lIns="0" tIns="12700" rIns="0" bIns="0" rtlCol="0">
            <a:spAutoFit/>
          </a:bodyPr>
          <a:lstStyle/>
          <a:p>
            <a:pPr marL="12700" marR="5080" algn="ctr">
              <a:lnSpc>
                <a:spcPct val="107000"/>
              </a:lnSpc>
              <a:spcBef>
                <a:spcPts val="100"/>
              </a:spcBef>
            </a:pPr>
            <a:r>
              <a:rPr sz="9600" b="1" i="1" spc="-25" dirty="0">
                <a:solidFill>
                  <a:srgbClr val="FF6600"/>
                </a:solidFill>
                <a:latin typeface="Times New Roman"/>
                <a:cs typeface="Times New Roman"/>
              </a:rPr>
              <a:t>Thank </a:t>
            </a:r>
            <a:r>
              <a:rPr sz="9600" b="1" i="1" spc="-835" dirty="0">
                <a:solidFill>
                  <a:srgbClr val="FF6600"/>
                </a:solidFill>
                <a:latin typeface="Times New Roman"/>
                <a:cs typeface="Times New Roman"/>
              </a:rPr>
              <a:t>Y</a:t>
            </a:r>
            <a:r>
              <a:rPr sz="9600" b="1" i="1" spc="40" dirty="0">
                <a:solidFill>
                  <a:srgbClr val="FF6600"/>
                </a:solidFill>
                <a:latin typeface="Times New Roman"/>
                <a:cs typeface="Times New Roman"/>
              </a:rPr>
              <a:t>o</a:t>
            </a:r>
            <a:r>
              <a:rPr sz="9600" b="1" i="1" spc="35" dirty="0">
                <a:solidFill>
                  <a:srgbClr val="FF6600"/>
                </a:solidFill>
                <a:latin typeface="Times New Roman"/>
                <a:cs typeface="Times New Roman"/>
              </a:rPr>
              <a:t>u!!!</a:t>
            </a:r>
            <a:endParaRPr sz="9600" b="1" dirty="0">
              <a:latin typeface="Times New Roman"/>
              <a:cs typeface="Times New Roman"/>
            </a:endParaRPr>
          </a:p>
        </p:txBody>
      </p:sp>
      <p:sp>
        <p:nvSpPr>
          <p:cNvPr id="9" name="Slide Number Placeholder 8">
            <a:extLst>
              <a:ext uri="{FF2B5EF4-FFF2-40B4-BE49-F238E27FC236}">
                <a16:creationId xmlns:a16="http://schemas.microsoft.com/office/drawing/2014/main" id="{60501D61-352C-0290-FA9E-A0A59C868307}"/>
              </a:ext>
            </a:extLst>
          </p:cNvPr>
          <p:cNvSpPr>
            <a:spLocks noGrp="1"/>
          </p:cNvSpPr>
          <p:nvPr>
            <p:ph type="sldNum" sz="quarter" idx="7"/>
          </p:nvPr>
        </p:nvSpPr>
        <p:spPr/>
        <p:txBody>
          <a:bodyPr/>
          <a:lstStyle/>
          <a:p>
            <a:pPr marL="38100">
              <a:lnSpc>
                <a:spcPts val="1845"/>
              </a:lnSpc>
            </a:pPr>
            <a:fld id="{81D60167-4931-47E6-BA6A-407CBD079E47}" type="slidenum">
              <a:rPr lang="en-US" spc="-25" smtClean="0"/>
              <a:t>15</a:t>
            </a:fld>
            <a:endParaRPr lang="en-US"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531</TotalTime>
  <Words>1454</Words>
  <Application>Microsoft Office PowerPoint</Application>
  <PresentationFormat>Widescreen</PresentationFormat>
  <Paragraphs>185</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Smart Doorbell with Camera and Ultrasonic Sensor  </vt:lpstr>
      <vt:lpstr>Contents</vt:lpstr>
      <vt:lpstr>Abstract</vt:lpstr>
      <vt:lpstr>Problem Statement:</vt:lpstr>
      <vt:lpstr>Objectives</vt:lpstr>
      <vt:lpstr>Literature Survey for objectives</vt:lpstr>
      <vt:lpstr>Existing System</vt:lpstr>
      <vt:lpstr>Existing System</vt:lpstr>
      <vt:lpstr>Proposed System</vt:lpstr>
      <vt:lpstr>Proposed System</vt:lpstr>
      <vt:lpstr>Proposed System</vt:lpstr>
      <vt:lpstr>References</vt:lpstr>
      <vt:lpstr>Smart Doorbell with Camera and Ultrasonic Sensor </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- 0 Template.pptx</dc:title>
  <dc:creator>MOUNIKA D</dc:creator>
  <cp:lastModifiedBy>SOWMYA LATHA</cp:lastModifiedBy>
  <cp:revision>14</cp:revision>
  <dcterms:created xsi:type="dcterms:W3CDTF">2025-09-16T06:41:20Z</dcterms:created>
  <dcterms:modified xsi:type="dcterms:W3CDTF">2025-12-25T14:27:35Z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2025-09-16T00:00:00Z</vt:filetime>
  </property>
  <property fmtid="{D5CDD505-2E9C-101B-9397-08002B2CF9AE}" pid="3" name="Creator">
    <vt:lpwstr>Google</vt:lpwstr>
  </property>
  <property fmtid="{D5CDD505-2E9C-101B-9397-08002B2CF9AE}" pid="4" name="LastSaved">
    <vt:filetime>2025-09-16T00:00:00Z</vt:filetime>
  </property>
</Properties>
</file>